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6256000" cy="9144000"/>
  <p:notesSz cx="9144000" cy="16256000"/>
  <p:embeddedFontLst>
    <p:embeddedFont>
      <p:font typeface="Hedvig Letters Sans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5530423" y="1336675"/>
            <a:ext cx="5194300" cy="558800"/>
          </a:xfrm>
          <a:custGeom>
            <a:avLst/>
            <a:gdLst/>
            <a:ahLst/>
            <a:cxnLst/>
            <a:rect l="l" t="t" r="r" b="b"/>
            <a:pathLst>
              <a:path w="5194300" h="558800">
                <a:moveTo>
                  <a:pt x="279400" y="0"/>
                </a:moveTo>
                <a:lnTo>
                  <a:pt x="4914900" y="0"/>
                </a:lnTo>
                <a:cubicBezTo>
                  <a:pt x="5069105" y="0"/>
                  <a:pt x="5194300" y="125195"/>
                  <a:pt x="5194300" y="279400"/>
                </a:cubicBezTo>
                <a:lnTo>
                  <a:pt x="5194300" y="279400"/>
                </a:lnTo>
                <a:cubicBezTo>
                  <a:pt x="5194300" y="433605"/>
                  <a:pt x="5069105" y="558800"/>
                  <a:pt x="4914900" y="558800"/>
                </a:cubicBezTo>
                <a:lnTo>
                  <a:pt x="279400" y="558800"/>
                </a:lnTo>
                <a:cubicBezTo>
                  <a:pt x="125195" y="558800"/>
                  <a:pt x="0" y="433605"/>
                  <a:pt x="0" y="279400"/>
                </a:cubicBezTo>
                <a:lnTo>
                  <a:pt x="0" y="279400"/>
                </a:lnTo>
                <a:cubicBezTo>
                  <a:pt x="0" y="125195"/>
                  <a:pt x="125195" y="0"/>
                  <a:pt x="279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778073" y="1465629"/>
            <a:ext cx="4699794" cy="30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spc="9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INNOVATION PROJECT COMPETITION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05143" y="2200275"/>
            <a:ext cx="6248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9600" b="1" spc="-240" kern="0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309943" y="3825875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Text 5"/>
          <p:cNvSpPr/>
          <p:nvPr/>
        </p:nvSpPr>
        <p:spPr>
          <a:xfrm>
            <a:off x="6637093" y="3622675"/>
            <a:ext cx="298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RailCore Secure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726796" y="3825875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4155465" y="4892675"/>
            <a:ext cx="795020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面向国产RISC-V架构的轨道交通信号安全协议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形式化验证工具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02490" y="7146925"/>
            <a:ext cx="2743200" cy="660400"/>
          </a:xfrm>
          <a:custGeom>
            <a:avLst/>
            <a:gdLst/>
            <a:ahLst/>
            <a:cxnLst/>
            <a:rect l="l" t="t" r="r" b="b"/>
            <a:pathLst>
              <a:path w="2743200" h="660400">
                <a:moveTo>
                  <a:pt x="101603" y="0"/>
                </a:moveTo>
                <a:lnTo>
                  <a:pt x="2641597" y="0"/>
                </a:lnTo>
                <a:cubicBezTo>
                  <a:pt x="2697711" y="0"/>
                  <a:pt x="2743200" y="45489"/>
                  <a:pt x="2743200" y="101603"/>
                </a:cubicBezTo>
                <a:lnTo>
                  <a:pt x="2743200" y="558797"/>
                </a:lnTo>
                <a:cubicBezTo>
                  <a:pt x="2743200" y="614911"/>
                  <a:pt x="2697711" y="660400"/>
                  <a:pt x="2641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145390" y="7324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4583540" y="7299325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SIL4级安全认证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50991" y="7146925"/>
            <a:ext cx="2806700" cy="660400"/>
          </a:xfrm>
          <a:custGeom>
            <a:avLst/>
            <a:gdLst/>
            <a:ahLst/>
            <a:cxnLst/>
            <a:rect l="l" t="t" r="r" b="b"/>
            <a:pathLst>
              <a:path w="2806700" h="660400">
                <a:moveTo>
                  <a:pt x="101603" y="0"/>
                </a:moveTo>
                <a:lnTo>
                  <a:pt x="2705097" y="0"/>
                </a:lnTo>
                <a:cubicBezTo>
                  <a:pt x="2761211" y="0"/>
                  <a:pt x="2806700" y="45489"/>
                  <a:pt x="2806700" y="101603"/>
                </a:cubicBezTo>
                <a:lnTo>
                  <a:pt x="2806700" y="558797"/>
                </a:lnTo>
                <a:cubicBezTo>
                  <a:pt x="2806700" y="614911"/>
                  <a:pt x="2761211" y="660400"/>
                  <a:pt x="27050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93891" y="73247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7732041" y="7299325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国产RISC-V支持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167389" y="7146925"/>
            <a:ext cx="2286000" cy="660400"/>
          </a:xfrm>
          <a:custGeom>
            <a:avLst/>
            <a:gdLst/>
            <a:ahLst/>
            <a:cxnLst/>
            <a:rect l="l" t="t" r="r" b="b"/>
            <a:pathLst>
              <a:path w="2286000" h="660400">
                <a:moveTo>
                  <a:pt x="101603" y="0"/>
                </a:moveTo>
                <a:lnTo>
                  <a:pt x="2184397" y="0"/>
                </a:lnTo>
                <a:cubicBezTo>
                  <a:pt x="2240511" y="0"/>
                  <a:pt x="2286000" y="45489"/>
                  <a:pt x="2286000" y="101603"/>
                </a:cubicBezTo>
                <a:lnTo>
                  <a:pt x="2286000" y="558797"/>
                </a:lnTo>
                <a:cubicBezTo>
                  <a:pt x="2286000" y="614911"/>
                  <a:pt x="2240511" y="660400"/>
                  <a:pt x="21843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548389" y="7324725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48769" y="39767"/>
                </a:moveTo>
                <a:cubicBezTo>
                  <a:pt x="154960" y="31254"/>
                  <a:pt x="153055" y="19348"/>
                  <a:pt x="144542" y="13156"/>
                </a:cubicBezTo>
                <a:cubicBezTo>
                  <a:pt x="136029" y="6965"/>
                  <a:pt x="124123" y="8870"/>
                  <a:pt x="117931" y="17383"/>
                </a:cubicBezTo>
                <a:lnTo>
                  <a:pt x="54828" y="104120"/>
                </a:lnTo>
                <a:lnTo>
                  <a:pt x="32504" y="81796"/>
                </a:lnTo>
                <a:cubicBezTo>
                  <a:pt x="25063" y="74355"/>
                  <a:pt x="12978" y="74355"/>
                  <a:pt x="5536" y="81796"/>
                </a:cubicBezTo>
                <a:cubicBezTo>
                  <a:pt x="-1905" y="89237"/>
                  <a:pt x="-1905" y="101322"/>
                  <a:pt x="5536" y="108764"/>
                </a:cubicBezTo>
                <a:lnTo>
                  <a:pt x="43636" y="146864"/>
                </a:lnTo>
                <a:cubicBezTo>
                  <a:pt x="47565" y="150793"/>
                  <a:pt x="53042" y="152817"/>
                  <a:pt x="58579" y="152400"/>
                </a:cubicBezTo>
                <a:cubicBezTo>
                  <a:pt x="64115" y="151983"/>
                  <a:pt x="69235" y="149126"/>
                  <a:pt x="72509" y="144601"/>
                </a:cubicBezTo>
                <a:lnTo>
                  <a:pt x="148709" y="39826"/>
                </a:lnTo>
                <a:close/>
                <a:moveTo>
                  <a:pt x="224969" y="120729"/>
                </a:moveTo>
                <a:cubicBezTo>
                  <a:pt x="231160" y="112216"/>
                  <a:pt x="229255" y="100310"/>
                  <a:pt x="220742" y="94119"/>
                </a:cubicBezTo>
                <a:cubicBezTo>
                  <a:pt x="212229" y="87928"/>
                  <a:pt x="200323" y="89833"/>
                  <a:pt x="194131" y="98346"/>
                </a:cubicBezTo>
                <a:lnTo>
                  <a:pt x="92928" y="237470"/>
                </a:lnTo>
                <a:lnTo>
                  <a:pt x="51554" y="196096"/>
                </a:lnTo>
                <a:cubicBezTo>
                  <a:pt x="44113" y="188655"/>
                  <a:pt x="32028" y="188655"/>
                  <a:pt x="24586" y="196096"/>
                </a:cubicBezTo>
                <a:cubicBezTo>
                  <a:pt x="17145" y="203537"/>
                  <a:pt x="17145" y="215622"/>
                  <a:pt x="24586" y="223064"/>
                </a:cubicBezTo>
                <a:lnTo>
                  <a:pt x="81736" y="280214"/>
                </a:lnTo>
                <a:cubicBezTo>
                  <a:pt x="85665" y="284143"/>
                  <a:pt x="91142" y="286167"/>
                  <a:pt x="96679" y="285750"/>
                </a:cubicBezTo>
                <a:cubicBezTo>
                  <a:pt x="102215" y="285333"/>
                  <a:pt x="107335" y="282476"/>
                  <a:pt x="110609" y="277951"/>
                </a:cubicBezTo>
                <a:lnTo>
                  <a:pt x="224909" y="12078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10948439" y="7299325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1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BACKGROUND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1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项目背景：轨道交通安全的迫切需求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1"/>
            <a:ext cx="7442200" cy="3302000"/>
          </a:xfrm>
          <a:custGeom>
            <a:avLst/>
            <a:gdLst/>
            <a:ahLst/>
            <a:cxnLst/>
            <a:rect l="l" t="t" r="r" b="b"/>
            <a:pathLst>
              <a:path w="7442200" h="3302000">
                <a:moveTo>
                  <a:pt x="50800" y="0"/>
                </a:moveTo>
                <a:lnTo>
                  <a:pt x="7289813" y="0"/>
                </a:lnTo>
                <a:cubicBezTo>
                  <a:pt x="7373974" y="0"/>
                  <a:pt x="7442200" y="68226"/>
                  <a:pt x="7442200" y="152387"/>
                </a:cubicBezTo>
                <a:lnTo>
                  <a:pt x="7442200" y="3149613"/>
                </a:lnTo>
                <a:cubicBezTo>
                  <a:pt x="7442200" y="3233774"/>
                  <a:pt x="7373974" y="3302000"/>
                  <a:pt x="7289813" y="3302000"/>
                </a:cubicBez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33400" y="1828801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50800" h="3302000">
                <a:moveTo>
                  <a:pt x="50800" y="0"/>
                </a:moveTo>
                <a:lnTo>
                  <a:pt x="50800" y="0"/>
                </a:lnTo>
                <a:lnTo>
                  <a:pt x="50800" y="3302000"/>
                </a:ln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21336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23114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625600" y="2235201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安全形势严峻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2946400"/>
            <a:ext cx="69088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轨道交通信号系统是保障列车安全运行的核心，任何软件缺陷都可能导致灾难性后果。据统计，全球每年因信号系统故障导致的事故造成数百人伤亡。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3759200"/>
            <a:ext cx="3302000" cy="1066800"/>
          </a:xfrm>
          <a:custGeom>
            <a:avLst/>
            <a:gdLst/>
            <a:ahLst/>
            <a:cxnLst/>
            <a:rect l="l" t="t" r="r" b="b"/>
            <a:pathLst>
              <a:path w="3302000" h="1066800">
                <a:moveTo>
                  <a:pt x="101602" y="0"/>
                </a:moveTo>
                <a:lnTo>
                  <a:pt x="3200398" y="0"/>
                </a:lnTo>
                <a:cubicBezTo>
                  <a:pt x="3256511" y="0"/>
                  <a:pt x="3302000" y="45489"/>
                  <a:pt x="3302000" y="101602"/>
                </a:cubicBezTo>
                <a:lnTo>
                  <a:pt x="3302000" y="965198"/>
                </a:lnTo>
                <a:cubicBezTo>
                  <a:pt x="3302000" y="1021311"/>
                  <a:pt x="3256511" y="1066800"/>
                  <a:pt x="3200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20750" y="3911600"/>
            <a:ext cx="318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5000亿+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1550" y="4419600"/>
            <a:ext cx="308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中国轨道交通市场规模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368800" y="3759200"/>
            <a:ext cx="3302000" cy="1066800"/>
          </a:xfrm>
          <a:custGeom>
            <a:avLst/>
            <a:gdLst/>
            <a:ahLst/>
            <a:cxnLst/>
            <a:rect l="l" t="t" r="r" b="b"/>
            <a:pathLst>
              <a:path w="3302000" h="1066800">
                <a:moveTo>
                  <a:pt x="101602" y="0"/>
                </a:moveTo>
                <a:lnTo>
                  <a:pt x="3200398" y="0"/>
                </a:lnTo>
                <a:cubicBezTo>
                  <a:pt x="3256511" y="0"/>
                  <a:pt x="3302000" y="45489"/>
                  <a:pt x="3302000" y="101602"/>
                </a:cubicBezTo>
                <a:lnTo>
                  <a:pt x="3302000" y="965198"/>
                </a:lnTo>
                <a:cubicBezTo>
                  <a:pt x="3302000" y="1021311"/>
                  <a:pt x="3256511" y="1066800"/>
                  <a:pt x="32003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425950" y="3911600"/>
            <a:ext cx="318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76750" y="4419600"/>
            <a:ext cx="308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最高安全等级要求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384800"/>
            <a:ext cx="7442200" cy="2413000"/>
          </a:xfrm>
          <a:custGeom>
            <a:avLst/>
            <a:gdLst/>
            <a:ahLst/>
            <a:cxnLst/>
            <a:rect l="l" t="t" r="r" b="b"/>
            <a:pathLst>
              <a:path w="7442200" h="2413000">
                <a:moveTo>
                  <a:pt x="50800" y="0"/>
                </a:moveTo>
                <a:lnTo>
                  <a:pt x="7289795" y="0"/>
                </a:lnTo>
                <a:cubicBezTo>
                  <a:pt x="7373966" y="0"/>
                  <a:pt x="7442200" y="68234"/>
                  <a:pt x="7442200" y="152405"/>
                </a:cubicBezTo>
                <a:lnTo>
                  <a:pt x="7442200" y="2260595"/>
                </a:lnTo>
                <a:cubicBezTo>
                  <a:pt x="7442200" y="2344766"/>
                  <a:pt x="7373966" y="2413000"/>
                  <a:pt x="7289795" y="2413000"/>
                </a:cubicBezTo>
                <a:lnTo>
                  <a:pt x="50800" y="2413000"/>
                </a:lnTo>
                <a:cubicBezTo>
                  <a:pt x="22744" y="2413000"/>
                  <a:pt x="0" y="2390256"/>
                  <a:pt x="0" y="236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5384800"/>
            <a:ext cx="50800" cy="2413000"/>
          </a:xfrm>
          <a:custGeom>
            <a:avLst/>
            <a:gdLst/>
            <a:ahLst/>
            <a:cxnLst/>
            <a:rect l="l" t="t" r="r" b="b"/>
            <a:pathLst>
              <a:path w="50800" h="2413000">
                <a:moveTo>
                  <a:pt x="50800" y="0"/>
                </a:moveTo>
                <a:lnTo>
                  <a:pt x="50800" y="0"/>
                </a:lnTo>
                <a:lnTo>
                  <a:pt x="50800" y="2413000"/>
                </a:lnTo>
                <a:lnTo>
                  <a:pt x="50800" y="2413000"/>
                </a:lnTo>
                <a:cubicBezTo>
                  <a:pt x="22763" y="2413000"/>
                  <a:pt x="0" y="2390237"/>
                  <a:pt x="0" y="2362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3600" y="56896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73150" y="58674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63500" y="47625"/>
                </a:moveTo>
                <a:lnTo>
                  <a:pt x="63500" y="79375"/>
                </a:lnTo>
                <a:lnTo>
                  <a:pt x="127000" y="79375"/>
                </a:lnTo>
                <a:lnTo>
                  <a:pt x="127000" y="47625"/>
                </a:lnTo>
                <a:cubicBezTo>
                  <a:pt x="127000" y="30113"/>
                  <a:pt x="112762" y="15875"/>
                  <a:pt x="95250" y="15875"/>
                </a:cubicBezTo>
                <a:cubicBezTo>
                  <a:pt x="77738" y="15875"/>
                  <a:pt x="63500" y="30113"/>
                  <a:pt x="63500" y="47625"/>
                </a:cubicBezTo>
                <a:close/>
                <a:moveTo>
                  <a:pt x="31750" y="79375"/>
                </a:moveTo>
                <a:lnTo>
                  <a:pt x="31750" y="47625"/>
                </a:lnTo>
                <a:cubicBezTo>
                  <a:pt x="31750" y="12551"/>
                  <a:pt x="60176" y="-15875"/>
                  <a:pt x="95250" y="-15875"/>
                </a:cubicBezTo>
                <a:cubicBezTo>
                  <a:pt x="130324" y="-15875"/>
                  <a:pt x="158750" y="12551"/>
                  <a:pt x="158750" y="47625"/>
                </a:cubicBezTo>
                <a:lnTo>
                  <a:pt x="158750" y="79375"/>
                </a:lnTo>
                <a:cubicBezTo>
                  <a:pt x="176262" y="79375"/>
                  <a:pt x="190500" y="93613"/>
                  <a:pt x="190500" y="111125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111125"/>
                </a:lnTo>
                <a:cubicBezTo>
                  <a:pt x="0" y="93613"/>
                  <a:pt x="14238" y="79375"/>
                  <a:pt x="31750" y="7937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1625600" y="57912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技术依赖风险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3600" y="6502400"/>
            <a:ext cx="6908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当前国内轨道交通信号验证工具几乎完全依赖进口，如Ansys SCADE、MathWorks Polyspace等，不仅价格昂贵，更存在技术封锁和安全后门风险，严重威胁国家基础设施安全。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05800" y="1828801"/>
            <a:ext cx="7442200" cy="4749800"/>
          </a:xfrm>
          <a:custGeom>
            <a:avLst/>
            <a:gdLst/>
            <a:ahLst/>
            <a:cxnLst/>
            <a:rect l="l" t="t" r="r" b="b"/>
            <a:pathLst>
              <a:path w="7442200" h="4749800">
                <a:moveTo>
                  <a:pt x="50800" y="0"/>
                </a:moveTo>
                <a:lnTo>
                  <a:pt x="7289779" y="0"/>
                </a:lnTo>
                <a:cubicBezTo>
                  <a:pt x="7373959" y="0"/>
                  <a:pt x="7442200" y="68241"/>
                  <a:pt x="7442200" y="152421"/>
                </a:cubicBezTo>
                <a:lnTo>
                  <a:pt x="7442200" y="4597379"/>
                </a:lnTo>
                <a:cubicBezTo>
                  <a:pt x="7442200" y="4681559"/>
                  <a:pt x="7373959" y="4749800"/>
                  <a:pt x="7289779" y="4749800"/>
                </a:cubicBezTo>
                <a:lnTo>
                  <a:pt x="50800" y="4749800"/>
                </a:lnTo>
                <a:cubicBezTo>
                  <a:pt x="22763" y="4749800"/>
                  <a:pt x="0" y="4727037"/>
                  <a:pt x="0" y="469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305800" y="1828801"/>
            <a:ext cx="50800" cy="4749800"/>
          </a:xfrm>
          <a:custGeom>
            <a:avLst/>
            <a:gdLst/>
            <a:ahLst/>
            <a:cxnLst/>
            <a:rect l="l" t="t" r="r" b="b"/>
            <a:pathLst>
              <a:path w="50800" h="4749800">
                <a:moveTo>
                  <a:pt x="50800" y="0"/>
                </a:moveTo>
                <a:lnTo>
                  <a:pt x="50800" y="0"/>
                </a:lnTo>
                <a:lnTo>
                  <a:pt x="50800" y="4749800"/>
                </a:lnTo>
                <a:lnTo>
                  <a:pt x="50800" y="4749800"/>
                </a:lnTo>
                <a:cubicBezTo>
                  <a:pt x="22763" y="4749800"/>
                  <a:pt x="0" y="4727037"/>
                  <a:pt x="0" y="4699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6000" y="2133601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813800" y="231140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69962" y="4663"/>
                </a:moveTo>
                <a:cubicBezTo>
                  <a:pt x="163761" y="-1538"/>
                  <a:pt x="153690" y="-1538"/>
                  <a:pt x="147489" y="4663"/>
                </a:cubicBezTo>
                <a:cubicBezTo>
                  <a:pt x="141288" y="10864"/>
                  <a:pt x="141288" y="20935"/>
                  <a:pt x="147489" y="27136"/>
                </a:cubicBezTo>
                <a:lnTo>
                  <a:pt x="152152" y="31750"/>
                </a:lnTo>
                <a:lnTo>
                  <a:pt x="13940" y="169962"/>
                </a:lnTo>
                <a:cubicBezTo>
                  <a:pt x="5011" y="178891"/>
                  <a:pt x="0" y="190996"/>
                  <a:pt x="0" y="203646"/>
                </a:cubicBezTo>
                <a:lnTo>
                  <a:pt x="0" y="206375"/>
                </a:lnTo>
                <a:cubicBezTo>
                  <a:pt x="0" y="232668"/>
                  <a:pt x="21332" y="254000"/>
                  <a:pt x="47625" y="254000"/>
                </a:cubicBezTo>
                <a:lnTo>
                  <a:pt x="50354" y="254000"/>
                </a:lnTo>
                <a:cubicBezTo>
                  <a:pt x="63004" y="254000"/>
                  <a:pt x="75109" y="248989"/>
                  <a:pt x="84038" y="240060"/>
                </a:cubicBezTo>
                <a:lnTo>
                  <a:pt x="222250" y="101848"/>
                </a:lnTo>
                <a:lnTo>
                  <a:pt x="226913" y="106511"/>
                </a:lnTo>
                <a:cubicBezTo>
                  <a:pt x="233114" y="112712"/>
                  <a:pt x="243185" y="112712"/>
                  <a:pt x="249386" y="106511"/>
                </a:cubicBezTo>
                <a:cubicBezTo>
                  <a:pt x="255588" y="100310"/>
                  <a:pt x="255588" y="90239"/>
                  <a:pt x="249386" y="84038"/>
                </a:cubicBezTo>
                <a:lnTo>
                  <a:pt x="170011" y="4663"/>
                </a:lnTo>
                <a:close/>
                <a:moveTo>
                  <a:pt x="101848" y="127000"/>
                </a:moveTo>
                <a:lnTo>
                  <a:pt x="174625" y="54223"/>
                </a:lnTo>
                <a:lnTo>
                  <a:pt x="199777" y="79375"/>
                </a:lnTo>
                <a:lnTo>
                  <a:pt x="152152" y="127000"/>
                </a:lnTo>
                <a:lnTo>
                  <a:pt x="101798" y="12700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Text 24"/>
          <p:cNvSpPr/>
          <p:nvPr/>
        </p:nvSpPr>
        <p:spPr>
          <a:xfrm>
            <a:off x="9398000" y="2235201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传统测试局限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36000" y="2946400"/>
            <a:ext cx="6908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传统软件测试方法基于样本抽查，无法穷尽所有执行路径，存在"测不到即安全"的盲区。对于SIL4级系统，残余错误率必须小于10⁻⁸/h，传统方法难以满足。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636000" y="4140200"/>
            <a:ext cx="6807200" cy="1574800"/>
          </a:xfrm>
          <a:custGeom>
            <a:avLst/>
            <a:gdLst/>
            <a:ahLst/>
            <a:cxnLst/>
            <a:rect l="l" t="t" r="r" b="b"/>
            <a:pathLst>
              <a:path w="6807200" h="1574800">
                <a:moveTo>
                  <a:pt x="101606" y="0"/>
                </a:moveTo>
                <a:lnTo>
                  <a:pt x="6705594" y="0"/>
                </a:lnTo>
                <a:cubicBezTo>
                  <a:pt x="6761709" y="0"/>
                  <a:pt x="6807200" y="45491"/>
                  <a:pt x="6807200" y="101606"/>
                </a:cubicBezTo>
                <a:lnTo>
                  <a:pt x="6807200" y="1473194"/>
                </a:lnTo>
                <a:cubicBezTo>
                  <a:pt x="6807200" y="1529309"/>
                  <a:pt x="6761709" y="1574800"/>
                  <a:pt x="6705594" y="1574800"/>
                </a:cubicBezTo>
                <a:lnTo>
                  <a:pt x="101606" y="1574800"/>
                </a:lnTo>
                <a:cubicBezTo>
                  <a:pt x="45491" y="1574800"/>
                  <a:pt x="0" y="1529309"/>
                  <a:pt x="0" y="1473194"/>
                </a:cubicBezTo>
                <a:lnTo>
                  <a:pt x="0" y="101606"/>
                </a:lnTo>
                <a:cubicBezTo>
                  <a:pt x="0" y="45528"/>
                  <a:pt x="45528" y="0"/>
                  <a:pt x="10160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8839200" y="43688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传统测试覆盖率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448937" y="4343400"/>
            <a:ext cx="889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60-80%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839200" y="4749800"/>
            <a:ext cx="6400800" cy="101600"/>
          </a:xfrm>
          <a:custGeom>
            <a:avLst/>
            <a:gdLst/>
            <a:ahLst/>
            <a:cxnLst/>
            <a:rect l="l" t="t" r="r" b="b"/>
            <a:pathLst>
              <a:path w="6400800" h="101600">
                <a:moveTo>
                  <a:pt x="50800" y="0"/>
                </a:moveTo>
                <a:lnTo>
                  <a:pt x="6350000" y="0"/>
                </a:lnTo>
                <a:cubicBezTo>
                  <a:pt x="6378037" y="0"/>
                  <a:pt x="6400800" y="22763"/>
                  <a:pt x="6400800" y="50800"/>
                </a:cubicBezTo>
                <a:lnTo>
                  <a:pt x="6400800" y="50800"/>
                </a:lnTo>
                <a:cubicBezTo>
                  <a:pt x="6400800" y="78837"/>
                  <a:pt x="6378037" y="101600"/>
                  <a:pt x="6350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2" name="Shape 30"/>
          <p:cNvSpPr/>
          <p:nvPr/>
        </p:nvSpPr>
        <p:spPr>
          <a:xfrm>
            <a:off x="8839200" y="4749800"/>
            <a:ext cx="4483100" cy="101600"/>
          </a:xfrm>
          <a:custGeom>
            <a:avLst/>
            <a:gdLst/>
            <a:ahLst/>
            <a:cxnLst/>
            <a:rect l="l" t="t" r="r" b="b"/>
            <a:pathLst>
              <a:path w="4483100" h="101600">
                <a:moveTo>
                  <a:pt x="50800" y="0"/>
                </a:moveTo>
                <a:lnTo>
                  <a:pt x="4432300" y="0"/>
                </a:lnTo>
                <a:cubicBezTo>
                  <a:pt x="4460337" y="0"/>
                  <a:pt x="4483100" y="22763"/>
                  <a:pt x="4483100" y="50800"/>
                </a:cubicBezTo>
                <a:lnTo>
                  <a:pt x="4483100" y="50800"/>
                </a:lnTo>
                <a:cubicBezTo>
                  <a:pt x="4483100" y="78837"/>
                  <a:pt x="4460337" y="101600"/>
                  <a:pt x="4432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33" name="Text 31"/>
          <p:cNvSpPr/>
          <p:nvPr/>
        </p:nvSpPr>
        <p:spPr>
          <a:xfrm>
            <a:off x="8839200" y="50292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形式化验证覆盖率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711242" y="5003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839200" y="5410200"/>
            <a:ext cx="6400800" cy="101600"/>
          </a:xfrm>
          <a:custGeom>
            <a:avLst/>
            <a:gdLst/>
            <a:ahLst/>
            <a:cxnLst/>
            <a:rect l="l" t="t" r="r" b="b"/>
            <a:pathLst>
              <a:path w="6400800" h="101600">
                <a:moveTo>
                  <a:pt x="50800" y="0"/>
                </a:moveTo>
                <a:lnTo>
                  <a:pt x="6350000" y="0"/>
                </a:lnTo>
                <a:cubicBezTo>
                  <a:pt x="6378037" y="0"/>
                  <a:pt x="6400800" y="22763"/>
                  <a:pt x="6400800" y="50800"/>
                </a:cubicBezTo>
                <a:lnTo>
                  <a:pt x="6400800" y="50800"/>
                </a:lnTo>
                <a:cubicBezTo>
                  <a:pt x="6400800" y="78837"/>
                  <a:pt x="6378037" y="101600"/>
                  <a:pt x="6350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8839200" y="5410200"/>
            <a:ext cx="6400800" cy="101600"/>
          </a:xfrm>
          <a:custGeom>
            <a:avLst/>
            <a:gdLst/>
            <a:ahLst/>
            <a:cxnLst/>
            <a:rect l="l" t="t" r="r" b="b"/>
            <a:pathLst>
              <a:path w="6400800" h="101600">
                <a:moveTo>
                  <a:pt x="50800" y="0"/>
                </a:moveTo>
                <a:lnTo>
                  <a:pt x="6350000" y="0"/>
                </a:lnTo>
                <a:cubicBezTo>
                  <a:pt x="6378037" y="0"/>
                  <a:pt x="6400800" y="22763"/>
                  <a:pt x="6400800" y="50800"/>
                </a:cubicBezTo>
                <a:lnTo>
                  <a:pt x="6400800" y="50800"/>
                </a:lnTo>
                <a:cubicBezTo>
                  <a:pt x="6400800" y="78837"/>
                  <a:pt x="6378037" y="101600"/>
                  <a:pt x="63500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86262" y="6840416"/>
            <a:ext cx="7453923" cy="1789723"/>
          </a:xfrm>
          <a:custGeom>
            <a:avLst/>
            <a:gdLst/>
            <a:ahLst/>
            <a:cxnLst/>
            <a:rect l="l" t="t" r="r" b="b"/>
            <a:pathLst>
              <a:path w="7453923" h="1789723">
                <a:moveTo>
                  <a:pt x="152395" y="0"/>
                </a:moveTo>
                <a:lnTo>
                  <a:pt x="7301528" y="0"/>
                </a:lnTo>
                <a:cubicBezTo>
                  <a:pt x="7385694" y="0"/>
                  <a:pt x="7453923" y="68230"/>
                  <a:pt x="7453923" y="152395"/>
                </a:cubicBezTo>
                <a:lnTo>
                  <a:pt x="7453923" y="1637328"/>
                </a:lnTo>
                <a:cubicBezTo>
                  <a:pt x="7453923" y="1721494"/>
                  <a:pt x="7385694" y="1789723"/>
                  <a:pt x="7301528" y="1789723"/>
                </a:cubicBezTo>
                <a:lnTo>
                  <a:pt x="152395" y="1789723"/>
                </a:lnTo>
                <a:cubicBezTo>
                  <a:pt x="68286" y="1789723"/>
                  <a:pt x="0" y="1721437"/>
                  <a:pt x="0" y="1637328"/>
                </a:cubicBezTo>
                <a:lnTo>
                  <a:pt x="0" y="152395"/>
                </a:lnTo>
                <a:cubicBezTo>
                  <a:pt x="0" y="68286"/>
                  <a:pt x="68286" y="0"/>
                  <a:pt x="15239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54073" y="7176478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9130323" y="7151078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国产化战略需求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96923" y="7659078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国家"十四五"规划明确提出发展自主可控的工业软件，轨道交通信号系统国产化率要求达到90%以上，急需配套的安全验证工具链。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PAIN POINTS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核心痛点分析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854202"/>
            <a:ext cx="4914900" cy="5207000"/>
          </a:xfrm>
          <a:custGeom>
            <a:avLst/>
            <a:gdLst/>
            <a:ahLst/>
            <a:cxnLst/>
            <a:rect l="l" t="t" r="r" b="b"/>
            <a:pathLst>
              <a:path w="4914900" h="5207000">
                <a:moveTo>
                  <a:pt x="50800" y="0"/>
                </a:moveTo>
                <a:lnTo>
                  <a:pt x="4864100" y="0"/>
                </a:lnTo>
                <a:cubicBezTo>
                  <a:pt x="4892156" y="0"/>
                  <a:pt x="4914900" y="22744"/>
                  <a:pt x="4914900" y="50800"/>
                </a:cubicBezTo>
                <a:lnTo>
                  <a:pt x="4914900" y="5054589"/>
                </a:lnTo>
                <a:cubicBezTo>
                  <a:pt x="4914900" y="5138763"/>
                  <a:pt x="4846663" y="5207000"/>
                  <a:pt x="4762489" y="5207000"/>
                </a:cubicBezTo>
                <a:lnTo>
                  <a:pt x="152411" y="5207000"/>
                </a:lnTo>
                <a:cubicBezTo>
                  <a:pt x="68237" y="5207000"/>
                  <a:pt x="0" y="5138763"/>
                  <a:pt x="0" y="50545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08000" y="1854202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8440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1875" y="2400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261863" y="208359"/>
                </a:moveTo>
                <a:lnTo>
                  <a:pt x="119807" y="208359"/>
                </a:lnTo>
                <a:cubicBezTo>
                  <a:pt x="121965" y="256356"/>
                  <a:pt x="132606" y="300558"/>
                  <a:pt x="147712" y="332929"/>
                </a:cubicBezTo>
                <a:cubicBezTo>
                  <a:pt x="156195" y="351160"/>
                  <a:pt x="165348" y="364034"/>
                  <a:pt x="173831" y="371921"/>
                </a:cubicBezTo>
                <a:cubicBezTo>
                  <a:pt x="182166" y="379735"/>
                  <a:pt x="187896" y="381000"/>
                  <a:pt x="190872" y="381000"/>
                </a:cubicBezTo>
                <a:cubicBezTo>
                  <a:pt x="193849" y="381000"/>
                  <a:pt x="199579" y="379735"/>
                  <a:pt x="207913" y="371921"/>
                </a:cubicBezTo>
                <a:cubicBezTo>
                  <a:pt x="216396" y="364034"/>
                  <a:pt x="225549" y="351086"/>
                  <a:pt x="234032" y="332929"/>
                </a:cubicBezTo>
                <a:cubicBezTo>
                  <a:pt x="249138" y="300558"/>
                  <a:pt x="259779" y="256356"/>
                  <a:pt x="261937" y="208359"/>
                </a:cubicBezTo>
                <a:close/>
                <a:moveTo>
                  <a:pt x="119732" y="172641"/>
                </a:moveTo>
                <a:lnTo>
                  <a:pt x="261789" y="172641"/>
                </a:lnTo>
                <a:cubicBezTo>
                  <a:pt x="259705" y="124644"/>
                  <a:pt x="249064" y="80442"/>
                  <a:pt x="233958" y="48071"/>
                </a:cubicBezTo>
                <a:cubicBezTo>
                  <a:pt x="225475" y="29914"/>
                  <a:pt x="216322" y="16966"/>
                  <a:pt x="207838" y="9079"/>
                </a:cubicBezTo>
                <a:cubicBezTo>
                  <a:pt x="199504" y="1265"/>
                  <a:pt x="193774" y="0"/>
                  <a:pt x="190798" y="0"/>
                </a:cubicBezTo>
                <a:cubicBezTo>
                  <a:pt x="187821" y="0"/>
                  <a:pt x="182091" y="1265"/>
                  <a:pt x="173757" y="9079"/>
                </a:cubicBezTo>
                <a:cubicBezTo>
                  <a:pt x="165274" y="16966"/>
                  <a:pt x="156121" y="29914"/>
                  <a:pt x="147637" y="48071"/>
                </a:cubicBezTo>
                <a:cubicBezTo>
                  <a:pt x="132531" y="80442"/>
                  <a:pt x="121890" y="124644"/>
                  <a:pt x="119732" y="172641"/>
                </a:cubicBezTo>
                <a:close/>
                <a:moveTo>
                  <a:pt x="84013" y="172641"/>
                </a:moveTo>
                <a:cubicBezTo>
                  <a:pt x="86618" y="108942"/>
                  <a:pt x="103063" y="49783"/>
                  <a:pt x="127099" y="10939"/>
                </a:cubicBezTo>
                <a:cubicBezTo>
                  <a:pt x="58564" y="35198"/>
                  <a:pt x="8111" y="97631"/>
                  <a:pt x="1116" y="172641"/>
                </a:cubicBezTo>
                <a:lnTo>
                  <a:pt x="84013" y="172641"/>
                </a:lnTo>
                <a:close/>
                <a:moveTo>
                  <a:pt x="1116" y="208359"/>
                </a:moveTo>
                <a:cubicBezTo>
                  <a:pt x="8111" y="283369"/>
                  <a:pt x="58564" y="345802"/>
                  <a:pt x="127099" y="370061"/>
                </a:cubicBezTo>
                <a:cubicBezTo>
                  <a:pt x="103063" y="331217"/>
                  <a:pt x="86618" y="272058"/>
                  <a:pt x="84013" y="208359"/>
                </a:cubicBezTo>
                <a:lnTo>
                  <a:pt x="1116" y="208359"/>
                </a:lnTo>
                <a:close/>
                <a:moveTo>
                  <a:pt x="297582" y="208359"/>
                </a:moveTo>
                <a:cubicBezTo>
                  <a:pt x="294977" y="272058"/>
                  <a:pt x="278532" y="331217"/>
                  <a:pt x="254496" y="370061"/>
                </a:cubicBezTo>
                <a:cubicBezTo>
                  <a:pt x="323031" y="345728"/>
                  <a:pt x="373484" y="283369"/>
                  <a:pt x="380479" y="208359"/>
                </a:cubicBezTo>
                <a:lnTo>
                  <a:pt x="297582" y="208359"/>
                </a:lnTo>
                <a:close/>
                <a:moveTo>
                  <a:pt x="380479" y="172641"/>
                </a:moveTo>
                <a:cubicBezTo>
                  <a:pt x="373484" y="97631"/>
                  <a:pt x="323031" y="35198"/>
                  <a:pt x="254496" y="10939"/>
                </a:cubicBezTo>
                <a:cubicBezTo>
                  <a:pt x="278532" y="49783"/>
                  <a:pt x="294977" y="108942"/>
                  <a:pt x="297582" y="172641"/>
                </a:cubicBezTo>
                <a:lnTo>
                  <a:pt x="380479" y="17264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235202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PAIN POINT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0" y="2540002"/>
            <a:ext cx="1422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国外垄断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200402"/>
            <a:ext cx="44069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形式化验证工具市场被Ansys、MathWorks等国外巨头垄断，单套软件授权费用高达数百万元，且存在技术封锁和安全后门风险。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" y="5742355"/>
            <a:ext cx="4305300" cy="1016000"/>
          </a:xfrm>
          <a:custGeom>
            <a:avLst/>
            <a:gdLst/>
            <a:ahLst/>
            <a:cxnLst/>
            <a:rect l="l" t="t" r="r" b="b"/>
            <a:pathLst>
              <a:path w="4305300" h="1016000">
                <a:moveTo>
                  <a:pt x="101600" y="0"/>
                </a:moveTo>
                <a:lnTo>
                  <a:pt x="4203700" y="0"/>
                </a:lnTo>
                <a:cubicBezTo>
                  <a:pt x="4259775" y="0"/>
                  <a:pt x="4305300" y="45525"/>
                  <a:pt x="4305300" y="101600"/>
                </a:cubicBezTo>
                <a:lnTo>
                  <a:pt x="4305300" y="914400"/>
                </a:lnTo>
                <a:cubicBezTo>
                  <a:pt x="4305300" y="970475"/>
                  <a:pt x="4259775" y="1016000"/>
                  <a:pt x="42037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39800" y="5945555"/>
            <a:ext cx="201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500万+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77900" y="6351953"/>
            <a:ext cx="194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年授权费用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63313" y="5945555"/>
            <a:ext cx="201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95%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01413" y="6351953"/>
            <a:ext cx="194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市场占有率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72626" y="1854202"/>
            <a:ext cx="4914900" cy="5207000"/>
          </a:xfrm>
          <a:custGeom>
            <a:avLst/>
            <a:gdLst/>
            <a:ahLst/>
            <a:cxnLst/>
            <a:rect l="l" t="t" r="r" b="b"/>
            <a:pathLst>
              <a:path w="4914900" h="5207000">
                <a:moveTo>
                  <a:pt x="50800" y="0"/>
                </a:moveTo>
                <a:lnTo>
                  <a:pt x="4864100" y="0"/>
                </a:lnTo>
                <a:cubicBezTo>
                  <a:pt x="4892156" y="0"/>
                  <a:pt x="4914900" y="22744"/>
                  <a:pt x="4914900" y="50800"/>
                </a:cubicBezTo>
                <a:lnTo>
                  <a:pt x="4914900" y="5054589"/>
                </a:lnTo>
                <a:cubicBezTo>
                  <a:pt x="4914900" y="5138763"/>
                  <a:pt x="4846663" y="5207000"/>
                  <a:pt x="4762489" y="5207000"/>
                </a:cubicBezTo>
                <a:lnTo>
                  <a:pt x="152411" y="5207000"/>
                </a:lnTo>
                <a:cubicBezTo>
                  <a:pt x="68237" y="5207000"/>
                  <a:pt x="0" y="5138763"/>
                  <a:pt x="0" y="50545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5672626" y="1854202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Shape 16"/>
          <p:cNvSpPr/>
          <p:nvPr/>
        </p:nvSpPr>
        <p:spPr>
          <a:xfrm>
            <a:off x="5977426" y="218440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72689" y="2400302"/>
            <a:ext cx="428625" cy="381000"/>
          </a:xfrm>
          <a:custGeom>
            <a:avLst/>
            <a:gdLst/>
            <a:ahLst/>
            <a:cxnLst/>
            <a:rect l="l" t="t" r="r" b="b"/>
            <a:pathLst>
              <a:path w="428625" h="381000">
                <a:moveTo>
                  <a:pt x="142875" y="71438"/>
                </a:moveTo>
                <a:cubicBezTo>
                  <a:pt x="142875" y="31998"/>
                  <a:pt x="174873" y="0"/>
                  <a:pt x="214313" y="0"/>
                </a:cubicBezTo>
                <a:cubicBezTo>
                  <a:pt x="253752" y="0"/>
                  <a:pt x="285750" y="31998"/>
                  <a:pt x="285750" y="71438"/>
                </a:cubicBezTo>
                <a:lnTo>
                  <a:pt x="285750" y="74116"/>
                </a:lnTo>
                <a:cubicBezTo>
                  <a:pt x="285750" y="85799"/>
                  <a:pt x="276299" y="95250"/>
                  <a:pt x="264616" y="95250"/>
                </a:cubicBezTo>
                <a:lnTo>
                  <a:pt x="164083" y="95250"/>
                </a:lnTo>
                <a:cubicBezTo>
                  <a:pt x="152400" y="95250"/>
                  <a:pt x="142949" y="85799"/>
                  <a:pt x="142949" y="74116"/>
                </a:cubicBezTo>
                <a:lnTo>
                  <a:pt x="142949" y="71438"/>
                </a:lnTo>
                <a:close/>
                <a:moveTo>
                  <a:pt x="400050" y="80962"/>
                </a:moveTo>
                <a:cubicBezTo>
                  <a:pt x="407938" y="91455"/>
                  <a:pt x="405780" y="106412"/>
                  <a:pt x="395288" y="114300"/>
                </a:cubicBezTo>
                <a:lnTo>
                  <a:pt x="322511" y="168846"/>
                </a:lnTo>
                <a:cubicBezTo>
                  <a:pt x="326454" y="175468"/>
                  <a:pt x="329431" y="182761"/>
                  <a:pt x="331291" y="190500"/>
                </a:cubicBezTo>
                <a:lnTo>
                  <a:pt x="404813" y="190500"/>
                </a:lnTo>
                <a:cubicBezTo>
                  <a:pt x="417984" y="190500"/>
                  <a:pt x="428625" y="201141"/>
                  <a:pt x="428625" y="214313"/>
                </a:cubicBezTo>
                <a:cubicBezTo>
                  <a:pt x="428625" y="227484"/>
                  <a:pt x="417984" y="238125"/>
                  <a:pt x="404813" y="238125"/>
                </a:cubicBezTo>
                <a:lnTo>
                  <a:pt x="333375" y="238125"/>
                </a:lnTo>
                <a:lnTo>
                  <a:pt x="333375" y="261938"/>
                </a:lnTo>
                <a:cubicBezTo>
                  <a:pt x="333375" y="263872"/>
                  <a:pt x="333301" y="265881"/>
                  <a:pt x="333226" y="267816"/>
                </a:cubicBezTo>
                <a:lnTo>
                  <a:pt x="395288" y="314325"/>
                </a:lnTo>
                <a:cubicBezTo>
                  <a:pt x="405780" y="322213"/>
                  <a:pt x="407938" y="337170"/>
                  <a:pt x="400050" y="347663"/>
                </a:cubicBezTo>
                <a:cubicBezTo>
                  <a:pt x="392162" y="358155"/>
                  <a:pt x="377205" y="360313"/>
                  <a:pt x="366713" y="352425"/>
                </a:cubicBezTo>
                <a:lnTo>
                  <a:pt x="319757" y="317227"/>
                </a:lnTo>
                <a:cubicBezTo>
                  <a:pt x="302493" y="350118"/>
                  <a:pt x="270272" y="373931"/>
                  <a:pt x="232172" y="379661"/>
                </a:cubicBezTo>
                <a:lnTo>
                  <a:pt x="232172" y="208359"/>
                </a:lnTo>
                <a:cubicBezTo>
                  <a:pt x="232172" y="198462"/>
                  <a:pt x="224210" y="190500"/>
                  <a:pt x="214313" y="190500"/>
                </a:cubicBezTo>
                <a:cubicBezTo>
                  <a:pt x="204415" y="190500"/>
                  <a:pt x="196453" y="198462"/>
                  <a:pt x="196453" y="208359"/>
                </a:cubicBezTo>
                <a:lnTo>
                  <a:pt x="196453" y="379661"/>
                </a:lnTo>
                <a:cubicBezTo>
                  <a:pt x="158353" y="373931"/>
                  <a:pt x="126132" y="350118"/>
                  <a:pt x="108868" y="317227"/>
                </a:cubicBezTo>
                <a:lnTo>
                  <a:pt x="61913" y="352425"/>
                </a:lnTo>
                <a:cubicBezTo>
                  <a:pt x="51420" y="360313"/>
                  <a:pt x="36463" y="358155"/>
                  <a:pt x="28575" y="347663"/>
                </a:cubicBezTo>
                <a:cubicBezTo>
                  <a:pt x="20687" y="337170"/>
                  <a:pt x="22845" y="322213"/>
                  <a:pt x="33338" y="314325"/>
                </a:cubicBezTo>
                <a:lnTo>
                  <a:pt x="95399" y="267816"/>
                </a:lnTo>
                <a:cubicBezTo>
                  <a:pt x="95324" y="265881"/>
                  <a:pt x="95250" y="263947"/>
                  <a:pt x="95250" y="261938"/>
                </a:cubicBezTo>
                <a:lnTo>
                  <a:pt x="95250" y="238125"/>
                </a:lnTo>
                <a:lnTo>
                  <a:pt x="23813" y="238125"/>
                </a:lnTo>
                <a:cubicBezTo>
                  <a:pt x="10641" y="238125"/>
                  <a:pt x="0" y="227484"/>
                  <a:pt x="0" y="214313"/>
                </a:cubicBezTo>
                <a:cubicBezTo>
                  <a:pt x="0" y="201141"/>
                  <a:pt x="10641" y="190500"/>
                  <a:pt x="23813" y="190500"/>
                </a:cubicBezTo>
                <a:lnTo>
                  <a:pt x="97334" y="190500"/>
                </a:lnTo>
                <a:cubicBezTo>
                  <a:pt x="99194" y="182761"/>
                  <a:pt x="102171" y="175468"/>
                  <a:pt x="106114" y="168846"/>
                </a:cubicBezTo>
                <a:lnTo>
                  <a:pt x="33338" y="114300"/>
                </a:lnTo>
                <a:cubicBezTo>
                  <a:pt x="22845" y="106412"/>
                  <a:pt x="20687" y="91455"/>
                  <a:pt x="28575" y="80962"/>
                </a:cubicBezTo>
                <a:cubicBezTo>
                  <a:pt x="36463" y="70470"/>
                  <a:pt x="51420" y="68312"/>
                  <a:pt x="61912" y="76200"/>
                </a:cubicBezTo>
                <a:lnTo>
                  <a:pt x="142875" y="136922"/>
                </a:lnTo>
                <a:cubicBezTo>
                  <a:pt x="152028" y="133127"/>
                  <a:pt x="162074" y="130969"/>
                  <a:pt x="172641" y="130969"/>
                </a:cubicBezTo>
                <a:lnTo>
                  <a:pt x="255984" y="130969"/>
                </a:lnTo>
                <a:cubicBezTo>
                  <a:pt x="266551" y="130969"/>
                  <a:pt x="276597" y="133052"/>
                  <a:pt x="285750" y="136922"/>
                </a:cubicBezTo>
                <a:lnTo>
                  <a:pt x="366713" y="76200"/>
                </a:lnTo>
                <a:cubicBezTo>
                  <a:pt x="377205" y="68312"/>
                  <a:pt x="392162" y="70470"/>
                  <a:pt x="400050" y="8096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6993426" y="2235202"/>
            <a:ext cx="138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PAIN POINT 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3426" y="2540002"/>
            <a:ext cx="1447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测试盲区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77426" y="3200402"/>
            <a:ext cx="44069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传统测试方法无法穷尽所有执行路径，存在"测不到即安全"的盲区。SIL4级系统要求残余错误率&lt;10⁻⁸/h，传统方法难以满足。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977426" y="5488355"/>
            <a:ext cx="4305300" cy="1270000"/>
          </a:xfrm>
          <a:custGeom>
            <a:avLst/>
            <a:gdLst/>
            <a:ahLst/>
            <a:cxnLst/>
            <a:rect l="l" t="t" r="r" b="b"/>
            <a:pathLst>
              <a:path w="4305300" h="1270000">
                <a:moveTo>
                  <a:pt x="101600" y="0"/>
                </a:moveTo>
                <a:lnTo>
                  <a:pt x="4203700" y="0"/>
                </a:lnTo>
                <a:cubicBezTo>
                  <a:pt x="4259775" y="0"/>
                  <a:pt x="4305300" y="45525"/>
                  <a:pt x="4305300" y="101600"/>
                </a:cubicBezTo>
                <a:lnTo>
                  <a:pt x="4305300" y="1168400"/>
                </a:lnTo>
                <a:cubicBezTo>
                  <a:pt x="4305300" y="1224475"/>
                  <a:pt x="4259775" y="1270000"/>
                  <a:pt x="4203700" y="1270000"/>
                </a:cubicBezTo>
                <a:lnTo>
                  <a:pt x="101600" y="1270000"/>
                </a:lnTo>
                <a:cubicBezTo>
                  <a:pt x="45525" y="1270000"/>
                  <a:pt x="0" y="1224475"/>
                  <a:pt x="0" y="1168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180626" y="5716955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测试覆盖率上限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36980" y="5691555"/>
            <a:ext cx="54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80626" y="6097955"/>
            <a:ext cx="3898900" cy="101600"/>
          </a:xfrm>
          <a:custGeom>
            <a:avLst/>
            <a:gdLst/>
            <a:ahLst/>
            <a:cxnLst/>
            <a:rect l="l" t="t" r="r" b="b"/>
            <a:pathLst>
              <a:path w="3898900" h="101600">
                <a:moveTo>
                  <a:pt x="50800" y="0"/>
                </a:moveTo>
                <a:lnTo>
                  <a:pt x="3848100" y="0"/>
                </a:lnTo>
                <a:cubicBezTo>
                  <a:pt x="3876137" y="0"/>
                  <a:pt x="3898900" y="22763"/>
                  <a:pt x="3898900" y="50800"/>
                </a:cubicBezTo>
                <a:lnTo>
                  <a:pt x="3898900" y="50800"/>
                </a:lnTo>
                <a:cubicBezTo>
                  <a:pt x="3898900" y="78837"/>
                  <a:pt x="3876137" y="101600"/>
                  <a:pt x="3848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7" name="Shape 25"/>
          <p:cNvSpPr/>
          <p:nvPr/>
        </p:nvSpPr>
        <p:spPr>
          <a:xfrm>
            <a:off x="6180626" y="6097955"/>
            <a:ext cx="3111500" cy="101600"/>
          </a:xfrm>
          <a:custGeom>
            <a:avLst/>
            <a:gdLst/>
            <a:ahLst/>
            <a:cxnLst/>
            <a:rect l="l" t="t" r="r" b="b"/>
            <a:pathLst>
              <a:path w="3111500" h="101600">
                <a:moveTo>
                  <a:pt x="50800" y="0"/>
                </a:moveTo>
                <a:lnTo>
                  <a:pt x="3060700" y="0"/>
                </a:lnTo>
                <a:cubicBezTo>
                  <a:pt x="3088737" y="0"/>
                  <a:pt x="3111500" y="22763"/>
                  <a:pt x="3111500" y="50800"/>
                </a:cubicBezTo>
                <a:lnTo>
                  <a:pt x="3111500" y="50800"/>
                </a:lnTo>
                <a:cubicBezTo>
                  <a:pt x="3111500" y="78837"/>
                  <a:pt x="3088737" y="101600"/>
                  <a:pt x="30607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A0AEC0"/>
          </a:solidFill>
          <a:ln/>
        </p:spPr>
      </p:sp>
      <p:sp>
        <p:nvSpPr>
          <p:cNvPr id="28" name="Text 26"/>
          <p:cNvSpPr/>
          <p:nvPr/>
        </p:nvSpPr>
        <p:spPr>
          <a:xfrm>
            <a:off x="6180626" y="6351953"/>
            <a:ext cx="397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剩余20%的盲区可能导致严重安全事故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837314" y="1854202"/>
            <a:ext cx="4914900" cy="5207000"/>
          </a:xfrm>
          <a:custGeom>
            <a:avLst/>
            <a:gdLst/>
            <a:ahLst/>
            <a:cxnLst/>
            <a:rect l="l" t="t" r="r" b="b"/>
            <a:pathLst>
              <a:path w="4914900" h="5207000">
                <a:moveTo>
                  <a:pt x="50800" y="0"/>
                </a:moveTo>
                <a:lnTo>
                  <a:pt x="4864100" y="0"/>
                </a:lnTo>
                <a:cubicBezTo>
                  <a:pt x="4892156" y="0"/>
                  <a:pt x="4914900" y="22744"/>
                  <a:pt x="4914900" y="50800"/>
                </a:cubicBezTo>
                <a:lnTo>
                  <a:pt x="4914900" y="5054589"/>
                </a:lnTo>
                <a:cubicBezTo>
                  <a:pt x="4914900" y="5138763"/>
                  <a:pt x="4846663" y="5207000"/>
                  <a:pt x="4762489" y="5207000"/>
                </a:cubicBezTo>
                <a:lnTo>
                  <a:pt x="152411" y="5207000"/>
                </a:lnTo>
                <a:cubicBezTo>
                  <a:pt x="68237" y="5207000"/>
                  <a:pt x="0" y="5138763"/>
                  <a:pt x="0" y="50545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10837314" y="1854202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142114" y="2184402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1361189" y="2400302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3" name="Text 31"/>
          <p:cNvSpPr/>
          <p:nvPr/>
        </p:nvSpPr>
        <p:spPr>
          <a:xfrm>
            <a:off x="12158114" y="2235202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PAIN POINT 03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158114" y="2540002"/>
            <a:ext cx="1816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RISC-V空白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142114" y="3200402"/>
            <a:ext cx="44069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国产RISC-V架构芯片快速发展，但缺乏配套的安全验证工具链。现有工具主要针对ARM/x86架构，无法直接应用于RISC-V环境。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42114" y="5742355"/>
            <a:ext cx="4305300" cy="1016000"/>
          </a:xfrm>
          <a:custGeom>
            <a:avLst/>
            <a:gdLst/>
            <a:ahLst/>
            <a:cxnLst/>
            <a:rect l="l" t="t" r="r" b="b"/>
            <a:pathLst>
              <a:path w="4305300" h="1016000">
                <a:moveTo>
                  <a:pt x="101600" y="0"/>
                </a:moveTo>
                <a:lnTo>
                  <a:pt x="4203700" y="0"/>
                </a:lnTo>
                <a:cubicBezTo>
                  <a:pt x="4259775" y="0"/>
                  <a:pt x="4305300" y="45525"/>
                  <a:pt x="4305300" y="101600"/>
                </a:cubicBezTo>
                <a:lnTo>
                  <a:pt x="4305300" y="914400"/>
                </a:lnTo>
                <a:cubicBezTo>
                  <a:pt x="4305300" y="970475"/>
                  <a:pt x="4259775" y="1016000"/>
                  <a:pt x="42037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269114" y="5945555"/>
            <a:ext cx="201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40%+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307214" y="6351953"/>
            <a:ext cx="194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年增长率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292626" y="5945555"/>
            <a:ext cx="201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330726" y="6351953"/>
            <a:ext cx="1943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现有验证工具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13862" y="7323015"/>
            <a:ext cx="15226323" cy="1307123"/>
          </a:xfrm>
          <a:custGeom>
            <a:avLst/>
            <a:gdLst/>
            <a:ahLst/>
            <a:cxnLst/>
            <a:rect l="l" t="t" r="r" b="b"/>
            <a:pathLst>
              <a:path w="15226323" h="1307123">
                <a:moveTo>
                  <a:pt x="152397" y="0"/>
                </a:moveTo>
                <a:lnTo>
                  <a:pt x="15073926" y="0"/>
                </a:lnTo>
                <a:cubicBezTo>
                  <a:pt x="15158092" y="0"/>
                  <a:pt x="15226323" y="68231"/>
                  <a:pt x="15226323" y="152397"/>
                </a:cubicBezTo>
                <a:lnTo>
                  <a:pt x="15226323" y="1154726"/>
                </a:lnTo>
                <a:cubicBezTo>
                  <a:pt x="15226323" y="1238892"/>
                  <a:pt x="15158092" y="1307123"/>
                  <a:pt x="15073926" y="1307123"/>
                </a:cubicBezTo>
                <a:lnTo>
                  <a:pt x="152397" y="1307123"/>
                </a:lnTo>
                <a:cubicBezTo>
                  <a:pt x="68231" y="1307123"/>
                  <a:pt x="0" y="1238892"/>
                  <a:pt x="0" y="1154726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2148" y="7786077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3" name="Text 41"/>
          <p:cNvSpPr/>
          <p:nvPr/>
        </p:nvSpPr>
        <p:spPr>
          <a:xfrm>
            <a:off x="1453173" y="7582877"/>
            <a:ext cx="141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解决方案方向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53173" y="8040077"/>
            <a:ext cx="1413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开发一款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自主可控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轻量化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高可靠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的形式化验证工具，支持国产RISC-V架构，满足SIL4级安全要求，填补国内空白。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SOLUTION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解决方案：轨芯安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8559800" cy="3810000"/>
          </a:xfrm>
          <a:custGeom>
            <a:avLst/>
            <a:gdLst/>
            <a:ahLst/>
            <a:cxnLst/>
            <a:rect l="l" t="t" r="r" b="b"/>
            <a:pathLst>
              <a:path w="8559800" h="3810000">
                <a:moveTo>
                  <a:pt x="50800" y="0"/>
                </a:moveTo>
                <a:lnTo>
                  <a:pt x="8407400" y="0"/>
                </a:lnTo>
                <a:cubicBezTo>
                  <a:pt x="8491512" y="0"/>
                  <a:pt x="8559800" y="68288"/>
                  <a:pt x="8559800" y="152400"/>
                </a:cubicBezTo>
                <a:lnTo>
                  <a:pt x="8559800" y="3657600"/>
                </a:lnTo>
                <a:cubicBezTo>
                  <a:pt x="8559800" y="3741712"/>
                  <a:pt x="8491512" y="3810000"/>
                  <a:pt x="8407400" y="3810000"/>
                </a:cubicBezTo>
                <a:lnTo>
                  <a:pt x="50800" y="3810000"/>
                </a:lnTo>
                <a:cubicBezTo>
                  <a:pt x="22744" y="3810000"/>
                  <a:pt x="0" y="3787256"/>
                  <a:pt x="0" y="375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810000"/>
          </a:xfrm>
          <a:custGeom>
            <a:avLst/>
            <a:gdLst/>
            <a:ahLst/>
            <a:cxnLst/>
            <a:rect l="l" t="t" r="r" b="b"/>
            <a:pathLst>
              <a:path w="50800" h="3810000">
                <a:moveTo>
                  <a:pt x="50800" y="0"/>
                </a:moveTo>
                <a:lnTo>
                  <a:pt x="50800" y="0"/>
                </a:lnTo>
                <a:lnTo>
                  <a:pt x="50800" y="3810000"/>
                </a:lnTo>
                <a:lnTo>
                  <a:pt x="50800" y="3810000"/>
                </a:lnTo>
                <a:cubicBezTo>
                  <a:pt x="22763" y="3810000"/>
                  <a:pt x="0" y="3787237"/>
                  <a:pt x="0" y="3759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133600"/>
            <a:ext cx="807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项目简介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" y="2743200"/>
            <a:ext cx="8026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轨芯安是一款专为轨道交通信号系统设计的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轻量级形式化验证工具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，支持RSSP-I/II安全通信协议在国产RISC-V架构下的验证，满足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SIL4级安全完整性要求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3600" y="3606800"/>
            <a:ext cx="2501900" cy="1727200"/>
          </a:xfrm>
          <a:custGeom>
            <a:avLst/>
            <a:gdLst/>
            <a:ahLst/>
            <a:cxnLst/>
            <a:rect l="l" t="t" r="r" b="b"/>
            <a:pathLst>
              <a:path w="2501900" h="1727200">
                <a:moveTo>
                  <a:pt x="101594" y="0"/>
                </a:moveTo>
                <a:lnTo>
                  <a:pt x="2400306" y="0"/>
                </a:lnTo>
                <a:cubicBezTo>
                  <a:pt x="2456415" y="0"/>
                  <a:pt x="2501900" y="45485"/>
                  <a:pt x="2501900" y="101594"/>
                </a:cubicBezTo>
                <a:lnTo>
                  <a:pt x="2501900" y="1625606"/>
                </a:lnTo>
                <a:cubicBezTo>
                  <a:pt x="2501900" y="1681715"/>
                  <a:pt x="2456415" y="1727200"/>
                  <a:pt x="24003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963615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82952" y="60"/>
                </a:moveTo>
                <a:cubicBezTo>
                  <a:pt x="288846" y="-417"/>
                  <a:pt x="294620" y="1845"/>
                  <a:pt x="298787" y="6013"/>
                </a:cubicBezTo>
                <a:cubicBezTo>
                  <a:pt x="302955" y="10180"/>
                  <a:pt x="305217" y="15954"/>
                  <a:pt x="304740" y="21848"/>
                </a:cubicBezTo>
                <a:cubicBezTo>
                  <a:pt x="302359" y="51197"/>
                  <a:pt x="294382" y="96976"/>
                  <a:pt x="277178" y="140732"/>
                </a:cubicBezTo>
                <a:cubicBezTo>
                  <a:pt x="276106" y="143411"/>
                  <a:pt x="273903" y="145435"/>
                  <a:pt x="271105" y="146268"/>
                </a:cubicBezTo>
                <a:lnTo>
                  <a:pt x="222945" y="160734"/>
                </a:lnTo>
                <a:cubicBezTo>
                  <a:pt x="220623" y="161449"/>
                  <a:pt x="219075" y="163532"/>
                  <a:pt x="219075" y="165973"/>
                </a:cubicBezTo>
                <a:cubicBezTo>
                  <a:pt x="219075" y="169009"/>
                  <a:pt x="221516" y="171450"/>
                  <a:pt x="224552" y="171450"/>
                </a:cubicBezTo>
                <a:lnTo>
                  <a:pt x="247531" y="171450"/>
                </a:lnTo>
                <a:cubicBezTo>
                  <a:pt x="254675" y="171450"/>
                  <a:pt x="259259" y="179070"/>
                  <a:pt x="255568" y="185202"/>
                </a:cubicBezTo>
                <a:cubicBezTo>
                  <a:pt x="253186" y="189190"/>
                  <a:pt x="250627" y="193060"/>
                  <a:pt x="248007" y="196870"/>
                </a:cubicBezTo>
                <a:cubicBezTo>
                  <a:pt x="246817" y="198596"/>
                  <a:pt x="245031" y="199846"/>
                  <a:pt x="243007" y="200501"/>
                </a:cubicBezTo>
                <a:lnTo>
                  <a:pt x="184845" y="217884"/>
                </a:lnTo>
                <a:cubicBezTo>
                  <a:pt x="182523" y="218599"/>
                  <a:pt x="180975" y="220682"/>
                  <a:pt x="180975" y="223123"/>
                </a:cubicBezTo>
                <a:cubicBezTo>
                  <a:pt x="180975" y="226159"/>
                  <a:pt x="183416" y="228600"/>
                  <a:pt x="186452" y="228600"/>
                </a:cubicBezTo>
                <a:lnTo>
                  <a:pt x="195977" y="228600"/>
                </a:lnTo>
                <a:cubicBezTo>
                  <a:pt x="204668" y="228600"/>
                  <a:pt x="208478" y="238958"/>
                  <a:pt x="201216" y="243721"/>
                </a:cubicBezTo>
                <a:cubicBezTo>
                  <a:pt x="160734" y="270510"/>
                  <a:pt x="119241" y="269498"/>
                  <a:pt x="92631" y="262354"/>
                </a:cubicBezTo>
                <a:cubicBezTo>
                  <a:pt x="85070" y="260330"/>
                  <a:pt x="78343" y="256461"/>
                  <a:pt x="72152" y="251698"/>
                </a:cubicBezTo>
                <a:lnTo>
                  <a:pt x="28575" y="295275"/>
                </a:lnTo>
                <a:cubicBezTo>
                  <a:pt x="23336" y="300514"/>
                  <a:pt x="14764" y="300514"/>
                  <a:pt x="9525" y="295275"/>
                </a:cubicBezTo>
                <a:cubicBezTo>
                  <a:pt x="4286" y="290036"/>
                  <a:pt x="4286" y="281464"/>
                  <a:pt x="9525" y="276225"/>
                </a:cubicBezTo>
                <a:lnTo>
                  <a:pt x="57150" y="228600"/>
                </a:lnTo>
                <a:lnTo>
                  <a:pt x="57448" y="228898"/>
                </a:lnTo>
                <a:cubicBezTo>
                  <a:pt x="57864" y="228124"/>
                  <a:pt x="58400" y="227409"/>
                  <a:pt x="59055" y="226755"/>
                </a:cubicBezTo>
                <a:lnTo>
                  <a:pt x="152400" y="133350"/>
                </a:lnTo>
                <a:cubicBezTo>
                  <a:pt x="157639" y="128111"/>
                  <a:pt x="157639" y="119539"/>
                  <a:pt x="152400" y="114300"/>
                </a:cubicBezTo>
                <a:cubicBezTo>
                  <a:pt x="147161" y="109061"/>
                  <a:pt x="138589" y="109061"/>
                  <a:pt x="133350" y="114300"/>
                </a:cubicBezTo>
                <a:lnTo>
                  <a:pt x="53400" y="194191"/>
                </a:lnTo>
                <a:cubicBezTo>
                  <a:pt x="48101" y="199489"/>
                  <a:pt x="39112" y="196810"/>
                  <a:pt x="38517" y="189309"/>
                </a:cubicBezTo>
                <a:cubicBezTo>
                  <a:pt x="35957" y="157639"/>
                  <a:pt x="44053" y="116026"/>
                  <a:pt x="81736" y="78343"/>
                </a:cubicBezTo>
                <a:cubicBezTo>
                  <a:pt x="135969" y="24110"/>
                  <a:pt x="233065" y="4108"/>
                  <a:pt x="282892" y="6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1009650" y="4216400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2350" y="4622800"/>
            <a:ext cx="218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资源占用低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部署灵活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1631" y="3606800"/>
            <a:ext cx="2501900" cy="1727200"/>
          </a:xfrm>
          <a:custGeom>
            <a:avLst/>
            <a:gdLst/>
            <a:ahLst/>
            <a:cxnLst/>
            <a:rect l="l" t="t" r="r" b="b"/>
            <a:pathLst>
              <a:path w="2501900" h="1727200">
                <a:moveTo>
                  <a:pt x="101594" y="0"/>
                </a:moveTo>
                <a:lnTo>
                  <a:pt x="2400306" y="0"/>
                </a:lnTo>
                <a:cubicBezTo>
                  <a:pt x="2456415" y="0"/>
                  <a:pt x="2501900" y="45485"/>
                  <a:pt x="2501900" y="101594"/>
                </a:cubicBezTo>
                <a:lnTo>
                  <a:pt x="2501900" y="1625606"/>
                </a:lnTo>
                <a:cubicBezTo>
                  <a:pt x="2501900" y="1681715"/>
                  <a:pt x="2456415" y="1727200"/>
                  <a:pt x="24003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690696" y="381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Text 12"/>
          <p:cNvSpPr/>
          <p:nvPr/>
        </p:nvSpPr>
        <p:spPr>
          <a:xfrm>
            <a:off x="3717681" y="4216400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国产化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30381" y="4622800"/>
            <a:ext cx="218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自主可控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安全可信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79662" y="3606800"/>
            <a:ext cx="2501900" cy="1727200"/>
          </a:xfrm>
          <a:custGeom>
            <a:avLst/>
            <a:gdLst/>
            <a:ahLst/>
            <a:cxnLst/>
            <a:rect l="l" t="t" r="r" b="b"/>
            <a:pathLst>
              <a:path w="2501900" h="1727200">
                <a:moveTo>
                  <a:pt x="101594" y="0"/>
                </a:moveTo>
                <a:lnTo>
                  <a:pt x="2400306" y="0"/>
                </a:lnTo>
                <a:cubicBezTo>
                  <a:pt x="2456415" y="0"/>
                  <a:pt x="2501900" y="45485"/>
                  <a:pt x="2501900" y="101594"/>
                </a:cubicBezTo>
                <a:lnTo>
                  <a:pt x="2501900" y="1625606"/>
                </a:lnTo>
                <a:cubicBezTo>
                  <a:pt x="2501900" y="1681715"/>
                  <a:pt x="2456415" y="1727200"/>
                  <a:pt x="2400306" y="1727200"/>
                </a:cubicBezTo>
                <a:lnTo>
                  <a:pt x="101594" y="1727200"/>
                </a:lnTo>
                <a:cubicBezTo>
                  <a:pt x="45485" y="1727200"/>
                  <a:pt x="0" y="1681715"/>
                  <a:pt x="0" y="1625606"/>
                </a:cubicBezTo>
                <a:lnTo>
                  <a:pt x="0" y="101594"/>
                </a:lnTo>
                <a:cubicBezTo>
                  <a:pt x="0" y="45523"/>
                  <a:pt x="45523" y="0"/>
                  <a:pt x="10159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379677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6425712" y="4216400"/>
            <a:ext cx="220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高可靠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8412" y="4622800"/>
            <a:ext cx="2184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SIL4认证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数学证明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5892800"/>
            <a:ext cx="4165600" cy="2743200"/>
          </a:xfrm>
          <a:custGeom>
            <a:avLst/>
            <a:gdLst/>
            <a:ahLst/>
            <a:cxnLst/>
            <a:rect l="l" t="t" r="r" b="b"/>
            <a:pathLst>
              <a:path w="4165600" h="2743200">
                <a:moveTo>
                  <a:pt x="152412" y="0"/>
                </a:moveTo>
                <a:lnTo>
                  <a:pt x="4013188" y="0"/>
                </a:lnTo>
                <a:cubicBezTo>
                  <a:pt x="4097363" y="0"/>
                  <a:pt x="4165600" y="68237"/>
                  <a:pt x="4165600" y="152412"/>
                </a:cubicBezTo>
                <a:lnTo>
                  <a:pt x="4165600" y="2590788"/>
                </a:lnTo>
                <a:cubicBezTo>
                  <a:pt x="4165600" y="2674963"/>
                  <a:pt x="4097363" y="2743200"/>
                  <a:pt x="40131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93750" y="6197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68870" y="105519"/>
                </a:moveTo>
                <a:lnTo>
                  <a:pt x="129183" y="169019"/>
                </a:lnTo>
                <a:cubicBezTo>
                  <a:pt x="127099" y="172343"/>
                  <a:pt x="123527" y="174427"/>
                  <a:pt x="119608" y="174625"/>
                </a:cubicBezTo>
                <a:cubicBezTo>
                  <a:pt x="115689" y="174823"/>
                  <a:pt x="111919" y="173038"/>
                  <a:pt x="109587" y="169863"/>
                </a:cubicBezTo>
                <a:lnTo>
                  <a:pt x="85775" y="138113"/>
                </a:lnTo>
                <a:cubicBezTo>
                  <a:pt x="81806" y="132854"/>
                  <a:pt x="82897" y="125413"/>
                  <a:pt x="88156" y="121444"/>
                </a:cubicBezTo>
                <a:cubicBezTo>
                  <a:pt x="93414" y="117475"/>
                  <a:pt x="100856" y="118566"/>
                  <a:pt x="104825" y="123825"/>
                </a:cubicBezTo>
                <a:lnTo>
                  <a:pt x="118219" y="141684"/>
                </a:lnTo>
                <a:lnTo>
                  <a:pt x="148679" y="92918"/>
                </a:lnTo>
                <a:cubicBezTo>
                  <a:pt x="152152" y="87362"/>
                  <a:pt x="159494" y="85626"/>
                  <a:pt x="165100" y="89148"/>
                </a:cubicBezTo>
                <a:cubicBezTo>
                  <a:pt x="170706" y="92670"/>
                  <a:pt x="172393" y="99963"/>
                  <a:pt x="168870" y="10556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1231900" y="6146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技术突破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6705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66861" y="6654800"/>
            <a:ext cx="242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基于Z3的轻量化BMC引擎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7162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6861" y="7112000"/>
            <a:ext cx="214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完整RSSP-I/II协议建模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7620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66861" y="75692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 RV32I模拟器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0772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66861" y="8026400"/>
            <a:ext cx="175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PMP权限检查机制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925646" y="5892800"/>
            <a:ext cx="4165600" cy="2743200"/>
          </a:xfrm>
          <a:custGeom>
            <a:avLst/>
            <a:gdLst/>
            <a:ahLst/>
            <a:cxnLst/>
            <a:rect l="l" t="t" r="r" b="b"/>
            <a:pathLst>
              <a:path w="4165600" h="2743200">
                <a:moveTo>
                  <a:pt x="152412" y="0"/>
                </a:moveTo>
                <a:lnTo>
                  <a:pt x="4013188" y="0"/>
                </a:lnTo>
                <a:cubicBezTo>
                  <a:pt x="4097363" y="0"/>
                  <a:pt x="4165600" y="68237"/>
                  <a:pt x="4165600" y="152412"/>
                </a:cubicBezTo>
                <a:lnTo>
                  <a:pt x="4165600" y="2590788"/>
                </a:lnTo>
                <a:cubicBezTo>
                  <a:pt x="4165600" y="2674963"/>
                  <a:pt x="4097363" y="2743200"/>
                  <a:pt x="4013188" y="2743200"/>
                </a:cubicBezTo>
                <a:lnTo>
                  <a:pt x="152412" y="2743200"/>
                </a:lnTo>
                <a:cubicBezTo>
                  <a:pt x="68237" y="2743200"/>
                  <a:pt x="0" y="2674963"/>
                  <a:pt x="0" y="25907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211396" y="6197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3" name="Text 31"/>
          <p:cNvSpPr/>
          <p:nvPr/>
        </p:nvSpPr>
        <p:spPr>
          <a:xfrm>
            <a:off x="5649546" y="6146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179646" y="67056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84507" y="6654800"/>
            <a:ext cx="173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验证效率提升60%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79646" y="71628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4507" y="7112000"/>
            <a:ext cx="173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成本降低80%以上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179646" y="76200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484507" y="75692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100%数学正确性保证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179646" y="8077200"/>
            <a:ext cx="304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84507" y="8026400"/>
            <a:ext cx="199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国产RISC-V原生支持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399954" y="1834662"/>
            <a:ext cx="6336323" cy="6793523"/>
          </a:xfrm>
          <a:custGeom>
            <a:avLst/>
            <a:gdLst/>
            <a:ahLst/>
            <a:cxnLst/>
            <a:rect l="l" t="t" r="r" b="b"/>
            <a:pathLst>
              <a:path w="6336323" h="6793523">
                <a:moveTo>
                  <a:pt x="152389" y="0"/>
                </a:moveTo>
                <a:lnTo>
                  <a:pt x="6183935" y="0"/>
                </a:lnTo>
                <a:cubicBezTo>
                  <a:pt x="6268096" y="0"/>
                  <a:pt x="6336323" y="68227"/>
                  <a:pt x="6336323" y="152389"/>
                </a:cubicBezTo>
                <a:lnTo>
                  <a:pt x="6336323" y="6641135"/>
                </a:lnTo>
                <a:cubicBezTo>
                  <a:pt x="6336323" y="6725296"/>
                  <a:pt x="6268096" y="6793523"/>
                  <a:pt x="6183935" y="6793523"/>
                </a:cubicBezTo>
                <a:lnTo>
                  <a:pt x="152389" y="6793523"/>
                </a:lnTo>
                <a:cubicBezTo>
                  <a:pt x="68227" y="6793523"/>
                  <a:pt x="0" y="6725296"/>
                  <a:pt x="0" y="6641135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34416" y="2145323"/>
            <a:ext cx="586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710616" y="2818730"/>
            <a:ext cx="5715000" cy="1676400"/>
          </a:xfrm>
          <a:custGeom>
            <a:avLst/>
            <a:gdLst/>
            <a:ahLst/>
            <a:cxnLst/>
            <a:rect l="l" t="t" r="r" b="b"/>
            <a:pathLst>
              <a:path w="5715000" h="1676400">
                <a:moveTo>
                  <a:pt x="101607" y="0"/>
                </a:moveTo>
                <a:lnTo>
                  <a:pt x="5613393" y="0"/>
                </a:lnTo>
                <a:cubicBezTo>
                  <a:pt x="5669509" y="0"/>
                  <a:pt x="5715000" y="45491"/>
                  <a:pt x="5715000" y="101607"/>
                </a:cubicBezTo>
                <a:lnTo>
                  <a:pt x="5715000" y="1574793"/>
                </a:lnTo>
                <a:cubicBezTo>
                  <a:pt x="5715000" y="1630909"/>
                  <a:pt x="5669509" y="1676400"/>
                  <a:pt x="5613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9913816" y="302193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850316" y="302193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574216" y="309813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打破垄断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913816" y="3631530"/>
            <a:ext cx="541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打破国外技术垄断，实现形式化验证工具国产化替代，保障国家基础设施安全。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710616" y="4724400"/>
            <a:ext cx="5715000" cy="1676400"/>
          </a:xfrm>
          <a:custGeom>
            <a:avLst/>
            <a:gdLst/>
            <a:ahLst/>
            <a:cxnLst/>
            <a:rect l="l" t="t" r="r" b="b"/>
            <a:pathLst>
              <a:path w="5715000" h="1676400">
                <a:moveTo>
                  <a:pt x="101607" y="0"/>
                </a:moveTo>
                <a:lnTo>
                  <a:pt x="5613393" y="0"/>
                </a:lnTo>
                <a:cubicBezTo>
                  <a:pt x="5669509" y="0"/>
                  <a:pt x="5715000" y="45491"/>
                  <a:pt x="5715000" y="101607"/>
                </a:cubicBezTo>
                <a:lnTo>
                  <a:pt x="5715000" y="1574793"/>
                </a:lnTo>
                <a:cubicBezTo>
                  <a:pt x="5715000" y="1630909"/>
                  <a:pt x="5669509" y="1676400"/>
                  <a:pt x="5613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913816" y="49276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850316" y="49276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574216" y="5003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填补空白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913816" y="5537200"/>
            <a:ext cx="541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填补国产RISC-V架构安全验证工具链空白，支持国产芯片生态建设。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710616" y="6630011"/>
            <a:ext cx="5715000" cy="1676400"/>
          </a:xfrm>
          <a:custGeom>
            <a:avLst/>
            <a:gdLst/>
            <a:ahLst/>
            <a:cxnLst/>
            <a:rect l="l" t="t" r="r" b="b"/>
            <a:pathLst>
              <a:path w="5715000" h="1676400">
                <a:moveTo>
                  <a:pt x="101607" y="0"/>
                </a:moveTo>
                <a:lnTo>
                  <a:pt x="5613393" y="0"/>
                </a:lnTo>
                <a:cubicBezTo>
                  <a:pt x="5669509" y="0"/>
                  <a:pt x="5715000" y="45491"/>
                  <a:pt x="5715000" y="101607"/>
                </a:cubicBezTo>
                <a:lnTo>
                  <a:pt x="5715000" y="1574793"/>
                </a:lnTo>
                <a:cubicBezTo>
                  <a:pt x="5715000" y="1630909"/>
                  <a:pt x="5669509" y="1676400"/>
                  <a:pt x="5613393" y="1676400"/>
                </a:cubicBezTo>
                <a:lnTo>
                  <a:pt x="101607" y="1676400"/>
                </a:lnTo>
                <a:cubicBezTo>
                  <a:pt x="45491" y="1676400"/>
                  <a:pt x="0" y="1630909"/>
                  <a:pt x="0" y="15747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913816" y="6833211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850316" y="6833211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574216" y="6909411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守护安全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13816" y="7442811"/>
            <a:ext cx="5410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以数学证明的方式确保信号系统100%正确，守护千万乘客生命安全。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INNOVATIONS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技术创新点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7467600" cy="3606800"/>
          </a:xfrm>
          <a:custGeom>
            <a:avLst/>
            <a:gdLst/>
            <a:ahLst/>
            <a:cxnLst/>
            <a:rect l="l" t="t" r="r" b="b"/>
            <a:pathLst>
              <a:path w="7467600" h="3606800">
                <a:moveTo>
                  <a:pt x="50800" y="0"/>
                </a:moveTo>
                <a:lnTo>
                  <a:pt x="7315213" y="0"/>
                </a:lnTo>
                <a:cubicBezTo>
                  <a:pt x="7399374" y="0"/>
                  <a:pt x="7467600" y="68226"/>
                  <a:pt x="7467600" y="152387"/>
                </a:cubicBezTo>
                <a:lnTo>
                  <a:pt x="7467600" y="3454413"/>
                </a:lnTo>
                <a:cubicBezTo>
                  <a:pt x="7467600" y="3538574"/>
                  <a:pt x="7399374" y="3606800"/>
                  <a:pt x="7315213" y="3606800"/>
                </a:cubicBezTo>
                <a:lnTo>
                  <a:pt x="50800" y="3606800"/>
                </a:lnTo>
                <a:cubicBezTo>
                  <a:pt x="22763" y="3606800"/>
                  <a:pt x="0" y="3584037"/>
                  <a:pt x="0" y="355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606800"/>
          </a:xfrm>
          <a:custGeom>
            <a:avLst/>
            <a:gdLst/>
            <a:ahLst/>
            <a:cxnLst/>
            <a:rect l="l" t="t" r="r" b="b"/>
            <a:pathLst>
              <a:path w="50800" h="3606800">
                <a:moveTo>
                  <a:pt x="50800" y="0"/>
                </a:moveTo>
                <a:lnTo>
                  <a:pt x="50800" y="0"/>
                </a:lnTo>
                <a:lnTo>
                  <a:pt x="50800" y="3606800"/>
                </a:lnTo>
                <a:lnTo>
                  <a:pt x="50800" y="3606800"/>
                </a:lnTo>
                <a:cubicBezTo>
                  <a:pt x="22763" y="3606800"/>
                  <a:pt x="0" y="3584037"/>
                  <a:pt x="0" y="355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28700" y="23368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159000"/>
            <a:ext cx="194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INNOVATION 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463800"/>
            <a:ext cx="198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轻量化BMC引擎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3600" y="3048003"/>
            <a:ext cx="6934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基于Z3 SMT求解器实现的有界模型检测引擎，通过约束优化和增量求解技术，验证效率相比传统方法提升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，内存占用降低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50%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63600" y="4013203"/>
            <a:ext cx="6832600" cy="1117600"/>
          </a:xfrm>
          <a:custGeom>
            <a:avLst/>
            <a:gdLst/>
            <a:ahLst/>
            <a:cxnLst/>
            <a:rect l="l" t="t" r="r" b="b"/>
            <a:pathLst>
              <a:path w="6832600" h="1117600">
                <a:moveTo>
                  <a:pt x="101601" y="0"/>
                </a:moveTo>
                <a:lnTo>
                  <a:pt x="6730999" y="0"/>
                </a:lnTo>
                <a:cubicBezTo>
                  <a:pt x="6787112" y="0"/>
                  <a:pt x="6832600" y="45488"/>
                  <a:pt x="6832600" y="101601"/>
                </a:cubicBezTo>
                <a:lnTo>
                  <a:pt x="6832600" y="1015999"/>
                </a:lnTo>
                <a:cubicBezTo>
                  <a:pt x="6832600" y="1072112"/>
                  <a:pt x="6787112" y="1117600"/>
                  <a:pt x="6730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71550" y="4216403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2350" y="4673603"/>
            <a:ext cx="320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86250" y="4216403"/>
            <a:ext cx="330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37050" y="4673603"/>
            <a:ext cx="320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内存降低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80400" y="1828800"/>
            <a:ext cx="7467600" cy="3606800"/>
          </a:xfrm>
          <a:custGeom>
            <a:avLst/>
            <a:gdLst/>
            <a:ahLst/>
            <a:cxnLst/>
            <a:rect l="l" t="t" r="r" b="b"/>
            <a:pathLst>
              <a:path w="7467600" h="3606800">
                <a:moveTo>
                  <a:pt x="50800" y="0"/>
                </a:moveTo>
                <a:lnTo>
                  <a:pt x="7315213" y="0"/>
                </a:lnTo>
                <a:cubicBezTo>
                  <a:pt x="7399374" y="0"/>
                  <a:pt x="7467600" y="68226"/>
                  <a:pt x="7467600" y="152387"/>
                </a:cubicBezTo>
                <a:lnTo>
                  <a:pt x="7467600" y="3454413"/>
                </a:lnTo>
                <a:cubicBezTo>
                  <a:pt x="7467600" y="3538574"/>
                  <a:pt x="7399374" y="3606800"/>
                  <a:pt x="7315213" y="3606800"/>
                </a:cubicBezTo>
                <a:lnTo>
                  <a:pt x="50800" y="3606800"/>
                </a:lnTo>
                <a:cubicBezTo>
                  <a:pt x="22763" y="3606800"/>
                  <a:pt x="0" y="3584037"/>
                  <a:pt x="0" y="355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8280400" y="1828800"/>
            <a:ext cx="50800" cy="3606800"/>
          </a:xfrm>
          <a:custGeom>
            <a:avLst/>
            <a:gdLst/>
            <a:ahLst/>
            <a:cxnLst/>
            <a:rect l="l" t="t" r="r" b="b"/>
            <a:pathLst>
              <a:path w="50800" h="3606800">
                <a:moveTo>
                  <a:pt x="50800" y="0"/>
                </a:moveTo>
                <a:lnTo>
                  <a:pt x="50800" y="0"/>
                </a:lnTo>
                <a:lnTo>
                  <a:pt x="50800" y="3606800"/>
                </a:lnTo>
                <a:lnTo>
                  <a:pt x="50800" y="3606800"/>
                </a:lnTo>
                <a:cubicBezTo>
                  <a:pt x="22763" y="3606800"/>
                  <a:pt x="0" y="3584037"/>
                  <a:pt x="0" y="355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Shape 16"/>
          <p:cNvSpPr/>
          <p:nvPr/>
        </p:nvSpPr>
        <p:spPr>
          <a:xfrm>
            <a:off x="8610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88138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47625"/>
                </a:moveTo>
                <a:cubicBezTo>
                  <a:pt x="0" y="31849"/>
                  <a:pt x="12799" y="19050"/>
                  <a:pt x="28575" y="19050"/>
                </a:cubicBezTo>
                <a:lnTo>
                  <a:pt x="85725" y="19050"/>
                </a:lnTo>
                <a:cubicBezTo>
                  <a:pt x="101501" y="19050"/>
                  <a:pt x="114300" y="31849"/>
                  <a:pt x="114300" y="47625"/>
                </a:cubicBezTo>
                <a:lnTo>
                  <a:pt x="114300" y="57150"/>
                </a:lnTo>
                <a:lnTo>
                  <a:pt x="190500" y="57150"/>
                </a:lnTo>
                <a:lnTo>
                  <a:pt x="190500" y="47625"/>
                </a:lnTo>
                <a:cubicBezTo>
                  <a:pt x="190500" y="31849"/>
                  <a:pt x="203299" y="19050"/>
                  <a:pt x="219075" y="19050"/>
                </a:cubicBezTo>
                <a:lnTo>
                  <a:pt x="276225" y="19050"/>
                </a:lnTo>
                <a:cubicBezTo>
                  <a:pt x="292001" y="19050"/>
                  <a:pt x="304800" y="31849"/>
                  <a:pt x="304800" y="47625"/>
                </a:cubicBezTo>
                <a:lnTo>
                  <a:pt x="304800" y="104775"/>
                </a:lnTo>
                <a:cubicBezTo>
                  <a:pt x="304800" y="120551"/>
                  <a:pt x="292001" y="133350"/>
                  <a:pt x="276225" y="133350"/>
                </a:cubicBezTo>
                <a:lnTo>
                  <a:pt x="219075" y="133350"/>
                </a:lnTo>
                <a:cubicBezTo>
                  <a:pt x="203299" y="133350"/>
                  <a:pt x="190500" y="120551"/>
                  <a:pt x="190500" y="104775"/>
                </a:cubicBezTo>
                <a:lnTo>
                  <a:pt x="190500" y="95250"/>
                </a:lnTo>
                <a:lnTo>
                  <a:pt x="114300" y="95250"/>
                </a:lnTo>
                <a:lnTo>
                  <a:pt x="114300" y="104775"/>
                </a:lnTo>
                <a:cubicBezTo>
                  <a:pt x="114300" y="109121"/>
                  <a:pt x="113288" y="113288"/>
                  <a:pt x="111562" y="116979"/>
                </a:cubicBezTo>
                <a:lnTo>
                  <a:pt x="152400" y="171450"/>
                </a:lnTo>
                <a:lnTo>
                  <a:pt x="200025" y="171450"/>
                </a:lnTo>
                <a:cubicBezTo>
                  <a:pt x="215801" y="171450"/>
                  <a:pt x="228600" y="184249"/>
                  <a:pt x="228600" y="200025"/>
                </a:cubicBezTo>
                <a:lnTo>
                  <a:pt x="228600" y="257175"/>
                </a:lnTo>
                <a:cubicBezTo>
                  <a:pt x="228600" y="272951"/>
                  <a:pt x="215801" y="285750"/>
                  <a:pt x="200025" y="285750"/>
                </a:cubicBezTo>
                <a:lnTo>
                  <a:pt x="142875" y="285750"/>
                </a:lnTo>
                <a:cubicBezTo>
                  <a:pt x="127099" y="285750"/>
                  <a:pt x="114300" y="272951"/>
                  <a:pt x="114300" y="257175"/>
                </a:cubicBezTo>
                <a:lnTo>
                  <a:pt x="114300" y="200025"/>
                </a:lnTo>
                <a:cubicBezTo>
                  <a:pt x="114300" y="195679"/>
                  <a:pt x="115312" y="191512"/>
                  <a:pt x="117038" y="187821"/>
                </a:cubicBezTo>
                <a:lnTo>
                  <a:pt x="76200" y="133350"/>
                </a:lnTo>
                <a:lnTo>
                  <a:pt x="28575" y="133350"/>
                </a:lnTo>
                <a:cubicBezTo>
                  <a:pt x="12799" y="133350"/>
                  <a:pt x="0" y="120551"/>
                  <a:pt x="0" y="104775"/>
                </a:cubicBezTo>
                <a:lnTo>
                  <a:pt x="0" y="4762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0" y="21590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INNOVATION 02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525000" y="2463800"/>
            <a:ext cx="19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协议状态机建模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10600" y="3048003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完整的RSSP-I/II协议状态机建模，覆盖连接建立、数据传输、超时重传、双通道冗余等全部功能，支持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6大类安全属性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的形式化验证。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10600" y="3911603"/>
            <a:ext cx="6832600" cy="1219200"/>
          </a:xfrm>
          <a:custGeom>
            <a:avLst/>
            <a:gdLst/>
            <a:ahLst/>
            <a:cxnLst/>
            <a:rect l="l" t="t" r="r" b="b"/>
            <a:pathLst>
              <a:path w="6832600" h="1219200">
                <a:moveTo>
                  <a:pt x="101596" y="0"/>
                </a:moveTo>
                <a:lnTo>
                  <a:pt x="6731004" y="0"/>
                </a:lnTo>
                <a:cubicBezTo>
                  <a:pt x="6787114" y="0"/>
                  <a:pt x="6832600" y="45486"/>
                  <a:pt x="6832600" y="101596"/>
                </a:cubicBezTo>
                <a:lnTo>
                  <a:pt x="6832600" y="1117604"/>
                </a:lnTo>
                <a:cubicBezTo>
                  <a:pt x="6832600" y="1173714"/>
                  <a:pt x="6787114" y="1219200"/>
                  <a:pt x="67310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813800" y="4114803"/>
            <a:ext cx="1371600" cy="355600"/>
          </a:xfrm>
          <a:custGeom>
            <a:avLst/>
            <a:gdLst/>
            <a:ahLst/>
            <a:cxnLst/>
            <a:rect l="l" t="t" r="r" b="b"/>
            <a:pathLst>
              <a:path w="1371600" h="355600">
                <a:moveTo>
                  <a:pt x="177800" y="0"/>
                </a:moveTo>
                <a:lnTo>
                  <a:pt x="1193800" y="0"/>
                </a:lnTo>
                <a:cubicBezTo>
                  <a:pt x="1291930" y="0"/>
                  <a:pt x="1371600" y="79670"/>
                  <a:pt x="1371600" y="177800"/>
                </a:cubicBezTo>
                <a:lnTo>
                  <a:pt x="1371600" y="177800"/>
                </a:lnTo>
                <a:cubicBezTo>
                  <a:pt x="1371600" y="275930"/>
                  <a:pt x="1291930" y="355600"/>
                  <a:pt x="1193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813800" y="4114803"/>
            <a:ext cx="1460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序列号单调性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287061" y="4114803"/>
            <a:ext cx="838200" cy="355600"/>
          </a:xfrm>
          <a:custGeom>
            <a:avLst/>
            <a:gdLst/>
            <a:ahLst/>
            <a:cxnLst/>
            <a:rect l="l" t="t" r="r" b="b"/>
            <a:pathLst>
              <a:path w="838200" h="355600">
                <a:moveTo>
                  <a:pt x="177800" y="0"/>
                </a:moveTo>
                <a:lnTo>
                  <a:pt x="660400" y="0"/>
                </a:lnTo>
                <a:cubicBezTo>
                  <a:pt x="758530" y="0"/>
                  <a:pt x="838200" y="79670"/>
                  <a:pt x="838200" y="177800"/>
                </a:cubicBezTo>
                <a:lnTo>
                  <a:pt x="838200" y="177800"/>
                </a:lnTo>
                <a:cubicBezTo>
                  <a:pt x="838200" y="275930"/>
                  <a:pt x="758530" y="355600"/>
                  <a:pt x="6604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287061" y="4114803"/>
            <a:ext cx="9271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防重放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226922" y="4114803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226922" y="4114803"/>
            <a:ext cx="1282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窗口不变式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522384" y="4114803"/>
            <a:ext cx="1371600" cy="355600"/>
          </a:xfrm>
          <a:custGeom>
            <a:avLst/>
            <a:gdLst/>
            <a:ahLst/>
            <a:cxnLst/>
            <a:rect l="l" t="t" r="r" b="b"/>
            <a:pathLst>
              <a:path w="1371600" h="355600">
                <a:moveTo>
                  <a:pt x="177800" y="0"/>
                </a:moveTo>
                <a:lnTo>
                  <a:pt x="1193800" y="0"/>
                </a:lnTo>
                <a:cubicBezTo>
                  <a:pt x="1291930" y="0"/>
                  <a:pt x="1371600" y="79670"/>
                  <a:pt x="1371600" y="177800"/>
                </a:cubicBezTo>
                <a:lnTo>
                  <a:pt x="1371600" y="177800"/>
                </a:lnTo>
                <a:cubicBezTo>
                  <a:pt x="1371600" y="275930"/>
                  <a:pt x="1291930" y="355600"/>
                  <a:pt x="1193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522384" y="4114803"/>
            <a:ext cx="1460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校验和有效性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813800" y="4572003"/>
            <a:ext cx="1371600" cy="355600"/>
          </a:xfrm>
          <a:custGeom>
            <a:avLst/>
            <a:gdLst/>
            <a:ahLst/>
            <a:cxnLst/>
            <a:rect l="l" t="t" r="r" b="b"/>
            <a:pathLst>
              <a:path w="1371600" h="355600">
                <a:moveTo>
                  <a:pt x="177800" y="0"/>
                </a:moveTo>
                <a:lnTo>
                  <a:pt x="1193800" y="0"/>
                </a:lnTo>
                <a:cubicBezTo>
                  <a:pt x="1291930" y="0"/>
                  <a:pt x="1371600" y="79670"/>
                  <a:pt x="1371600" y="177800"/>
                </a:cubicBezTo>
                <a:lnTo>
                  <a:pt x="1371600" y="177800"/>
                </a:lnTo>
                <a:cubicBezTo>
                  <a:pt x="1371600" y="275930"/>
                  <a:pt x="1291930" y="355600"/>
                  <a:pt x="1193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8813800" y="4572003"/>
            <a:ext cx="1460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双通道一致性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0287061" y="4572003"/>
            <a:ext cx="1371600" cy="355600"/>
          </a:xfrm>
          <a:custGeom>
            <a:avLst/>
            <a:gdLst/>
            <a:ahLst/>
            <a:cxnLst/>
            <a:rect l="l" t="t" r="r" b="b"/>
            <a:pathLst>
              <a:path w="1371600" h="355600">
                <a:moveTo>
                  <a:pt x="177800" y="0"/>
                </a:moveTo>
                <a:lnTo>
                  <a:pt x="1193800" y="0"/>
                </a:lnTo>
                <a:cubicBezTo>
                  <a:pt x="1291930" y="0"/>
                  <a:pt x="1371600" y="79670"/>
                  <a:pt x="1371600" y="177800"/>
                </a:cubicBezTo>
                <a:lnTo>
                  <a:pt x="1371600" y="177800"/>
                </a:lnTo>
                <a:cubicBezTo>
                  <a:pt x="1371600" y="275930"/>
                  <a:pt x="1291930" y="355600"/>
                  <a:pt x="1193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0287061" y="4572003"/>
            <a:ext cx="1460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安全码有效性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33400" y="5689603"/>
            <a:ext cx="7467600" cy="3352800"/>
          </a:xfrm>
          <a:custGeom>
            <a:avLst/>
            <a:gdLst/>
            <a:ahLst/>
            <a:cxnLst/>
            <a:rect l="l" t="t" r="r" b="b"/>
            <a:pathLst>
              <a:path w="7467600" h="3352800">
                <a:moveTo>
                  <a:pt x="50800" y="0"/>
                </a:moveTo>
                <a:lnTo>
                  <a:pt x="7315215" y="0"/>
                </a:lnTo>
                <a:cubicBezTo>
                  <a:pt x="7399375" y="0"/>
                  <a:pt x="7467600" y="68225"/>
                  <a:pt x="7467600" y="152385"/>
                </a:cubicBezTo>
                <a:lnTo>
                  <a:pt x="7467600" y="3200415"/>
                </a:lnTo>
                <a:cubicBezTo>
                  <a:pt x="7467600" y="3284575"/>
                  <a:pt x="7399375" y="3352800"/>
                  <a:pt x="73152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7" name="Shape 35"/>
          <p:cNvSpPr/>
          <p:nvPr/>
        </p:nvSpPr>
        <p:spPr>
          <a:xfrm>
            <a:off x="533400" y="5689603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Shape 36"/>
          <p:cNvSpPr/>
          <p:nvPr/>
        </p:nvSpPr>
        <p:spPr>
          <a:xfrm>
            <a:off x="863600" y="599440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66800" y="619760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Text 38"/>
          <p:cNvSpPr/>
          <p:nvPr/>
        </p:nvSpPr>
        <p:spPr>
          <a:xfrm>
            <a:off x="1778000" y="6019803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INNOVATION 03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778000" y="6324603"/>
            <a:ext cx="232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RISC-V仿真与PMP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3600" y="6908803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完整的RV32I指令集模拟器，支持PMP(物理内存保护)权限检查，可模拟国产RISC-V芯片的执行环境，验证代码在目标硬件上的安全运行。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3600" y="7772403"/>
            <a:ext cx="6832600" cy="965200"/>
          </a:xfrm>
          <a:custGeom>
            <a:avLst/>
            <a:gdLst/>
            <a:ahLst/>
            <a:cxnLst/>
            <a:rect l="l" t="t" r="r" b="b"/>
            <a:pathLst>
              <a:path w="6832600" h="965200">
                <a:moveTo>
                  <a:pt x="101597" y="0"/>
                </a:moveTo>
                <a:lnTo>
                  <a:pt x="6731003" y="0"/>
                </a:lnTo>
                <a:cubicBezTo>
                  <a:pt x="6787113" y="0"/>
                  <a:pt x="6832600" y="45487"/>
                  <a:pt x="6832600" y="101597"/>
                </a:cubicBezTo>
                <a:lnTo>
                  <a:pt x="6832600" y="863603"/>
                </a:lnTo>
                <a:cubicBezTo>
                  <a:pt x="6832600" y="919713"/>
                  <a:pt x="6787113" y="965200"/>
                  <a:pt x="67310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03300" y="7975603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RV32I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8700" y="8331203"/>
            <a:ext cx="212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完整指令集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3196126" y="7975603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PMP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3221526" y="8331203"/>
            <a:ext cx="212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权限检查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89013" y="7975603"/>
            <a:ext cx="217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8区域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414413" y="8331203"/>
            <a:ext cx="2120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内存保护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280400" y="5689603"/>
            <a:ext cx="7467600" cy="3352800"/>
          </a:xfrm>
          <a:custGeom>
            <a:avLst/>
            <a:gdLst/>
            <a:ahLst/>
            <a:cxnLst/>
            <a:rect l="l" t="t" r="r" b="b"/>
            <a:pathLst>
              <a:path w="7467600" h="3352800">
                <a:moveTo>
                  <a:pt x="50800" y="0"/>
                </a:moveTo>
                <a:lnTo>
                  <a:pt x="7315215" y="0"/>
                </a:lnTo>
                <a:cubicBezTo>
                  <a:pt x="7399375" y="0"/>
                  <a:pt x="7467600" y="68225"/>
                  <a:pt x="7467600" y="152385"/>
                </a:cubicBezTo>
                <a:lnTo>
                  <a:pt x="7467600" y="3200415"/>
                </a:lnTo>
                <a:cubicBezTo>
                  <a:pt x="7467600" y="3284575"/>
                  <a:pt x="7399375" y="3352800"/>
                  <a:pt x="7315215" y="3352800"/>
                </a:cubicBez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1" name="Shape 49"/>
          <p:cNvSpPr/>
          <p:nvPr/>
        </p:nvSpPr>
        <p:spPr>
          <a:xfrm>
            <a:off x="8280400" y="5689603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5080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50800" y="3352800"/>
                </a:lnTo>
                <a:cubicBezTo>
                  <a:pt x="22763" y="3352800"/>
                  <a:pt x="0" y="3330037"/>
                  <a:pt x="0" y="330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2" name="Shape 50"/>
          <p:cNvSpPr/>
          <p:nvPr/>
        </p:nvSpPr>
        <p:spPr>
          <a:xfrm>
            <a:off x="8610600" y="5994403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94750" y="6197603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14300" y="57150"/>
                </a:moveTo>
                <a:cubicBezTo>
                  <a:pt x="114300" y="25598"/>
                  <a:pt x="139898" y="0"/>
                  <a:pt x="171450" y="0"/>
                </a:cubicBezTo>
                <a:cubicBezTo>
                  <a:pt x="203002" y="0"/>
                  <a:pt x="228600" y="25598"/>
                  <a:pt x="228600" y="57150"/>
                </a:cubicBezTo>
                <a:lnTo>
                  <a:pt x="228600" y="59293"/>
                </a:lnTo>
                <a:cubicBezTo>
                  <a:pt x="228600" y="68640"/>
                  <a:pt x="221040" y="76200"/>
                  <a:pt x="211693" y="76200"/>
                </a:cubicBezTo>
                <a:lnTo>
                  <a:pt x="131266" y="76200"/>
                </a:lnTo>
                <a:cubicBezTo>
                  <a:pt x="121920" y="76200"/>
                  <a:pt x="114360" y="68640"/>
                  <a:pt x="114360" y="59293"/>
                </a:cubicBezTo>
                <a:lnTo>
                  <a:pt x="114360" y="57150"/>
                </a:lnTo>
                <a:close/>
                <a:moveTo>
                  <a:pt x="320040" y="64770"/>
                </a:moveTo>
                <a:cubicBezTo>
                  <a:pt x="326350" y="73164"/>
                  <a:pt x="324624" y="85130"/>
                  <a:pt x="316230" y="91440"/>
                </a:cubicBezTo>
                <a:lnTo>
                  <a:pt x="258008" y="135076"/>
                </a:lnTo>
                <a:cubicBezTo>
                  <a:pt x="261164" y="140375"/>
                  <a:pt x="263545" y="146209"/>
                  <a:pt x="265033" y="152400"/>
                </a:cubicBezTo>
                <a:lnTo>
                  <a:pt x="323850" y="152400"/>
                </a:lnTo>
                <a:cubicBezTo>
                  <a:pt x="334387" y="152400"/>
                  <a:pt x="342900" y="160913"/>
                  <a:pt x="342900" y="171450"/>
                </a:cubicBezTo>
                <a:cubicBezTo>
                  <a:pt x="342900" y="181987"/>
                  <a:pt x="334387" y="190500"/>
                  <a:pt x="323850" y="190500"/>
                </a:cubicBezTo>
                <a:lnTo>
                  <a:pt x="266700" y="190500"/>
                </a:lnTo>
                <a:lnTo>
                  <a:pt x="266700" y="209550"/>
                </a:lnTo>
                <a:cubicBezTo>
                  <a:pt x="266700" y="211098"/>
                  <a:pt x="266640" y="212705"/>
                  <a:pt x="266581" y="214253"/>
                </a:cubicBezTo>
                <a:lnTo>
                  <a:pt x="316230" y="251460"/>
                </a:lnTo>
                <a:cubicBezTo>
                  <a:pt x="324624" y="257770"/>
                  <a:pt x="326350" y="269736"/>
                  <a:pt x="320040" y="278130"/>
                </a:cubicBezTo>
                <a:cubicBezTo>
                  <a:pt x="313730" y="286524"/>
                  <a:pt x="301764" y="288250"/>
                  <a:pt x="293370" y="281940"/>
                </a:cubicBezTo>
                <a:lnTo>
                  <a:pt x="255806" y="253782"/>
                </a:lnTo>
                <a:cubicBezTo>
                  <a:pt x="241995" y="280095"/>
                  <a:pt x="216218" y="299145"/>
                  <a:pt x="185738" y="303728"/>
                </a:cubicBezTo>
                <a:lnTo>
                  <a:pt x="185738" y="166688"/>
                </a:lnTo>
                <a:cubicBezTo>
                  <a:pt x="185738" y="158770"/>
                  <a:pt x="179368" y="152400"/>
                  <a:pt x="171450" y="152400"/>
                </a:cubicBezTo>
                <a:cubicBezTo>
                  <a:pt x="163532" y="152400"/>
                  <a:pt x="157163" y="158770"/>
                  <a:pt x="157163" y="166688"/>
                </a:cubicBezTo>
                <a:lnTo>
                  <a:pt x="157163" y="303728"/>
                </a:lnTo>
                <a:cubicBezTo>
                  <a:pt x="126683" y="299145"/>
                  <a:pt x="100905" y="280095"/>
                  <a:pt x="87094" y="253782"/>
                </a:cubicBezTo>
                <a:lnTo>
                  <a:pt x="49530" y="281940"/>
                </a:lnTo>
                <a:cubicBezTo>
                  <a:pt x="41136" y="288250"/>
                  <a:pt x="29170" y="286524"/>
                  <a:pt x="22860" y="278130"/>
                </a:cubicBezTo>
                <a:cubicBezTo>
                  <a:pt x="16550" y="269736"/>
                  <a:pt x="18276" y="257770"/>
                  <a:pt x="26670" y="251460"/>
                </a:cubicBezTo>
                <a:lnTo>
                  <a:pt x="76319" y="214253"/>
                </a:lnTo>
                <a:cubicBezTo>
                  <a:pt x="76260" y="212705"/>
                  <a:pt x="76200" y="211157"/>
                  <a:pt x="76200" y="209550"/>
                </a:cubicBezTo>
                <a:lnTo>
                  <a:pt x="76200" y="190500"/>
                </a:lnTo>
                <a:lnTo>
                  <a:pt x="19050" y="190500"/>
                </a:lnTo>
                <a:cubicBezTo>
                  <a:pt x="8513" y="190500"/>
                  <a:pt x="0" y="181987"/>
                  <a:pt x="0" y="171450"/>
                </a:cubicBezTo>
                <a:cubicBezTo>
                  <a:pt x="0" y="160913"/>
                  <a:pt x="8513" y="152400"/>
                  <a:pt x="19050" y="152400"/>
                </a:cubicBezTo>
                <a:lnTo>
                  <a:pt x="77867" y="152400"/>
                </a:lnTo>
                <a:cubicBezTo>
                  <a:pt x="79355" y="146209"/>
                  <a:pt x="81736" y="140375"/>
                  <a:pt x="84892" y="135076"/>
                </a:cubicBezTo>
                <a:lnTo>
                  <a:pt x="26670" y="91440"/>
                </a:lnTo>
                <a:cubicBezTo>
                  <a:pt x="18276" y="85130"/>
                  <a:pt x="16550" y="73164"/>
                  <a:pt x="22860" y="64770"/>
                </a:cubicBezTo>
                <a:cubicBezTo>
                  <a:pt x="29170" y="56376"/>
                  <a:pt x="41136" y="54650"/>
                  <a:pt x="49530" y="60960"/>
                </a:cubicBezTo>
                <a:lnTo>
                  <a:pt x="114300" y="109537"/>
                </a:lnTo>
                <a:cubicBezTo>
                  <a:pt x="121622" y="106501"/>
                  <a:pt x="129659" y="104775"/>
                  <a:pt x="138113" y="104775"/>
                </a:cubicBezTo>
                <a:lnTo>
                  <a:pt x="204787" y="104775"/>
                </a:lnTo>
                <a:cubicBezTo>
                  <a:pt x="213241" y="104775"/>
                  <a:pt x="221278" y="106442"/>
                  <a:pt x="228600" y="109537"/>
                </a:cubicBezTo>
                <a:lnTo>
                  <a:pt x="293370" y="60960"/>
                </a:lnTo>
                <a:cubicBezTo>
                  <a:pt x="301764" y="54650"/>
                  <a:pt x="313730" y="56376"/>
                  <a:pt x="320040" y="6477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4" name="Text 52"/>
          <p:cNvSpPr/>
          <p:nvPr/>
        </p:nvSpPr>
        <p:spPr>
          <a:xfrm>
            <a:off x="9525000" y="6019803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INNOVATION 04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525000" y="6324603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故障注入框架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10600" y="6908803"/>
            <a:ext cx="6934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基于Asyncio的并发仿真框架，支持重放攻击、序列号错误、校验和错误、双通道故障等多种攻击场景的模拟，全面验证协议的容错能力。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610600" y="7975603"/>
            <a:ext cx="6832600" cy="762000"/>
          </a:xfrm>
          <a:custGeom>
            <a:avLst/>
            <a:gdLst/>
            <a:ahLst/>
            <a:cxnLst/>
            <a:rect l="l" t="t" r="r" b="b"/>
            <a:pathLst>
              <a:path w="6832600" h="762000">
                <a:moveTo>
                  <a:pt x="101597" y="0"/>
                </a:moveTo>
                <a:lnTo>
                  <a:pt x="6731003" y="0"/>
                </a:lnTo>
                <a:cubicBezTo>
                  <a:pt x="6787113" y="0"/>
                  <a:pt x="6832600" y="45487"/>
                  <a:pt x="6832600" y="101597"/>
                </a:cubicBezTo>
                <a:lnTo>
                  <a:pt x="6832600" y="660403"/>
                </a:lnTo>
                <a:cubicBezTo>
                  <a:pt x="6832600" y="716513"/>
                  <a:pt x="6787113" y="762000"/>
                  <a:pt x="67310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813800" y="8178803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8813800" y="8178803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重放攻击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931461" y="8178803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931461" y="8178803"/>
            <a:ext cx="1282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序列号错误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1226922" y="8178803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1226922" y="8178803"/>
            <a:ext cx="1282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校验和错误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2522384" y="8178803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177800" y="0"/>
                </a:moveTo>
                <a:lnTo>
                  <a:pt x="1016000" y="0"/>
                </a:lnTo>
                <a:cubicBezTo>
                  <a:pt x="1114130" y="0"/>
                  <a:pt x="1193800" y="79670"/>
                  <a:pt x="1193800" y="177800"/>
                </a:cubicBezTo>
                <a:lnTo>
                  <a:pt x="1193800" y="177800"/>
                </a:lnTo>
                <a:cubicBezTo>
                  <a:pt x="1193800" y="275930"/>
                  <a:pt x="1114130" y="355600"/>
                  <a:pt x="1016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12522384" y="8178803"/>
            <a:ext cx="1282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双通道故障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技术架构：分层设计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9931400" cy="2108200"/>
          </a:xfrm>
          <a:custGeom>
            <a:avLst/>
            <a:gdLst/>
            <a:ahLst/>
            <a:cxnLst/>
            <a:rect l="l" t="t" r="r" b="b"/>
            <a:pathLst>
              <a:path w="9931400" h="2108200">
                <a:moveTo>
                  <a:pt x="50800" y="0"/>
                </a:moveTo>
                <a:lnTo>
                  <a:pt x="9778998" y="0"/>
                </a:lnTo>
                <a:cubicBezTo>
                  <a:pt x="9863167" y="0"/>
                  <a:pt x="9931400" y="68233"/>
                  <a:pt x="9931400" y="152402"/>
                </a:cubicBezTo>
                <a:lnTo>
                  <a:pt x="9931400" y="1955798"/>
                </a:lnTo>
                <a:cubicBezTo>
                  <a:pt x="9931400" y="2039967"/>
                  <a:pt x="9863167" y="2108200"/>
                  <a:pt x="9778998" y="2108200"/>
                </a:cubicBezTo>
                <a:lnTo>
                  <a:pt x="50800" y="2108200"/>
                </a:lnTo>
                <a:cubicBezTo>
                  <a:pt x="22744" y="2108200"/>
                  <a:pt x="0" y="2085456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08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65322" y="22098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74800" y="2209800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844800"/>
            <a:ext cx="949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基于PyQt6的图形用户界面，提供验证场景配置、实时结果显示、日志分析等功能，降低用户使用门槛。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327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12800" y="3327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场景配置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30461" y="3327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930461" y="3327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结果展示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122" y="3327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48122" y="3327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日志分析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140197"/>
            <a:ext cx="9931400" cy="2108200"/>
          </a:xfrm>
          <a:custGeom>
            <a:avLst/>
            <a:gdLst/>
            <a:ahLst/>
            <a:cxnLst/>
            <a:rect l="l" t="t" r="r" b="b"/>
            <a:pathLst>
              <a:path w="9931400" h="2108200">
                <a:moveTo>
                  <a:pt x="50800" y="0"/>
                </a:moveTo>
                <a:lnTo>
                  <a:pt x="9778998" y="0"/>
                </a:lnTo>
                <a:cubicBezTo>
                  <a:pt x="9863167" y="0"/>
                  <a:pt x="9931400" y="68233"/>
                  <a:pt x="9931400" y="152402"/>
                </a:cubicBezTo>
                <a:lnTo>
                  <a:pt x="9931400" y="1955798"/>
                </a:lnTo>
                <a:cubicBezTo>
                  <a:pt x="9931400" y="2039967"/>
                  <a:pt x="9863167" y="2108200"/>
                  <a:pt x="9778998" y="2108200"/>
                </a:cubicBezTo>
                <a:lnTo>
                  <a:pt x="50800" y="2108200"/>
                </a:lnTo>
                <a:cubicBezTo>
                  <a:pt x="22744" y="2108200"/>
                  <a:pt x="0" y="2085456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533400" y="4140197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800" y="439419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966055" y="4521197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74800" y="4521197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5156197"/>
            <a:ext cx="949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完整的RSSP-I/II协议状态机实现，支持连接管理、数据传输、超时重传、双通道冗余等核心功能。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5638797"/>
            <a:ext cx="863600" cy="355600"/>
          </a:xfrm>
          <a:custGeom>
            <a:avLst/>
            <a:gdLst/>
            <a:ahLst/>
            <a:cxnLst/>
            <a:rect l="l" t="t" r="r" b="b"/>
            <a:pathLst>
              <a:path w="863600" h="355600">
                <a:moveTo>
                  <a:pt x="50801" y="0"/>
                </a:moveTo>
                <a:lnTo>
                  <a:pt x="812799" y="0"/>
                </a:lnTo>
                <a:cubicBezTo>
                  <a:pt x="840856" y="0"/>
                  <a:pt x="863600" y="22744"/>
                  <a:pt x="863600" y="50801"/>
                </a:cubicBezTo>
                <a:lnTo>
                  <a:pt x="863600" y="304799"/>
                </a:lnTo>
                <a:cubicBezTo>
                  <a:pt x="863600" y="332856"/>
                  <a:pt x="840856" y="355600"/>
                  <a:pt x="812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12800" y="5638797"/>
            <a:ext cx="952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RSSP-I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778794" y="5638797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778794" y="5638797"/>
            <a:ext cx="1003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RSSP-II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788505" y="5638797"/>
            <a:ext cx="838200" cy="355600"/>
          </a:xfrm>
          <a:custGeom>
            <a:avLst/>
            <a:gdLst/>
            <a:ahLst/>
            <a:cxnLst/>
            <a:rect l="l" t="t" r="r" b="b"/>
            <a:pathLst>
              <a:path w="838200" h="355600">
                <a:moveTo>
                  <a:pt x="50801" y="0"/>
                </a:moveTo>
                <a:lnTo>
                  <a:pt x="787399" y="0"/>
                </a:lnTo>
                <a:cubicBezTo>
                  <a:pt x="815456" y="0"/>
                  <a:pt x="838200" y="22744"/>
                  <a:pt x="838200" y="50801"/>
                </a:cubicBezTo>
                <a:lnTo>
                  <a:pt x="838200" y="304799"/>
                </a:lnTo>
                <a:cubicBezTo>
                  <a:pt x="838200" y="332856"/>
                  <a:pt x="815456" y="355600"/>
                  <a:pt x="787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788505" y="5638797"/>
            <a:ext cx="9271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6451597"/>
            <a:ext cx="9931400" cy="2108200"/>
          </a:xfrm>
          <a:custGeom>
            <a:avLst/>
            <a:gdLst/>
            <a:ahLst/>
            <a:cxnLst/>
            <a:rect l="l" t="t" r="r" b="b"/>
            <a:pathLst>
              <a:path w="9931400" h="2108200">
                <a:moveTo>
                  <a:pt x="50800" y="0"/>
                </a:moveTo>
                <a:lnTo>
                  <a:pt x="9778998" y="0"/>
                </a:lnTo>
                <a:cubicBezTo>
                  <a:pt x="9863167" y="0"/>
                  <a:pt x="9931400" y="68233"/>
                  <a:pt x="9931400" y="152402"/>
                </a:cubicBezTo>
                <a:lnTo>
                  <a:pt x="9931400" y="1955798"/>
                </a:lnTo>
                <a:cubicBezTo>
                  <a:pt x="9931400" y="2039967"/>
                  <a:pt x="9863167" y="2108200"/>
                  <a:pt x="9778998" y="2108200"/>
                </a:cubicBezTo>
                <a:lnTo>
                  <a:pt x="50800" y="2108200"/>
                </a:lnTo>
                <a:cubicBezTo>
                  <a:pt x="22744" y="2108200"/>
                  <a:pt x="0" y="2085456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533400" y="6451597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0" name="Shape 28"/>
          <p:cNvSpPr/>
          <p:nvPr/>
        </p:nvSpPr>
        <p:spPr>
          <a:xfrm>
            <a:off x="812800" y="670559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68497" y="6832597"/>
            <a:ext cx="41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74800" y="6832597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仿真层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2800" y="7467597"/>
            <a:ext cx="949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 RV32I指令集模拟器和PMP权限检查，模拟国产芯片执行环境，验证代码安全性。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" y="7950197"/>
            <a:ext cx="787400" cy="355600"/>
          </a:xfrm>
          <a:custGeom>
            <a:avLst/>
            <a:gdLst/>
            <a:ahLst/>
            <a:cxnLst/>
            <a:rect l="l" t="t" r="r" b="b"/>
            <a:pathLst>
              <a:path w="787400" h="355600">
                <a:moveTo>
                  <a:pt x="50801" y="0"/>
                </a:moveTo>
                <a:lnTo>
                  <a:pt x="736599" y="0"/>
                </a:lnTo>
                <a:cubicBezTo>
                  <a:pt x="764656" y="0"/>
                  <a:pt x="787400" y="22744"/>
                  <a:pt x="787400" y="50801"/>
                </a:cubicBezTo>
                <a:lnTo>
                  <a:pt x="787400" y="304799"/>
                </a:lnTo>
                <a:cubicBezTo>
                  <a:pt x="787400" y="332856"/>
                  <a:pt x="764656" y="355600"/>
                  <a:pt x="736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812800" y="7950197"/>
            <a:ext cx="876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RV32I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700884" y="7950197"/>
            <a:ext cx="685800" cy="355600"/>
          </a:xfrm>
          <a:custGeom>
            <a:avLst/>
            <a:gdLst/>
            <a:ahLst/>
            <a:cxnLst/>
            <a:rect l="l" t="t" r="r" b="b"/>
            <a:pathLst>
              <a:path w="685800" h="355600">
                <a:moveTo>
                  <a:pt x="50801" y="0"/>
                </a:moveTo>
                <a:lnTo>
                  <a:pt x="634999" y="0"/>
                </a:lnTo>
                <a:cubicBezTo>
                  <a:pt x="663056" y="0"/>
                  <a:pt x="685800" y="22744"/>
                  <a:pt x="685800" y="50801"/>
                </a:cubicBezTo>
                <a:lnTo>
                  <a:pt x="685800" y="304799"/>
                </a:lnTo>
                <a:cubicBezTo>
                  <a:pt x="685800" y="332856"/>
                  <a:pt x="663056" y="355600"/>
                  <a:pt x="634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700884" y="7950197"/>
            <a:ext cx="774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PMP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2485659" y="7950197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485659" y="7950197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内存管理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33400" y="8762997"/>
            <a:ext cx="9931400" cy="2108200"/>
          </a:xfrm>
          <a:custGeom>
            <a:avLst/>
            <a:gdLst/>
            <a:ahLst/>
            <a:cxnLst/>
            <a:rect l="l" t="t" r="r" b="b"/>
            <a:pathLst>
              <a:path w="9931400" h="2108200">
                <a:moveTo>
                  <a:pt x="50800" y="0"/>
                </a:moveTo>
                <a:lnTo>
                  <a:pt x="9778998" y="0"/>
                </a:lnTo>
                <a:cubicBezTo>
                  <a:pt x="9863167" y="0"/>
                  <a:pt x="9931400" y="68233"/>
                  <a:pt x="9931400" y="152402"/>
                </a:cubicBezTo>
                <a:lnTo>
                  <a:pt x="9931400" y="1955798"/>
                </a:lnTo>
                <a:cubicBezTo>
                  <a:pt x="9931400" y="2039967"/>
                  <a:pt x="9863167" y="2108200"/>
                  <a:pt x="9778998" y="2108200"/>
                </a:cubicBezTo>
                <a:lnTo>
                  <a:pt x="50800" y="2108200"/>
                </a:lnTo>
                <a:cubicBezTo>
                  <a:pt x="22744" y="2108200"/>
                  <a:pt x="0" y="2085456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533400" y="8762997"/>
            <a:ext cx="50800" cy="2108200"/>
          </a:xfrm>
          <a:custGeom>
            <a:avLst/>
            <a:gdLst/>
            <a:ahLst/>
            <a:cxnLst/>
            <a:rect l="l" t="t" r="r" b="b"/>
            <a:pathLst>
              <a:path w="50800" h="2108200">
                <a:moveTo>
                  <a:pt x="50800" y="0"/>
                </a:moveTo>
                <a:lnTo>
                  <a:pt x="50800" y="0"/>
                </a:lnTo>
                <a:lnTo>
                  <a:pt x="50800" y="2108200"/>
                </a:lnTo>
                <a:lnTo>
                  <a:pt x="50800" y="2108200"/>
                </a:lnTo>
                <a:cubicBezTo>
                  <a:pt x="22763" y="2108200"/>
                  <a:pt x="0" y="2085437"/>
                  <a:pt x="0" y="2057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Shape 40"/>
          <p:cNvSpPr/>
          <p:nvPr/>
        </p:nvSpPr>
        <p:spPr>
          <a:xfrm>
            <a:off x="812800" y="9016997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986998" y="9143997"/>
            <a:ext cx="39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574800" y="9143997"/>
            <a:ext cx="88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核心层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12800" y="9778997"/>
            <a:ext cx="9499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基于Z3 SMT求解器的BMC引擎，实现状态机编码、属性验证、反例生成等核心功能。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2800" y="10261597"/>
            <a:ext cx="1079500" cy="355600"/>
          </a:xfrm>
          <a:custGeom>
            <a:avLst/>
            <a:gdLst/>
            <a:ahLst/>
            <a:cxnLst/>
            <a:rect l="l" t="t" r="r" b="b"/>
            <a:pathLst>
              <a:path w="1079500" h="355600">
                <a:moveTo>
                  <a:pt x="50801" y="0"/>
                </a:moveTo>
                <a:lnTo>
                  <a:pt x="1028699" y="0"/>
                </a:lnTo>
                <a:cubicBezTo>
                  <a:pt x="1056756" y="0"/>
                  <a:pt x="1079500" y="22744"/>
                  <a:pt x="1079500" y="50801"/>
                </a:cubicBezTo>
                <a:lnTo>
                  <a:pt x="1079500" y="304799"/>
                </a:lnTo>
                <a:cubicBezTo>
                  <a:pt x="1079500" y="332856"/>
                  <a:pt x="1056756" y="355600"/>
                  <a:pt x="10286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12800" y="10261597"/>
            <a:ext cx="1168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Z3 Solver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987855" y="10261597"/>
            <a:ext cx="698500" cy="355600"/>
          </a:xfrm>
          <a:custGeom>
            <a:avLst/>
            <a:gdLst/>
            <a:ahLst/>
            <a:cxnLst/>
            <a:rect l="l" t="t" r="r" b="b"/>
            <a:pathLst>
              <a:path w="698500" h="355600">
                <a:moveTo>
                  <a:pt x="50801" y="0"/>
                </a:moveTo>
                <a:lnTo>
                  <a:pt x="647699" y="0"/>
                </a:lnTo>
                <a:cubicBezTo>
                  <a:pt x="675756" y="0"/>
                  <a:pt x="698500" y="22744"/>
                  <a:pt x="698500" y="50801"/>
                </a:cubicBezTo>
                <a:lnTo>
                  <a:pt x="698500" y="304799"/>
                </a:lnTo>
                <a:cubicBezTo>
                  <a:pt x="698500" y="332856"/>
                  <a:pt x="675756" y="355600"/>
                  <a:pt x="6476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1987855" y="10261597"/>
            <a:ext cx="787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BMC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2791314" y="10261597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2791314" y="10261597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约束求解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769601" y="1828800"/>
            <a:ext cx="4978400" cy="6934200"/>
          </a:xfrm>
          <a:custGeom>
            <a:avLst/>
            <a:gdLst/>
            <a:ahLst/>
            <a:cxnLst/>
            <a:rect l="l" t="t" r="r" b="b"/>
            <a:pathLst>
              <a:path w="4978400" h="6934200">
                <a:moveTo>
                  <a:pt x="152389" y="0"/>
                </a:moveTo>
                <a:lnTo>
                  <a:pt x="4826011" y="0"/>
                </a:lnTo>
                <a:cubicBezTo>
                  <a:pt x="4910173" y="0"/>
                  <a:pt x="4978400" y="68227"/>
                  <a:pt x="4978400" y="152389"/>
                </a:cubicBezTo>
                <a:lnTo>
                  <a:pt x="4978400" y="6781811"/>
                </a:lnTo>
                <a:cubicBezTo>
                  <a:pt x="4978400" y="6865973"/>
                  <a:pt x="4910173" y="6934200"/>
                  <a:pt x="4826011" y="6934200"/>
                </a:cubicBezTo>
                <a:lnTo>
                  <a:pt x="152389" y="6934200"/>
                </a:lnTo>
                <a:cubicBezTo>
                  <a:pt x="68227" y="6934200"/>
                  <a:pt x="0" y="6865973"/>
                  <a:pt x="0" y="6781811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074401" y="2133600"/>
            <a:ext cx="449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架构优势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1093451" y="27432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5" name="Text 53"/>
          <p:cNvSpPr/>
          <p:nvPr/>
        </p:nvSpPr>
        <p:spPr>
          <a:xfrm>
            <a:off x="11518778" y="2692400"/>
            <a:ext cx="4038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分层解耦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1518778" y="3098800"/>
            <a:ext cx="40259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各层通过标准化接口通信，便于独立开发和维护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1122026" y="3962397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83344" y="15875"/>
                </a:moveTo>
                <a:lnTo>
                  <a:pt x="11906" y="15875"/>
                </a:lnTo>
                <a:cubicBezTo>
                  <a:pt x="5308" y="15875"/>
                  <a:pt x="0" y="21183"/>
                  <a:pt x="0" y="27781"/>
                </a:cubicBezTo>
                <a:lnTo>
                  <a:pt x="0" y="99219"/>
                </a:lnTo>
                <a:cubicBezTo>
                  <a:pt x="0" y="104031"/>
                  <a:pt x="2877" y="108396"/>
                  <a:pt x="7342" y="110232"/>
                </a:cubicBezTo>
                <a:cubicBezTo>
                  <a:pt x="11807" y="112068"/>
                  <a:pt x="16917" y="111026"/>
                  <a:pt x="20340" y="107652"/>
                </a:cubicBezTo>
                <a:lnTo>
                  <a:pt x="40184" y="87809"/>
                </a:lnTo>
                <a:lnTo>
                  <a:pt x="79375" y="127000"/>
                </a:lnTo>
                <a:lnTo>
                  <a:pt x="40184" y="166191"/>
                </a:lnTo>
                <a:lnTo>
                  <a:pt x="20340" y="146348"/>
                </a:lnTo>
                <a:cubicBezTo>
                  <a:pt x="16917" y="142925"/>
                  <a:pt x="11807" y="141932"/>
                  <a:pt x="7342" y="143768"/>
                </a:cubicBezTo>
                <a:cubicBezTo>
                  <a:pt x="2877" y="145604"/>
                  <a:pt x="0" y="149969"/>
                  <a:pt x="0" y="154781"/>
                </a:cubicBezTo>
                <a:lnTo>
                  <a:pt x="0" y="226219"/>
                </a:lnTo>
                <a:cubicBezTo>
                  <a:pt x="0" y="232817"/>
                  <a:pt x="5308" y="238125"/>
                  <a:pt x="11906" y="238125"/>
                </a:cubicBezTo>
                <a:lnTo>
                  <a:pt x="83344" y="238125"/>
                </a:lnTo>
                <a:cubicBezTo>
                  <a:pt x="88156" y="238125"/>
                  <a:pt x="92521" y="235248"/>
                  <a:pt x="94357" y="230783"/>
                </a:cubicBezTo>
                <a:cubicBezTo>
                  <a:pt x="96193" y="226318"/>
                  <a:pt x="95200" y="221208"/>
                  <a:pt x="91777" y="217785"/>
                </a:cubicBezTo>
                <a:lnTo>
                  <a:pt x="71934" y="197941"/>
                </a:lnTo>
                <a:lnTo>
                  <a:pt x="111125" y="158750"/>
                </a:lnTo>
                <a:lnTo>
                  <a:pt x="150316" y="197941"/>
                </a:lnTo>
                <a:lnTo>
                  <a:pt x="130473" y="217785"/>
                </a:lnTo>
                <a:cubicBezTo>
                  <a:pt x="127050" y="221208"/>
                  <a:pt x="126057" y="226318"/>
                  <a:pt x="127893" y="230783"/>
                </a:cubicBezTo>
                <a:cubicBezTo>
                  <a:pt x="129729" y="235248"/>
                  <a:pt x="134094" y="238125"/>
                  <a:pt x="138906" y="238125"/>
                </a:cubicBezTo>
                <a:lnTo>
                  <a:pt x="210344" y="238125"/>
                </a:lnTo>
                <a:cubicBezTo>
                  <a:pt x="216942" y="238125"/>
                  <a:pt x="222250" y="232817"/>
                  <a:pt x="222250" y="226219"/>
                </a:cubicBezTo>
                <a:lnTo>
                  <a:pt x="222250" y="154781"/>
                </a:lnTo>
                <a:cubicBezTo>
                  <a:pt x="222250" y="149969"/>
                  <a:pt x="219373" y="145604"/>
                  <a:pt x="214908" y="143768"/>
                </a:cubicBezTo>
                <a:cubicBezTo>
                  <a:pt x="210443" y="141932"/>
                  <a:pt x="205333" y="142925"/>
                  <a:pt x="201910" y="146348"/>
                </a:cubicBezTo>
                <a:lnTo>
                  <a:pt x="182066" y="166191"/>
                </a:lnTo>
                <a:lnTo>
                  <a:pt x="142875" y="127000"/>
                </a:lnTo>
                <a:lnTo>
                  <a:pt x="182066" y="87809"/>
                </a:lnTo>
                <a:lnTo>
                  <a:pt x="201910" y="107652"/>
                </a:lnTo>
                <a:cubicBezTo>
                  <a:pt x="205333" y="111075"/>
                  <a:pt x="210443" y="112068"/>
                  <a:pt x="214908" y="110232"/>
                </a:cubicBezTo>
                <a:cubicBezTo>
                  <a:pt x="219373" y="108396"/>
                  <a:pt x="222250" y="104031"/>
                  <a:pt x="222250" y="99219"/>
                </a:cubicBezTo>
                <a:lnTo>
                  <a:pt x="222250" y="27781"/>
                </a:lnTo>
                <a:cubicBezTo>
                  <a:pt x="222250" y="21183"/>
                  <a:pt x="216942" y="15875"/>
                  <a:pt x="210344" y="15875"/>
                </a:cubicBezTo>
                <a:lnTo>
                  <a:pt x="138906" y="15875"/>
                </a:lnTo>
                <a:cubicBezTo>
                  <a:pt x="134094" y="15875"/>
                  <a:pt x="129729" y="18752"/>
                  <a:pt x="127893" y="23217"/>
                </a:cubicBezTo>
                <a:cubicBezTo>
                  <a:pt x="126057" y="27682"/>
                  <a:pt x="127099" y="32792"/>
                  <a:pt x="130473" y="36215"/>
                </a:cubicBezTo>
                <a:lnTo>
                  <a:pt x="150316" y="56059"/>
                </a:lnTo>
                <a:lnTo>
                  <a:pt x="111125" y="95250"/>
                </a:lnTo>
                <a:lnTo>
                  <a:pt x="71934" y="56059"/>
                </a:lnTo>
                <a:lnTo>
                  <a:pt x="91777" y="36215"/>
                </a:lnTo>
                <a:cubicBezTo>
                  <a:pt x="95200" y="32792"/>
                  <a:pt x="96193" y="27682"/>
                  <a:pt x="94357" y="23217"/>
                </a:cubicBezTo>
                <a:cubicBezTo>
                  <a:pt x="92521" y="18752"/>
                  <a:pt x="88156" y="15875"/>
                  <a:pt x="83344" y="1587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11544301" y="3911597"/>
            <a:ext cx="295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易于扩展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544301" y="4317997"/>
            <a:ext cx="294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支持新协议、新架构的快速接入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106151" y="487679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1" name="Text 59"/>
          <p:cNvSpPr/>
          <p:nvPr/>
        </p:nvSpPr>
        <p:spPr>
          <a:xfrm>
            <a:off x="11544301" y="4825997"/>
            <a:ext cx="3771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安全可靠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544301" y="5232397"/>
            <a:ext cx="37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每层都有完善的异常处理和错误恢复机制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106151" y="579119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42875" y="47625"/>
                </a:moveTo>
                <a:cubicBezTo>
                  <a:pt x="142875" y="38863"/>
                  <a:pt x="135762" y="31750"/>
                  <a:pt x="127000" y="31750"/>
                </a:cubicBezTo>
                <a:cubicBezTo>
                  <a:pt x="118238" y="31750"/>
                  <a:pt x="111125" y="38863"/>
                  <a:pt x="111125" y="47625"/>
                </a:cubicBezTo>
                <a:cubicBezTo>
                  <a:pt x="111125" y="56387"/>
                  <a:pt x="118238" y="63500"/>
                  <a:pt x="127000" y="63500"/>
                </a:cubicBezTo>
                <a:cubicBezTo>
                  <a:pt x="135762" y="63500"/>
                  <a:pt x="142875" y="56387"/>
                  <a:pt x="142875" y="47625"/>
                </a:cubicBezTo>
                <a:close/>
                <a:moveTo>
                  <a:pt x="127000" y="206375"/>
                </a:moveTo>
                <a:cubicBezTo>
                  <a:pt x="144512" y="206375"/>
                  <a:pt x="158750" y="192137"/>
                  <a:pt x="158750" y="174625"/>
                </a:cubicBezTo>
                <a:cubicBezTo>
                  <a:pt x="158750" y="166588"/>
                  <a:pt x="155773" y="159196"/>
                  <a:pt x="150813" y="153640"/>
                </a:cubicBezTo>
                <a:lnTo>
                  <a:pt x="185291" y="84733"/>
                </a:lnTo>
                <a:cubicBezTo>
                  <a:pt x="188218" y="78829"/>
                  <a:pt x="185837" y="71686"/>
                  <a:pt x="179983" y="68759"/>
                </a:cubicBezTo>
                <a:cubicBezTo>
                  <a:pt x="174129" y="65832"/>
                  <a:pt x="166936" y="68213"/>
                  <a:pt x="164009" y="74067"/>
                </a:cubicBezTo>
                <a:lnTo>
                  <a:pt x="129530" y="142974"/>
                </a:lnTo>
                <a:cubicBezTo>
                  <a:pt x="128687" y="142925"/>
                  <a:pt x="127843" y="142875"/>
                  <a:pt x="127000" y="142875"/>
                </a:cubicBezTo>
                <a:cubicBezTo>
                  <a:pt x="109488" y="142875"/>
                  <a:pt x="95250" y="157113"/>
                  <a:pt x="95250" y="174625"/>
                </a:cubicBezTo>
                <a:cubicBezTo>
                  <a:pt x="95250" y="192137"/>
                  <a:pt x="109488" y="206375"/>
                  <a:pt x="127000" y="206375"/>
                </a:cubicBezTo>
                <a:close/>
                <a:moveTo>
                  <a:pt x="87313" y="71438"/>
                </a:moveTo>
                <a:cubicBezTo>
                  <a:pt x="87313" y="62676"/>
                  <a:pt x="80199" y="55563"/>
                  <a:pt x="71438" y="55563"/>
                </a:cubicBezTo>
                <a:cubicBezTo>
                  <a:pt x="62676" y="55563"/>
                  <a:pt x="55563" y="62676"/>
                  <a:pt x="55563" y="71438"/>
                </a:cubicBezTo>
                <a:cubicBezTo>
                  <a:pt x="55563" y="80199"/>
                  <a:pt x="62676" y="87313"/>
                  <a:pt x="71438" y="87313"/>
                </a:cubicBezTo>
                <a:cubicBezTo>
                  <a:pt x="80199" y="87313"/>
                  <a:pt x="87313" y="80199"/>
                  <a:pt x="87313" y="71438"/>
                </a:cubicBezTo>
                <a:close/>
                <a:moveTo>
                  <a:pt x="47625" y="142875"/>
                </a:moveTo>
                <a:cubicBezTo>
                  <a:pt x="56387" y="142875"/>
                  <a:pt x="63500" y="135762"/>
                  <a:pt x="63500" y="127000"/>
                </a:cubicBezTo>
                <a:cubicBezTo>
                  <a:pt x="63500" y="118238"/>
                  <a:pt x="56387" y="111125"/>
                  <a:pt x="47625" y="111125"/>
                </a:cubicBezTo>
                <a:cubicBezTo>
                  <a:pt x="38863" y="111125"/>
                  <a:pt x="31750" y="118238"/>
                  <a:pt x="31750" y="127000"/>
                </a:cubicBezTo>
                <a:cubicBezTo>
                  <a:pt x="31750" y="135762"/>
                  <a:pt x="38863" y="142875"/>
                  <a:pt x="47625" y="142875"/>
                </a:cubicBezTo>
                <a:close/>
                <a:moveTo>
                  <a:pt x="222250" y="127000"/>
                </a:moveTo>
                <a:cubicBezTo>
                  <a:pt x="222250" y="118238"/>
                  <a:pt x="215137" y="111125"/>
                  <a:pt x="206375" y="111125"/>
                </a:cubicBezTo>
                <a:cubicBezTo>
                  <a:pt x="197613" y="111125"/>
                  <a:pt x="190500" y="118238"/>
                  <a:pt x="190500" y="127000"/>
                </a:cubicBezTo>
                <a:cubicBezTo>
                  <a:pt x="190500" y="135762"/>
                  <a:pt x="197613" y="142875"/>
                  <a:pt x="206375" y="142875"/>
                </a:cubicBezTo>
                <a:cubicBezTo>
                  <a:pt x="215137" y="142875"/>
                  <a:pt x="222250" y="135762"/>
                  <a:pt x="222250" y="1270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4" name="Text 62"/>
          <p:cNvSpPr/>
          <p:nvPr/>
        </p:nvSpPr>
        <p:spPr>
          <a:xfrm>
            <a:off x="11544301" y="5740397"/>
            <a:ext cx="368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1544301" y="6146797"/>
            <a:ext cx="367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基于Asyncio的并发设计，资源利用率高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775462" y="9024812"/>
            <a:ext cx="4964723" cy="1840523"/>
          </a:xfrm>
          <a:custGeom>
            <a:avLst/>
            <a:gdLst/>
            <a:ahLst/>
            <a:cxnLst/>
            <a:rect l="l" t="t" r="r" b="b"/>
            <a:pathLst>
              <a:path w="4964723" h="1840523">
                <a:moveTo>
                  <a:pt x="152395" y="0"/>
                </a:moveTo>
                <a:lnTo>
                  <a:pt x="4812328" y="0"/>
                </a:lnTo>
                <a:cubicBezTo>
                  <a:pt x="4896437" y="0"/>
                  <a:pt x="4964723" y="68286"/>
                  <a:pt x="4964723" y="152395"/>
                </a:cubicBezTo>
                <a:lnTo>
                  <a:pt x="4964723" y="1688128"/>
                </a:lnTo>
                <a:cubicBezTo>
                  <a:pt x="4964723" y="1772237"/>
                  <a:pt x="4896437" y="1840523"/>
                  <a:pt x="4812328" y="1840523"/>
                </a:cubicBezTo>
                <a:lnTo>
                  <a:pt x="152395" y="1840523"/>
                </a:lnTo>
                <a:cubicBezTo>
                  <a:pt x="68286" y="1840523"/>
                  <a:pt x="0" y="1772237"/>
                  <a:pt x="0" y="1688128"/>
                </a:cubicBezTo>
                <a:lnTo>
                  <a:pt x="0" y="152395"/>
                </a:lnTo>
                <a:cubicBezTo>
                  <a:pt x="0" y="68230"/>
                  <a:pt x="68230" y="0"/>
                  <a:pt x="152395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035323" y="9284677"/>
            <a:ext cx="455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1035323" y="9792677"/>
            <a:ext cx="1295400" cy="355600"/>
          </a:xfrm>
          <a:custGeom>
            <a:avLst/>
            <a:gdLst/>
            <a:ahLst/>
            <a:cxnLst/>
            <a:rect l="l" t="t" r="r" b="b"/>
            <a:pathLst>
              <a:path w="1295400" h="355600">
                <a:moveTo>
                  <a:pt x="177800" y="0"/>
                </a:moveTo>
                <a:lnTo>
                  <a:pt x="1117600" y="0"/>
                </a:lnTo>
                <a:cubicBezTo>
                  <a:pt x="1215730" y="0"/>
                  <a:pt x="1295400" y="79670"/>
                  <a:pt x="1295400" y="177800"/>
                </a:cubicBezTo>
                <a:lnTo>
                  <a:pt x="1295400" y="177800"/>
                </a:lnTo>
                <a:cubicBezTo>
                  <a:pt x="1295400" y="275930"/>
                  <a:pt x="1215730" y="355600"/>
                  <a:pt x="1117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11035323" y="9792677"/>
            <a:ext cx="1384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3.9+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2434583" y="9792677"/>
            <a:ext cx="1079500" cy="355600"/>
          </a:xfrm>
          <a:custGeom>
            <a:avLst/>
            <a:gdLst/>
            <a:ahLst/>
            <a:cxnLst/>
            <a:rect l="l" t="t" r="r" b="b"/>
            <a:pathLst>
              <a:path w="1079500" h="355600">
                <a:moveTo>
                  <a:pt x="177800" y="0"/>
                </a:moveTo>
                <a:lnTo>
                  <a:pt x="901700" y="0"/>
                </a:lnTo>
                <a:cubicBezTo>
                  <a:pt x="999830" y="0"/>
                  <a:pt x="1079500" y="79670"/>
                  <a:pt x="1079500" y="177800"/>
                </a:cubicBezTo>
                <a:lnTo>
                  <a:pt x="1079500" y="177800"/>
                </a:lnTo>
                <a:cubicBezTo>
                  <a:pt x="1079500" y="275930"/>
                  <a:pt x="999830" y="355600"/>
                  <a:pt x="9017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2434583" y="9792677"/>
            <a:ext cx="1168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Z3 Solver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3609638" y="9792677"/>
            <a:ext cx="812800" cy="355600"/>
          </a:xfrm>
          <a:custGeom>
            <a:avLst/>
            <a:gdLst/>
            <a:ahLst/>
            <a:cxnLst/>
            <a:rect l="l" t="t" r="r" b="b"/>
            <a:pathLst>
              <a:path w="812800" h="355600">
                <a:moveTo>
                  <a:pt x="177800" y="0"/>
                </a:moveTo>
                <a:lnTo>
                  <a:pt x="635000" y="0"/>
                </a:lnTo>
                <a:cubicBezTo>
                  <a:pt x="733130" y="0"/>
                  <a:pt x="812800" y="79670"/>
                  <a:pt x="812800" y="177800"/>
                </a:cubicBezTo>
                <a:lnTo>
                  <a:pt x="812800" y="177800"/>
                </a:lnTo>
                <a:cubicBezTo>
                  <a:pt x="812800" y="275930"/>
                  <a:pt x="733130" y="355600"/>
                  <a:pt x="635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13609638" y="9792677"/>
            <a:ext cx="901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PyQt6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1035323" y="10249877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11035323" y="10249877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Pydantic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2148161" y="10249877"/>
            <a:ext cx="939800" cy="355600"/>
          </a:xfrm>
          <a:custGeom>
            <a:avLst/>
            <a:gdLst/>
            <a:ahLst/>
            <a:cxnLst/>
            <a:rect l="l" t="t" r="r" b="b"/>
            <a:pathLst>
              <a:path w="939800" h="355600">
                <a:moveTo>
                  <a:pt x="177800" y="0"/>
                </a:moveTo>
                <a:lnTo>
                  <a:pt x="762000" y="0"/>
                </a:lnTo>
                <a:cubicBezTo>
                  <a:pt x="860130" y="0"/>
                  <a:pt x="939800" y="79670"/>
                  <a:pt x="939800" y="177800"/>
                </a:cubicBezTo>
                <a:lnTo>
                  <a:pt x="939800" y="177800"/>
                </a:lnTo>
                <a:cubicBezTo>
                  <a:pt x="939800" y="275930"/>
                  <a:pt x="860130" y="355600"/>
                  <a:pt x="762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7" name="Text 75"/>
          <p:cNvSpPr/>
          <p:nvPr/>
        </p:nvSpPr>
        <p:spPr>
          <a:xfrm>
            <a:off x="12148161" y="10249877"/>
            <a:ext cx="1028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Asyncio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3189133" y="10249877"/>
            <a:ext cx="812800" cy="355600"/>
          </a:xfrm>
          <a:custGeom>
            <a:avLst/>
            <a:gdLst/>
            <a:ahLst/>
            <a:cxnLst/>
            <a:rect l="l" t="t" r="r" b="b"/>
            <a:pathLst>
              <a:path w="812800" h="355600">
                <a:moveTo>
                  <a:pt x="177800" y="0"/>
                </a:moveTo>
                <a:lnTo>
                  <a:pt x="635000" y="0"/>
                </a:lnTo>
                <a:cubicBezTo>
                  <a:pt x="733130" y="0"/>
                  <a:pt x="812800" y="79670"/>
                  <a:pt x="812800" y="177800"/>
                </a:cubicBezTo>
                <a:lnTo>
                  <a:pt x="812800" y="177800"/>
                </a:lnTo>
                <a:cubicBezTo>
                  <a:pt x="812800" y="275930"/>
                  <a:pt x="733130" y="355600"/>
                  <a:pt x="635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3189133" y="10249877"/>
            <a:ext cx="901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Pytest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核心技术：形式化验证引擎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8940800" cy="3606800"/>
          </a:xfrm>
          <a:custGeom>
            <a:avLst/>
            <a:gdLst/>
            <a:ahLst/>
            <a:cxnLst/>
            <a:rect l="l" t="t" r="r" b="b"/>
            <a:pathLst>
              <a:path w="8940800" h="3606800">
                <a:moveTo>
                  <a:pt x="50800" y="0"/>
                </a:moveTo>
                <a:lnTo>
                  <a:pt x="8788413" y="0"/>
                </a:lnTo>
                <a:cubicBezTo>
                  <a:pt x="8872574" y="0"/>
                  <a:pt x="8940800" y="68226"/>
                  <a:pt x="8940800" y="152387"/>
                </a:cubicBezTo>
                <a:lnTo>
                  <a:pt x="8940800" y="3454413"/>
                </a:lnTo>
                <a:cubicBezTo>
                  <a:pt x="8940800" y="3538574"/>
                  <a:pt x="8872574" y="3606800"/>
                  <a:pt x="8788413" y="3606800"/>
                </a:cubicBezTo>
                <a:lnTo>
                  <a:pt x="50800" y="3606800"/>
                </a:lnTo>
                <a:cubicBezTo>
                  <a:pt x="22763" y="3606800"/>
                  <a:pt x="0" y="3584037"/>
                  <a:pt x="0" y="355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606800"/>
          </a:xfrm>
          <a:custGeom>
            <a:avLst/>
            <a:gdLst/>
            <a:ahLst/>
            <a:cxnLst/>
            <a:rect l="l" t="t" r="r" b="b"/>
            <a:pathLst>
              <a:path w="50800" h="3606800">
                <a:moveTo>
                  <a:pt x="50800" y="0"/>
                </a:moveTo>
                <a:lnTo>
                  <a:pt x="50800" y="0"/>
                </a:lnTo>
                <a:lnTo>
                  <a:pt x="50800" y="3606800"/>
                </a:lnTo>
                <a:lnTo>
                  <a:pt x="50800" y="3606800"/>
                </a:lnTo>
                <a:cubicBezTo>
                  <a:pt x="22763" y="3606800"/>
                  <a:pt x="0" y="3584037"/>
                  <a:pt x="0" y="3556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133600"/>
            <a:ext cx="845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BMC技术原理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" y="2743200"/>
            <a:ext cx="8407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有界模型检测(Bounded Model Checking, BMC)是一种形式化验证技术，通过将系统状态机展开为有限步数的约束公式，利用SMT求解器验证安全属性是否在所有可能路径上成立。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3600" y="3606800"/>
            <a:ext cx="2628900" cy="1524000"/>
          </a:xfrm>
          <a:custGeom>
            <a:avLst/>
            <a:gdLst/>
            <a:ahLst/>
            <a:cxnLst/>
            <a:rect l="l" t="t" r="r" b="b"/>
            <a:pathLst>
              <a:path w="2628900" h="1524000">
                <a:moveTo>
                  <a:pt x="101605" y="0"/>
                </a:moveTo>
                <a:lnTo>
                  <a:pt x="2527295" y="0"/>
                </a:lnTo>
                <a:cubicBezTo>
                  <a:pt x="2583410" y="0"/>
                  <a:pt x="2628900" y="45490"/>
                  <a:pt x="2628900" y="101605"/>
                </a:cubicBezTo>
                <a:lnTo>
                  <a:pt x="2628900" y="1422395"/>
                </a:lnTo>
                <a:cubicBezTo>
                  <a:pt x="2628900" y="1478510"/>
                  <a:pt x="2583410" y="1524000"/>
                  <a:pt x="2527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52500" y="38100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2350" y="44196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状态机编码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8700" y="4724400"/>
            <a:ext cx="2298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将协议状态机转换为Z3约束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98203" y="3606800"/>
            <a:ext cx="2628900" cy="1524000"/>
          </a:xfrm>
          <a:custGeom>
            <a:avLst/>
            <a:gdLst/>
            <a:ahLst/>
            <a:cxnLst/>
            <a:rect l="l" t="t" r="r" b="b"/>
            <a:pathLst>
              <a:path w="2628900" h="1524000">
                <a:moveTo>
                  <a:pt x="101605" y="0"/>
                </a:moveTo>
                <a:lnTo>
                  <a:pt x="2527295" y="0"/>
                </a:lnTo>
                <a:cubicBezTo>
                  <a:pt x="2583410" y="0"/>
                  <a:pt x="2628900" y="45490"/>
                  <a:pt x="2628900" y="101605"/>
                </a:cubicBezTo>
                <a:lnTo>
                  <a:pt x="2628900" y="1422395"/>
                </a:lnTo>
                <a:cubicBezTo>
                  <a:pt x="2628900" y="1478510"/>
                  <a:pt x="2583410" y="1524000"/>
                  <a:pt x="2527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787103" y="38100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56953" y="44196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属性规约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63303" y="4724400"/>
            <a:ext cx="2298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定义安全属性谓词函数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2868" y="3606800"/>
            <a:ext cx="2628900" cy="1524000"/>
          </a:xfrm>
          <a:custGeom>
            <a:avLst/>
            <a:gdLst/>
            <a:ahLst/>
            <a:cxnLst/>
            <a:rect l="l" t="t" r="r" b="b"/>
            <a:pathLst>
              <a:path w="2628900" h="1524000">
                <a:moveTo>
                  <a:pt x="101605" y="0"/>
                </a:moveTo>
                <a:lnTo>
                  <a:pt x="2527295" y="0"/>
                </a:lnTo>
                <a:cubicBezTo>
                  <a:pt x="2583410" y="0"/>
                  <a:pt x="2628900" y="45490"/>
                  <a:pt x="2628900" y="101605"/>
                </a:cubicBezTo>
                <a:lnTo>
                  <a:pt x="2628900" y="1422395"/>
                </a:lnTo>
                <a:cubicBezTo>
                  <a:pt x="2628900" y="1478510"/>
                  <a:pt x="2583410" y="1524000"/>
                  <a:pt x="2527295" y="1524000"/>
                </a:cubicBezTo>
                <a:lnTo>
                  <a:pt x="101605" y="1524000"/>
                </a:lnTo>
                <a:cubicBezTo>
                  <a:pt x="45490" y="1524000"/>
                  <a:pt x="0" y="1478510"/>
                  <a:pt x="0" y="1422395"/>
                </a:cubicBezTo>
                <a:lnTo>
                  <a:pt x="0" y="101605"/>
                </a:lnTo>
                <a:cubicBezTo>
                  <a:pt x="0" y="45528"/>
                  <a:pt x="45528" y="0"/>
                  <a:pt x="101605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21768" y="3810000"/>
            <a:ext cx="2451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91618" y="44196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约束求解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97968" y="4724400"/>
            <a:ext cx="2298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Z3求解器验证属性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5689600"/>
            <a:ext cx="4356100" cy="2971800"/>
          </a:xfrm>
          <a:custGeom>
            <a:avLst/>
            <a:gdLst/>
            <a:ahLst/>
            <a:cxnLst/>
            <a:rect l="l" t="t" r="r" b="b"/>
            <a:pathLst>
              <a:path w="4356100" h="2971800">
                <a:moveTo>
                  <a:pt x="152394" y="0"/>
                </a:moveTo>
                <a:lnTo>
                  <a:pt x="4203706" y="0"/>
                </a:lnTo>
                <a:cubicBezTo>
                  <a:pt x="4287871" y="0"/>
                  <a:pt x="4356100" y="68229"/>
                  <a:pt x="4356100" y="152394"/>
                </a:cubicBezTo>
                <a:lnTo>
                  <a:pt x="4356100" y="2819406"/>
                </a:lnTo>
                <a:cubicBezTo>
                  <a:pt x="4356100" y="2903571"/>
                  <a:pt x="4287871" y="2971800"/>
                  <a:pt x="42037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943600"/>
            <a:ext cx="396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0100" y="6502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1117600" y="6451600"/>
            <a:ext cx="2032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100%数学正确性保证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00100" y="6908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1117600" y="6858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自动生成反例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0100" y="7315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1117600" y="72644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支持增量验证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0100" y="7721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Text 27"/>
          <p:cNvSpPr/>
          <p:nvPr/>
        </p:nvSpPr>
        <p:spPr>
          <a:xfrm>
            <a:off x="1117600" y="76708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可配置超时控制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115536" y="5689600"/>
            <a:ext cx="4356100" cy="2971800"/>
          </a:xfrm>
          <a:custGeom>
            <a:avLst/>
            <a:gdLst/>
            <a:ahLst/>
            <a:cxnLst/>
            <a:rect l="l" t="t" r="r" b="b"/>
            <a:pathLst>
              <a:path w="4356100" h="2971800">
                <a:moveTo>
                  <a:pt x="152394" y="0"/>
                </a:moveTo>
                <a:lnTo>
                  <a:pt x="4203706" y="0"/>
                </a:lnTo>
                <a:cubicBezTo>
                  <a:pt x="4287871" y="0"/>
                  <a:pt x="4356100" y="68229"/>
                  <a:pt x="4356100" y="152394"/>
                </a:cubicBezTo>
                <a:lnTo>
                  <a:pt x="4356100" y="2819406"/>
                </a:lnTo>
                <a:cubicBezTo>
                  <a:pt x="4356100" y="2903571"/>
                  <a:pt x="4287871" y="2971800"/>
                  <a:pt x="4203706" y="2971800"/>
                </a:cubicBezTo>
                <a:lnTo>
                  <a:pt x="152394" y="2971800"/>
                </a:lnTo>
                <a:cubicBezTo>
                  <a:pt x="68229" y="2971800"/>
                  <a:pt x="0" y="2903571"/>
                  <a:pt x="0" y="2819406"/>
                </a:cubicBezTo>
                <a:lnTo>
                  <a:pt x="0" y="152394"/>
                </a:lnTo>
                <a:cubicBezTo>
                  <a:pt x="0" y="68285"/>
                  <a:pt x="68285" y="0"/>
                  <a:pt x="152394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369536" y="5943600"/>
            <a:ext cx="396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69536" y="6451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验证速度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589230" y="6451600"/>
            <a:ext cx="71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10步/秒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69536" y="67564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5" name="Shape 33"/>
          <p:cNvSpPr/>
          <p:nvPr/>
        </p:nvSpPr>
        <p:spPr>
          <a:xfrm>
            <a:off x="5369536" y="6756400"/>
            <a:ext cx="3263900" cy="101600"/>
          </a:xfrm>
          <a:custGeom>
            <a:avLst/>
            <a:gdLst/>
            <a:ahLst/>
            <a:cxnLst/>
            <a:rect l="l" t="t" r="r" b="b"/>
            <a:pathLst>
              <a:path w="3263900" h="101600">
                <a:moveTo>
                  <a:pt x="50800" y="0"/>
                </a:moveTo>
                <a:lnTo>
                  <a:pt x="3213100" y="0"/>
                </a:lnTo>
                <a:cubicBezTo>
                  <a:pt x="3241137" y="0"/>
                  <a:pt x="3263900" y="22763"/>
                  <a:pt x="3263900" y="50800"/>
                </a:cubicBezTo>
                <a:lnTo>
                  <a:pt x="3263900" y="50800"/>
                </a:lnTo>
                <a:cubicBezTo>
                  <a:pt x="3263900" y="78837"/>
                  <a:pt x="3241137" y="101600"/>
                  <a:pt x="32131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5369536" y="70104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内存占用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80059" y="7010400"/>
            <a:ext cx="82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&lt;500MB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369536" y="73152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9" name="Shape 37"/>
          <p:cNvSpPr/>
          <p:nvPr/>
        </p:nvSpPr>
        <p:spPr>
          <a:xfrm>
            <a:off x="5369536" y="7315200"/>
            <a:ext cx="1536700" cy="101600"/>
          </a:xfrm>
          <a:custGeom>
            <a:avLst/>
            <a:gdLst/>
            <a:ahLst/>
            <a:cxnLst/>
            <a:rect l="l" t="t" r="r" b="b"/>
            <a:pathLst>
              <a:path w="1536700" h="101600">
                <a:moveTo>
                  <a:pt x="50800" y="0"/>
                </a:moveTo>
                <a:lnTo>
                  <a:pt x="1485900" y="0"/>
                </a:lnTo>
                <a:cubicBezTo>
                  <a:pt x="1513937" y="0"/>
                  <a:pt x="1536700" y="22763"/>
                  <a:pt x="1536700" y="50800"/>
                </a:cubicBezTo>
                <a:lnTo>
                  <a:pt x="1536700" y="50800"/>
                </a:lnTo>
                <a:cubicBezTo>
                  <a:pt x="1536700" y="78837"/>
                  <a:pt x="1513937" y="101600"/>
                  <a:pt x="14859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Text 38"/>
          <p:cNvSpPr/>
          <p:nvPr/>
        </p:nvSpPr>
        <p:spPr>
          <a:xfrm>
            <a:off x="5369536" y="75692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752437" y="7569200"/>
            <a:ext cx="54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369536" y="78740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3" name="Shape 41"/>
          <p:cNvSpPr/>
          <p:nvPr/>
        </p:nvSpPr>
        <p:spPr>
          <a:xfrm>
            <a:off x="5369536" y="78740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Shape 42"/>
          <p:cNvSpPr/>
          <p:nvPr/>
        </p:nvSpPr>
        <p:spPr>
          <a:xfrm>
            <a:off x="9779794" y="1834662"/>
            <a:ext cx="5968023" cy="4228123"/>
          </a:xfrm>
          <a:custGeom>
            <a:avLst/>
            <a:gdLst/>
            <a:ahLst/>
            <a:cxnLst/>
            <a:rect l="l" t="t" r="r" b="b"/>
            <a:pathLst>
              <a:path w="5968023" h="4228123">
                <a:moveTo>
                  <a:pt x="152382" y="0"/>
                </a:moveTo>
                <a:lnTo>
                  <a:pt x="5815642" y="0"/>
                </a:lnTo>
                <a:cubicBezTo>
                  <a:pt x="5899800" y="0"/>
                  <a:pt x="5968023" y="68224"/>
                  <a:pt x="5968023" y="152382"/>
                </a:cubicBezTo>
                <a:lnTo>
                  <a:pt x="5968023" y="4075742"/>
                </a:lnTo>
                <a:cubicBezTo>
                  <a:pt x="5968023" y="4159900"/>
                  <a:pt x="5899800" y="4228123"/>
                  <a:pt x="5815642" y="4228123"/>
                </a:cubicBezTo>
                <a:lnTo>
                  <a:pt x="152382" y="4228123"/>
                </a:lnTo>
                <a:cubicBezTo>
                  <a:pt x="68224" y="4228123"/>
                  <a:pt x="0" y="4159900"/>
                  <a:pt x="0" y="4075742"/>
                </a:cubicBezTo>
                <a:lnTo>
                  <a:pt x="0" y="152382"/>
                </a:lnTo>
                <a:cubicBezTo>
                  <a:pt x="0" y="68224"/>
                  <a:pt x="68224" y="0"/>
                  <a:pt x="15238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90455" y="2145326"/>
            <a:ext cx="547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验证流程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090455" y="27041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026955" y="270412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03255" y="2704126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状态机建模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03255" y="3059726"/>
            <a:ext cx="462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将协议状态机转换为Z3约束表达式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090455" y="35169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026955" y="351692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03255" y="3516926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属性定义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903255" y="3872526"/>
            <a:ext cx="462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定义安全属性谓词函数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0090455" y="43297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26955" y="432972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903255" y="4329726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约束求解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903255" y="4685326"/>
            <a:ext cx="462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Z3求解器验证属性是否满足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090455" y="5142526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10026955" y="5142526"/>
            <a:ext cx="73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903255" y="5142526"/>
            <a:ext cx="463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结果输出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03255" y="5498126"/>
            <a:ext cx="4622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生成验证结果和反例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773933" y="6322647"/>
            <a:ext cx="5969000" cy="2336800"/>
          </a:xfrm>
          <a:custGeom>
            <a:avLst/>
            <a:gdLst/>
            <a:ahLst/>
            <a:cxnLst/>
            <a:rect l="l" t="t" r="r" b="b"/>
            <a:pathLst>
              <a:path w="5969000" h="2336800">
                <a:moveTo>
                  <a:pt x="152406" y="0"/>
                </a:moveTo>
                <a:lnTo>
                  <a:pt x="5816594" y="0"/>
                </a:lnTo>
                <a:cubicBezTo>
                  <a:pt x="5900765" y="0"/>
                  <a:pt x="5969000" y="68235"/>
                  <a:pt x="5969000" y="152406"/>
                </a:cubicBezTo>
                <a:lnTo>
                  <a:pt x="5969000" y="2184394"/>
                </a:lnTo>
                <a:cubicBezTo>
                  <a:pt x="5969000" y="2268565"/>
                  <a:pt x="5900765" y="2336800"/>
                  <a:pt x="58165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0027933" y="6576647"/>
            <a:ext cx="557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验证结果类型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027933" y="71354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65" name="Text 63"/>
          <p:cNvSpPr/>
          <p:nvPr/>
        </p:nvSpPr>
        <p:spPr>
          <a:xfrm>
            <a:off x="10332733" y="7084647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VERIFIED - 验证通过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10027933" y="74910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67" name="Text 65"/>
          <p:cNvSpPr/>
          <p:nvPr/>
        </p:nvSpPr>
        <p:spPr>
          <a:xfrm>
            <a:off x="10332733" y="7440247"/>
            <a:ext cx="262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VIOLATION_FOUND - 发现违反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027933" y="78466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69" name="Text 67"/>
          <p:cNvSpPr/>
          <p:nvPr/>
        </p:nvSpPr>
        <p:spPr>
          <a:xfrm>
            <a:off x="10332733" y="7795847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TIMEOUT - 超时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0027933" y="82022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A7282"/>
          </a:solidFill>
          <a:ln/>
        </p:spPr>
      </p:sp>
      <p:sp>
        <p:nvSpPr>
          <p:cNvPr id="71" name="Text 69"/>
          <p:cNvSpPr/>
          <p:nvPr/>
        </p:nvSpPr>
        <p:spPr>
          <a:xfrm>
            <a:off x="10332733" y="8151447"/>
            <a:ext cx="1574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UNKNOWN - 未知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核心技术：协议状态机建模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854200"/>
            <a:ext cx="4660900" cy="4876800"/>
          </a:xfrm>
          <a:custGeom>
            <a:avLst/>
            <a:gdLst/>
            <a:ahLst/>
            <a:cxnLst/>
            <a:rect l="l" t="t" r="r" b="b"/>
            <a:pathLst>
              <a:path w="4660900" h="4876800">
                <a:moveTo>
                  <a:pt x="50800" y="0"/>
                </a:moveTo>
                <a:lnTo>
                  <a:pt x="4610100" y="0"/>
                </a:lnTo>
                <a:cubicBezTo>
                  <a:pt x="4638156" y="0"/>
                  <a:pt x="4660900" y="22744"/>
                  <a:pt x="4660900" y="50800"/>
                </a:cubicBezTo>
                <a:lnTo>
                  <a:pt x="4660900" y="4724389"/>
                </a:lnTo>
                <a:cubicBezTo>
                  <a:pt x="4660900" y="4808563"/>
                  <a:pt x="4592663" y="4876800"/>
                  <a:pt x="4508489" y="4876800"/>
                </a:cubicBezTo>
                <a:lnTo>
                  <a:pt x="152411" y="4876800"/>
                </a:lnTo>
                <a:cubicBezTo>
                  <a:pt x="68237" y="4876800"/>
                  <a:pt x="0" y="4808563"/>
                  <a:pt x="0" y="47243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08000" y="1854200"/>
            <a:ext cx="4660900" cy="50800"/>
          </a:xfrm>
          <a:custGeom>
            <a:avLst/>
            <a:gdLst/>
            <a:ahLst/>
            <a:cxnLst/>
            <a:rect l="l" t="t" r="r" b="b"/>
            <a:pathLst>
              <a:path w="4660900" h="50800">
                <a:moveTo>
                  <a:pt x="50800" y="0"/>
                </a:moveTo>
                <a:lnTo>
                  <a:pt x="4610100" y="0"/>
                </a:lnTo>
                <a:cubicBezTo>
                  <a:pt x="4638137" y="0"/>
                  <a:pt x="4660900" y="22763"/>
                  <a:pt x="4660900" y="50800"/>
                </a:cubicBezTo>
                <a:lnTo>
                  <a:pt x="4660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96950" y="23876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727200" y="2336800"/>
            <a:ext cx="185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RSSP-I 协议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098800"/>
            <a:ext cx="4152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基于序列号的顺序传输协议，支持超时重传、接收窗口管理、数据完整性校验，适用于一般安全通信场景。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4292600"/>
            <a:ext cx="4051300" cy="1879600"/>
          </a:xfrm>
          <a:custGeom>
            <a:avLst/>
            <a:gdLst/>
            <a:ahLst/>
            <a:cxnLst/>
            <a:rect l="l" t="t" r="r" b="b"/>
            <a:pathLst>
              <a:path w="4051300" h="1879600">
                <a:moveTo>
                  <a:pt x="101592" y="0"/>
                </a:moveTo>
                <a:lnTo>
                  <a:pt x="3949708" y="0"/>
                </a:lnTo>
                <a:cubicBezTo>
                  <a:pt x="4005816" y="0"/>
                  <a:pt x="4051300" y="45484"/>
                  <a:pt x="4051300" y="101592"/>
                </a:cubicBezTo>
                <a:lnTo>
                  <a:pt x="4051300" y="1778008"/>
                </a:lnTo>
                <a:cubicBezTo>
                  <a:pt x="4051300" y="1834116"/>
                  <a:pt x="4005816" y="1879600"/>
                  <a:pt x="39497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9800" y="44958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1550" y="49022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协议状态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40892" y="44958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72642" y="49022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状态转移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9800" y="53086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1024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71550" y="57150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窗口大小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40892" y="53086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872642" y="57150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最大重传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6985000"/>
            <a:ext cx="4660900" cy="2286000"/>
          </a:xfrm>
          <a:custGeom>
            <a:avLst/>
            <a:gdLst/>
            <a:ahLst/>
            <a:cxnLst/>
            <a:rect l="l" t="t" r="r" b="b"/>
            <a:pathLst>
              <a:path w="4660900" h="2286000">
                <a:moveTo>
                  <a:pt x="152408" y="0"/>
                </a:moveTo>
                <a:lnTo>
                  <a:pt x="4508492" y="0"/>
                </a:lnTo>
                <a:cubicBezTo>
                  <a:pt x="4592665" y="0"/>
                  <a:pt x="4660900" y="68235"/>
                  <a:pt x="4660900" y="152408"/>
                </a:cubicBezTo>
                <a:lnTo>
                  <a:pt x="4660900" y="2133592"/>
                </a:lnTo>
                <a:cubicBezTo>
                  <a:pt x="4660900" y="2217765"/>
                  <a:pt x="4592665" y="2286000"/>
                  <a:pt x="4508492" y="2286000"/>
                </a:cubicBezTo>
                <a:lnTo>
                  <a:pt x="152408" y="2286000"/>
                </a:lnTo>
                <a:cubicBezTo>
                  <a:pt x="68235" y="2286000"/>
                  <a:pt x="0" y="2217765"/>
                  <a:pt x="0" y="213359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7239000"/>
            <a:ext cx="426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协议状态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7747000"/>
            <a:ext cx="1003300" cy="355600"/>
          </a:xfrm>
          <a:custGeom>
            <a:avLst/>
            <a:gdLst/>
            <a:ahLst/>
            <a:cxnLst/>
            <a:rect l="l" t="t" r="r" b="b"/>
            <a:pathLst>
              <a:path w="1003300" h="355600">
                <a:moveTo>
                  <a:pt x="177800" y="0"/>
                </a:moveTo>
                <a:lnTo>
                  <a:pt x="825500" y="0"/>
                </a:lnTo>
                <a:cubicBezTo>
                  <a:pt x="923630" y="0"/>
                  <a:pt x="1003300" y="79670"/>
                  <a:pt x="1003300" y="177800"/>
                </a:cubicBezTo>
                <a:lnTo>
                  <a:pt x="1003300" y="177800"/>
                </a:lnTo>
                <a:cubicBezTo>
                  <a:pt x="1003300" y="275930"/>
                  <a:pt x="923630" y="355600"/>
                  <a:pt x="8255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762000" y="7747000"/>
            <a:ext cx="10922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CLOSED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71601" y="7747000"/>
            <a:ext cx="901700" cy="355600"/>
          </a:xfrm>
          <a:custGeom>
            <a:avLst/>
            <a:gdLst/>
            <a:ahLst/>
            <a:cxnLst/>
            <a:rect l="l" t="t" r="r" b="b"/>
            <a:pathLst>
              <a:path w="901700" h="355600">
                <a:moveTo>
                  <a:pt x="177800" y="0"/>
                </a:moveTo>
                <a:lnTo>
                  <a:pt x="723900" y="0"/>
                </a:lnTo>
                <a:cubicBezTo>
                  <a:pt x="822030" y="0"/>
                  <a:pt x="901700" y="79670"/>
                  <a:pt x="901700" y="177800"/>
                </a:cubicBezTo>
                <a:lnTo>
                  <a:pt x="901700" y="177800"/>
                </a:lnTo>
                <a:cubicBezTo>
                  <a:pt x="901700" y="275930"/>
                  <a:pt x="822030" y="355600"/>
                  <a:pt x="7239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871601" y="7747000"/>
            <a:ext cx="9906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870261" y="7747000"/>
            <a:ext cx="1181100" cy="355600"/>
          </a:xfrm>
          <a:custGeom>
            <a:avLst/>
            <a:gdLst/>
            <a:ahLst/>
            <a:cxnLst/>
            <a:rect l="l" t="t" r="r" b="b"/>
            <a:pathLst>
              <a:path w="1181100" h="355600">
                <a:moveTo>
                  <a:pt x="177800" y="0"/>
                </a:moveTo>
                <a:lnTo>
                  <a:pt x="1003300" y="0"/>
                </a:lnTo>
                <a:cubicBezTo>
                  <a:pt x="1101430" y="0"/>
                  <a:pt x="1181100" y="79670"/>
                  <a:pt x="1181100" y="177800"/>
                </a:cubicBezTo>
                <a:lnTo>
                  <a:pt x="1181100" y="177800"/>
                </a:lnTo>
                <a:cubicBezTo>
                  <a:pt x="1181100" y="275930"/>
                  <a:pt x="1101430" y="355600"/>
                  <a:pt x="10033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870261" y="7747000"/>
            <a:ext cx="12700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SYN_SENT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62000" y="8204200"/>
            <a:ext cx="1574800" cy="355600"/>
          </a:xfrm>
          <a:custGeom>
            <a:avLst/>
            <a:gdLst/>
            <a:ahLst/>
            <a:cxnLst/>
            <a:rect l="l" t="t" r="r" b="b"/>
            <a:pathLst>
              <a:path w="1574800" h="355600">
                <a:moveTo>
                  <a:pt x="177800" y="0"/>
                </a:moveTo>
                <a:lnTo>
                  <a:pt x="1397000" y="0"/>
                </a:lnTo>
                <a:cubicBezTo>
                  <a:pt x="1495130" y="0"/>
                  <a:pt x="1574800" y="79670"/>
                  <a:pt x="1574800" y="177800"/>
                </a:cubicBezTo>
                <a:lnTo>
                  <a:pt x="1574800" y="177800"/>
                </a:lnTo>
                <a:cubicBezTo>
                  <a:pt x="1574800" y="275930"/>
                  <a:pt x="1495130" y="355600"/>
                  <a:pt x="13970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8204200"/>
            <a:ext cx="16637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SYN_RECEIVED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39499" y="8204200"/>
            <a:ext cx="1473200" cy="355600"/>
          </a:xfrm>
          <a:custGeom>
            <a:avLst/>
            <a:gdLst/>
            <a:ahLst/>
            <a:cxnLst/>
            <a:rect l="l" t="t" r="r" b="b"/>
            <a:pathLst>
              <a:path w="1473200" h="355600">
                <a:moveTo>
                  <a:pt x="177800" y="0"/>
                </a:moveTo>
                <a:lnTo>
                  <a:pt x="1295400" y="0"/>
                </a:lnTo>
                <a:cubicBezTo>
                  <a:pt x="1393530" y="0"/>
                  <a:pt x="1473200" y="79670"/>
                  <a:pt x="1473200" y="177800"/>
                </a:cubicBezTo>
                <a:lnTo>
                  <a:pt x="1473200" y="177800"/>
                </a:lnTo>
                <a:cubicBezTo>
                  <a:pt x="1473200" y="275930"/>
                  <a:pt x="1393530" y="355600"/>
                  <a:pt x="12954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439499" y="8204200"/>
            <a:ext cx="15621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ESTABLISHED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661400"/>
            <a:ext cx="1104900" cy="355600"/>
          </a:xfrm>
          <a:custGeom>
            <a:avLst/>
            <a:gdLst/>
            <a:ahLst/>
            <a:cxnLst/>
            <a:rect l="l" t="t" r="r" b="b"/>
            <a:pathLst>
              <a:path w="1104900" h="355600">
                <a:moveTo>
                  <a:pt x="177800" y="0"/>
                </a:moveTo>
                <a:lnTo>
                  <a:pt x="927100" y="0"/>
                </a:lnTo>
                <a:cubicBezTo>
                  <a:pt x="1025230" y="0"/>
                  <a:pt x="1104900" y="79670"/>
                  <a:pt x="1104900" y="177800"/>
                </a:cubicBezTo>
                <a:lnTo>
                  <a:pt x="1104900" y="177800"/>
                </a:lnTo>
                <a:cubicBezTo>
                  <a:pt x="1104900" y="275930"/>
                  <a:pt x="1025230" y="355600"/>
                  <a:pt x="9271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8661400"/>
            <a:ext cx="11938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FIN_WAIT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965508" y="8661400"/>
            <a:ext cx="1079500" cy="355600"/>
          </a:xfrm>
          <a:custGeom>
            <a:avLst/>
            <a:gdLst/>
            <a:ahLst/>
            <a:cxnLst/>
            <a:rect l="l" t="t" r="r" b="b"/>
            <a:pathLst>
              <a:path w="1079500" h="355600">
                <a:moveTo>
                  <a:pt x="177800" y="0"/>
                </a:moveTo>
                <a:lnTo>
                  <a:pt x="901700" y="0"/>
                </a:lnTo>
                <a:cubicBezTo>
                  <a:pt x="999830" y="0"/>
                  <a:pt x="1079500" y="79670"/>
                  <a:pt x="1079500" y="177800"/>
                </a:cubicBezTo>
                <a:lnTo>
                  <a:pt x="1079500" y="177800"/>
                </a:lnTo>
                <a:cubicBezTo>
                  <a:pt x="1079500" y="275930"/>
                  <a:pt x="999830" y="355600"/>
                  <a:pt x="9017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965508" y="8661400"/>
            <a:ext cx="11684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CLOSING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144105" y="8661400"/>
            <a:ext cx="1244600" cy="355600"/>
          </a:xfrm>
          <a:custGeom>
            <a:avLst/>
            <a:gdLst/>
            <a:ahLst/>
            <a:cxnLst/>
            <a:rect l="l" t="t" r="r" b="b"/>
            <a:pathLst>
              <a:path w="1244600" h="355600">
                <a:moveTo>
                  <a:pt x="177800" y="0"/>
                </a:moveTo>
                <a:lnTo>
                  <a:pt x="1066800" y="0"/>
                </a:lnTo>
                <a:cubicBezTo>
                  <a:pt x="1164930" y="0"/>
                  <a:pt x="1244600" y="79670"/>
                  <a:pt x="1244600" y="177800"/>
                </a:cubicBezTo>
                <a:lnTo>
                  <a:pt x="1244600" y="177800"/>
                </a:lnTo>
                <a:cubicBezTo>
                  <a:pt x="1244600" y="275930"/>
                  <a:pt x="1164930" y="355600"/>
                  <a:pt x="10668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3144105" y="8661400"/>
            <a:ext cx="13335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TIME_WAIT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78585" y="1854200"/>
            <a:ext cx="4660900" cy="4622800"/>
          </a:xfrm>
          <a:custGeom>
            <a:avLst/>
            <a:gdLst/>
            <a:ahLst/>
            <a:cxnLst/>
            <a:rect l="l" t="t" r="r" b="b"/>
            <a:pathLst>
              <a:path w="4660900" h="4622800">
                <a:moveTo>
                  <a:pt x="50800" y="0"/>
                </a:moveTo>
                <a:lnTo>
                  <a:pt x="4610100" y="0"/>
                </a:lnTo>
                <a:cubicBezTo>
                  <a:pt x="4638137" y="0"/>
                  <a:pt x="4660900" y="22763"/>
                  <a:pt x="4660900" y="50800"/>
                </a:cubicBezTo>
                <a:lnTo>
                  <a:pt x="4660900" y="4470386"/>
                </a:lnTo>
                <a:cubicBezTo>
                  <a:pt x="4660900" y="4554562"/>
                  <a:pt x="4592662" y="4622800"/>
                  <a:pt x="4508486" y="4622800"/>
                </a:cubicBezTo>
                <a:lnTo>
                  <a:pt x="152414" y="4622800"/>
                </a:lnTo>
                <a:cubicBezTo>
                  <a:pt x="68238" y="4622800"/>
                  <a:pt x="0" y="4554562"/>
                  <a:pt x="0" y="4470386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5478585" y="1854200"/>
            <a:ext cx="4660900" cy="50800"/>
          </a:xfrm>
          <a:custGeom>
            <a:avLst/>
            <a:gdLst/>
            <a:ahLst/>
            <a:cxnLst/>
            <a:rect l="l" t="t" r="r" b="b"/>
            <a:pathLst>
              <a:path w="4660900" h="50800">
                <a:moveTo>
                  <a:pt x="50800" y="0"/>
                </a:moveTo>
                <a:lnTo>
                  <a:pt x="4610100" y="0"/>
                </a:lnTo>
                <a:cubicBezTo>
                  <a:pt x="4638137" y="0"/>
                  <a:pt x="4660900" y="22763"/>
                  <a:pt x="4660900" y="50800"/>
                </a:cubicBezTo>
                <a:lnTo>
                  <a:pt x="4660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5783385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86585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6697785" y="2336800"/>
            <a:ext cx="1930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RSSP-II 协议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783385" y="3098800"/>
            <a:ext cx="41529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增强型安全协议，支持双通道冗余、安全码验证、严格时序监控，适用于最高安全等级(SIL4)场景。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783385" y="4292600"/>
            <a:ext cx="4051300" cy="1879600"/>
          </a:xfrm>
          <a:custGeom>
            <a:avLst/>
            <a:gdLst/>
            <a:ahLst/>
            <a:cxnLst/>
            <a:rect l="l" t="t" r="r" b="b"/>
            <a:pathLst>
              <a:path w="4051300" h="1879600">
                <a:moveTo>
                  <a:pt x="101592" y="0"/>
                </a:moveTo>
                <a:lnTo>
                  <a:pt x="3949708" y="0"/>
                </a:lnTo>
                <a:cubicBezTo>
                  <a:pt x="4005816" y="0"/>
                  <a:pt x="4051300" y="45484"/>
                  <a:pt x="4051300" y="101592"/>
                </a:cubicBezTo>
                <a:lnTo>
                  <a:pt x="4051300" y="1778008"/>
                </a:lnTo>
                <a:cubicBezTo>
                  <a:pt x="4051300" y="1834116"/>
                  <a:pt x="4005816" y="1879600"/>
                  <a:pt x="39497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910385" y="44958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942135" y="49022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双通道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11477" y="44958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HMAC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843227" y="49022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安全码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10385" y="53086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5s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42135" y="57150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有效期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11477" y="5308600"/>
            <a:ext cx="1905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43227" y="5715000"/>
            <a:ext cx="184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安全等级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478585" y="6731000"/>
            <a:ext cx="4660900" cy="2540000"/>
          </a:xfrm>
          <a:custGeom>
            <a:avLst/>
            <a:gdLst/>
            <a:ahLst/>
            <a:cxnLst/>
            <a:rect l="l" t="t" r="r" b="b"/>
            <a:pathLst>
              <a:path w="4660900" h="2540000">
                <a:moveTo>
                  <a:pt x="152400" y="0"/>
                </a:moveTo>
                <a:lnTo>
                  <a:pt x="4508500" y="0"/>
                </a:lnTo>
                <a:cubicBezTo>
                  <a:pt x="4592612" y="0"/>
                  <a:pt x="4660900" y="68288"/>
                  <a:pt x="4660900" y="152400"/>
                </a:cubicBezTo>
                <a:lnTo>
                  <a:pt x="4660900" y="2387600"/>
                </a:lnTo>
                <a:cubicBezTo>
                  <a:pt x="4660900" y="2471712"/>
                  <a:pt x="4592612" y="2540000"/>
                  <a:pt x="45085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732585" y="6985000"/>
            <a:ext cx="4267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770685" y="7543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5" name="Text 53"/>
          <p:cNvSpPr/>
          <p:nvPr/>
        </p:nvSpPr>
        <p:spPr>
          <a:xfrm>
            <a:off x="6088185" y="749300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双通道冗余设计，单故障容错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770685" y="79502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7" name="Text 55"/>
          <p:cNvSpPr/>
          <p:nvPr/>
        </p:nvSpPr>
        <p:spPr>
          <a:xfrm>
            <a:off x="6088185" y="7899400"/>
            <a:ext cx="2565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HMAC-SHA256安全码验证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770685" y="8356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9" name="Text 57"/>
          <p:cNvSpPr/>
          <p:nvPr/>
        </p:nvSpPr>
        <p:spPr>
          <a:xfrm>
            <a:off x="6088185" y="83058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严格时序监控，防重放攻击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770685" y="8763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1" name="Text 59"/>
          <p:cNvSpPr/>
          <p:nvPr/>
        </p:nvSpPr>
        <p:spPr>
          <a:xfrm>
            <a:off x="6088185" y="8712200"/>
            <a:ext cx="254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满足SIL4级安全完整性要求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0455031" y="1834662"/>
            <a:ext cx="5282223" cy="7428523"/>
          </a:xfrm>
          <a:custGeom>
            <a:avLst/>
            <a:gdLst/>
            <a:ahLst/>
            <a:cxnLst/>
            <a:rect l="l" t="t" r="r" b="b"/>
            <a:pathLst>
              <a:path w="5282223" h="7428523">
                <a:moveTo>
                  <a:pt x="152392" y="0"/>
                </a:moveTo>
                <a:lnTo>
                  <a:pt x="5129831" y="0"/>
                </a:lnTo>
                <a:cubicBezTo>
                  <a:pt x="5213995" y="0"/>
                  <a:pt x="5282223" y="68228"/>
                  <a:pt x="5282223" y="152392"/>
                </a:cubicBezTo>
                <a:lnTo>
                  <a:pt x="5282223" y="7276131"/>
                </a:lnTo>
                <a:cubicBezTo>
                  <a:pt x="5282223" y="7360295"/>
                  <a:pt x="5213995" y="7428523"/>
                  <a:pt x="5129831" y="7428523"/>
                </a:cubicBezTo>
                <a:lnTo>
                  <a:pt x="152392" y="7428523"/>
                </a:lnTo>
                <a:cubicBezTo>
                  <a:pt x="68228" y="7428523"/>
                  <a:pt x="0" y="7360295"/>
                  <a:pt x="0" y="7276131"/>
                </a:cubicBezTo>
                <a:lnTo>
                  <a:pt x="0" y="152392"/>
                </a:lnTo>
                <a:cubicBezTo>
                  <a:pt x="0" y="68285"/>
                  <a:pt x="68285" y="0"/>
                  <a:pt x="152392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765692" y="2145326"/>
            <a:ext cx="4787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安全属性规约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765692" y="2704126"/>
            <a:ext cx="4660900" cy="1066800"/>
          </a:xfrm>
          <a:custGeom>
            <a:avLst/>
            <a:gdLst/>
            <a:ahLst/>
            <a:cxnLst/>
            <a:rect l="l" t="t" r="r" b="b"/>
            <a:pathLst>
              <a:path w="4660900" h="1066800">
                <a:moveTo>
                  <a:pt x="101602" y="0"/>
                </a:moveTo>
                <a:lnTo>
                  <a:pt x="4559298" y="0"/>
                </a:lnTo>
                <a:cubicBezTo>
                  <a:pt x="4615411" y="0"/>
                  <a:pt x="4660900" y="45489"/>
                  <a:pt x="4660900" y="101602"/>
                </a:cubicBezTo>
                <a:lnTo>
                  <a:pt x="4660900" y="965198"/>
                </a:lnTo>
                <a:cubicBezTo>
                  <a:pt x="4660900" y="1021311"/>
                  <a:pt x="4615411" y="1066800"/>
                  <a:pt x="45592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0994292" y="295812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9769" y="16431"/>
                </a:moveTo>
                <a:cubicBezTo>
                  <a:pt x="54808" y="11470"/>
                  <a:pt x="46752" y="11470"/>
                  <a:pt x="41791" y="16431"/>
                </a:cubicBezTo>
                <a:lnTo>
                  <a:pt x="3691" y="54531"/>
                </a:lnTo>
                <a:cubicBezTo>
                  <a:pt x="-1270" y="59492"/>
                  <a:pt x="-1270" y="67548"/>
                  <a:pt x="3691" y="72509"/>
                </a:cubicBezTo>
                <a:cubicBezTo>
                  <a:pt x="8652" y="77470"/>
                  <a:pt x="16708" y="77470"/>
                  <a:pt x="21669" y="72509"/>
                </a:cubicBezTo>
                <a:lnTo>
                  <a:pt x="38100" y="56078"/>
                </a:lnTo>
                <a:lnTo>
                  <a:pt x="38100" y="177800"/>
                </a:lnTo>
                <a:cubicBezTo>
                  <a:pt x="38100" y="184825"/>
                  <a:pt x="43775" y="190500"/>
                  <a:pt x="50800" y="190500"/>
                </a:cubicBezTo>
                <a:cubicBezTo>
                  <a:pt x="57825" y="190500"/>
                  <a:pt x="63500" y="184825"/>
                  <a:pt x="63500" y="177800"/>
                </a:cubicBezTo>
                <a:lnTo>
                  <a:pt x="63500" y="56078"/>
                </a:lnTo>
                <a:lnTo>
                  <a:pt x="79931" y="72509"/>
                </a:lnTo>
                <a:cubicBezTo>
                  <a:pt x="84892" y="77470"/>
                  <a:pt x="92948" y="77470"/>
                  <a:pt x="97909" y="72509"/>
                </a:cubicBezTo>
                <a:cubicBezTo>
                  <a:pt x="102870" y="67548"/>
                  <a:pt x="102870" y="59492"/>
                  <a:pt x="97909" y="54531"/>
                </a:cubicBezTo>
                <a:lnTo>
                  <a:pt x="59809" y="16431"/>
                </a:lnTo>
                <a:close/>
                <a:moveTo>
                  <a:pt x="166172" y="15081"/>
                </a:moveTo>
                <a:cubicBezTo>
                  <a:pt x="162877" y="12700"/>
                  <a:pt x="158591" y="12025"/>
                  <a:pt x="154742" y="13335"/>
                </a:cubicBezTo>
                <a:lnTo>
                  <a:pt x="135692" y="19685"/>
                </a:lnTo>
                <a:cubicBezTo>
                  <a:pt x="129024" y="21908"/>
                  <a:pt x="125452" y="29091"/>
                  <a:pt x="127675" y="35758"/>
                </a:cubicBezTo>
                <a:cubicBezTo>
                  <a:pt x="129897" y="42426"/>
                  <a:pt x="137081" y="45998"/>
                  <a:pt x="143748" y="43775"/>
                </a:cubicBezTo>
                <a:lnTo>
                  <a:pt x="146090" y="42982"/>
                </a:lnTo>
                <a:lnTo>
                  <a:pt x="146090" y="63460"/>
                </a:lnTo>
                <a:lnTo>
                  <a:pt x="139740" y="63460"/>
                </a:lnTo>
                <a:cubicBezTo>
                  <a:pt x="132715" y="63460"/>
                  <a:pt x="127040" y="69136"/>
                  <a:pt x="127040" y="76160"/>
                </a:cubicBezTo>
                <a:cubicBezTo>
                  <a:pt x="127040" y="83185"/>
                  <a:pt x="132715" y="88860"/>
                  <a:pt x="139740" y="88860"/>
                </a:cubicBezTo>
                <a:lnTo>
                  <a:pt x="177840" y="88860"/>
                </a:lnTo>
                <a:cubicBezTo>
                  <a:pt x="184864" y="88860"/>
                  <a:pt x="190540" y="83185"/>
                  <a:pt x="190540" y="76160"/>
                </a:cubicBezTo>
                <a:cubicBezTo>
                  <a:pt x="190540" y="69136"/>
                  <a:pt x="184864" y="63460"/>
                  <a:pt x="177840" y="63460"/>
                </a:cubicBezTo>
                <a:lnTo>
                  <a:pt x="171490" y="63460"/>
                </a:lnTo>
                <a:lnTo>
                  <a:pt x="171490" y="25360"/>
                </a:lnTo>
                <a:cubicBezTo>
                  <a:pt x="171490" y="21273"/>
                  <a:pt x="169545" y="17463"/>
                  <a:pt x="166211" y="15042"/>
                </a:cubicBezTo>
                <a:close/>
                <a:moveTo>
                  <a:pt x="144899" y="170894"/>
                </a:moveTo>
                <a:cubicBezTo>
                  <a:pt x="141089" y="176768"/>
                  <a:pt x="142756" y="184626"/>
                  <a:pt x="148630" y="188476"/>
                </a:cubicBezTo>
                <a:cubicBezTo>
                  <a:pt x="154503" y="192326"/>
                  <a:pt x="162362" y="190619"/>
                  <a:pt x="166211" y="184745"/>
                </a:cubicBezTo>
                <a:lnTo>
                  <a:pt x="182920" y="158988"/>
                </a:lnTo>
                <a:cubicBezTo>
                  <a:pt x="187841" y="151368"/>
                  <a:pt x="190500" y="142478"/>
                  <a:pt x="190500" y="133390"/>
                </a:cubicBezTo>
                <a:cubicBezTo>
                  <a:pt x="190500" y="115848"/>
                  <a:pt x="176292" y="101640"/>
                  <a:pt x="158750" y="101640"/>
                </a:cubicBezTo>
                <a:cubicBezTo>
                  <a:pt x="141208" y="101640"/>
                  <a:pt x="127000" y="115848"/>
                  <a:pt x="127000" y="133390"/>
                </a:cubicBezTo>
                <a:cubicBezTo>
                  <a:pt x="127000" y="147717"/>
                  <a:pt x="136485" y="159861"/>
                  <a:pt x="149543" y="163790"/>
                </a:cubicBezTo>
                <a:lnTo>
                  <a:pt x="144899" y="170934"/>
                </a:lnTo>
                <a:close/>
                <a:moveTo>
                  <a:pt x="149225" y="133350"/>
                </a:moveTo>
                <a:cubicBezTo>
                  <a:pt x="149225" y="128093"/>
                  <a:pt x="153493" y="123825"/>
                  <a:pt x="158750" y="123825"/>
                </a:cubicBezTo>
                <a:cubicBezTo>
                  <a:pt x="164007" y="123825"/>
                  <a:pt x="168275" y="128093"/>
                  <a:pt x="168275" y="133350"/>
                </a:cubicBezTo>
                <a:cubicBezTo>
                  <a:pt x="168275" y="138607"/>
                  <a:pt x="164007" y="142875"/>
                  <a:pt x="158750" y="142875"/>
                </a:cubicBezTo>
                <a:cubicBezTo>
                  <a:pt x="153493" y="142875"/>
                  <a:pt x="149225" y="138607"/>
                  <a:pt x="149225" y="1333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6" name="Text 64"/>
          <p:cNvSpPr/>
          <p:nvPr/>
        </p:nvSpPr>
        <p:spPr>
          <a:xfrm>
            <a:off x="11324492" y="2907326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序列号单调性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68892" y="3313726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序列号必须单调递增，防止重放攻击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10765692" y="3923326"/>
            <a:ext cx="4660900" cy="1066800"/>
          </a:xfrm>
          <a:custGeom>
            <a:avLst/>
            <a:gdLst/>
            <a:ahLst/>
            <a:cxnLst/>
            <a:rect l="l" t="t" r="r" b="b"/>
            <a:pathLst>
              <a:path w="4660900" h="1066800">
                <a:moveTo>
                  <a:pt x="101602" y="0"/>
                </a:moveTo>
                <a:lnTo>
                  <a:pt x="4559298" y="0"/>
                </a:lnTo>
                <a:cubicBezTo>
                  <a:pt x="4615411" y="0"/>
                  <a:pt x="4660900" y="45489"/>
                  <a:pt x="4660900" y="101602"/>
                </a:cubicBezTo>
                <a:lnTo>
                  <a:pt x="4660900" y="965198"/>
                </a:lnTo>
                <a:cubicBezTo>
                  <a:pt x="4660900" y="1021311"/>
                  <a:pt x="4615411" y="1066800"/>
                  <a:pt x="45592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0994292" y="417732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45733" y="163711"/>
                </a:moveTo>
                <a:lnTo>
                  <a:pt x="39489" y="57468"/>
                </a:lnTo>
                <a:cubicBezTo>
                  <a:pt x="30599" y="69929"/>
                  <a:pt x="25400" y="85169"/>
                  <a:pt x="25400" y="101600"/>
                </a:cubicBezTo>
                <a:cubicBezTo>
                  <a:pt x="25400" y="143669"/>
                  <a:pt x="59531" y="177800"/>
                  <a:pt x="101600" y="177800"/>
                </a:cubicBezTo>
                <a:cubicBezTo>
                  <a:pt x="118070" y="177800"/>
                  <a:pt x="133310" y="172601"/>
                  <a:pt x="145733" y="163711"/>
                </a:cubicBezTo>
                <a:close/>
                <a:moveTo>
                  <a:pt x="163711" y="145733"/>
                </a:moveTo>
                <a:cubicBezTo>
                  <a:pt x="172601" y="133271"/>
                  <a:pt x="177800" y="118031"/>
                  <a:pt x="177800" y="101600"/>
                </a:cubicBezTo>
                <a:cubicBezTo>
                  <a:pt x="177800" y="59531"/>
                  <a:pt x="143669" y="25400"/>
                  <a:pt x="101600" y="25400"/>
                </a:cubicBezTo>
                <a:cubicBezTo>
                  <a:pt x="85130" y="25400"/>
                  <a:pt x="69890" y="30599"/>
                  <a:pt x="57468" y="39489"/>
                </a:cubicBezTo>
                <a:lnTo>
                  <a:pt x="163711" y="145733"/>
                </a:lnTo>
                <a:close/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0" name="Text 68"/>
          <p:cNvSpPr/>
          <p:nvPr/>
        </p:nvSpPr>
        <p:spPr>
          <a:xfrm>
            <a:off x="11324492" y="4126526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防重放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10968892" y="4532926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不允许重复消息，确保消息唯一性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10765692" y="5142526"/>
            <a:ext cx="4660900" cy="1066800"/>
          </a:xfrm>
          <a:custGeom>
            <a:avLst/>
            <a:gdLst/>
            <a:ahLst/>
            <a:cxnLst/>
            <a:rect l="l" t="t" r="r" b="b"/>
            <a:pathLst>
              <a:path w="4660900" h="1066800">
                <a:moveTo>
                  <a:pt x="101602" y="0"/>
                </a:moveTo>
                <a:lnTo>
                  <a:pt x="4559298" y="0"/>
                </a:lnTo>
                <a:cubicBezTo>
                  <a:pt x="4615411" y="0"/>
                  <a:pt x="4660900" y="45489"/>
                  <a:pt x="4660900" y="101602"/>
                </a:cubicBezTo>
                <a:lnTo>
                  <a:pt x="4660900" y="965198"/>
                </a:lnTo>
                <a:cubicBezTo>
                  <a:pt x="4660900" y="1021311"/>
                  <a:pt x="4615411" y="1066800"/>
                  <a:pt x="45592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0994292" y="539652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11390" y="25400"/>
                  <a:pt x="0" y="36790"/>
                  <a:pt x="0" y="50800"/>
                </a:cubicBezTo>
                <a:lnTo>
                  <a:pt x="0" y="152400"/>
                </a:lnTo>
                <a:cubicBezTo>
                  <a:pt x="0" y="166410"/>
                  <a:pt x="11390" y="177800"/>
                  <a:pt x="25400" y="177800"/>
                </a:cubicBezTo>
                <a:lnTo>
                  <a:pt x="177800" y="177800"/>
                </a:lnTo>
                <a:cubicBezTo>
                  <a:pt x="191810" y="177800"/>
                  <a:pt x="203200" y="166410"/>
                  <a:pt x="203200" y="152400"/>
                </a:cubicBezTo>
                <a:lnTo>
                  <a:pt x="203200" y="50800"/>
                </a:lnTo>
                <a:cubicBezTo>
                  <a:pt x="203200" y="36790"/>
                  <a:pt x="191810" y="25400"/>
                  <a:pt x="177800" y="25400"/>
                </a:cubicBezTo>
                <a:lnTo>
                  <a:pt x="25400" y="25400"/>
                </a:lnTo>
                <a:close/>
                <a:moveTo>
                  <a:pt x="34925" y="50800"/>
                </a:moveTo>
                <a:lnTo>
                  <a:pt x="168275" y="50800"/>
                </a:lnTo>
                <a:cubicBezTo>
                  <a:pt x="173553" y="50800"/>
                  <a:pt x="177800" y="55047"/>
                  <a:pt x="177800" y="60325"/>
                </a:cubicBezTo>
                <a:cubicBezTo>
                  <a:pt x="177800" y="65603"/>
                  <a:pt x="173553" y="69850"/>
                  <a:pt x="168275" y="69850"/>
                </a:cubicBezTo>
                <a:lnTo>
                  <a:pt x="34925" y="69850"/>
                </a:lnTo>
                <a:cubicBezTo>
                  <a:pt x="29647" y="69850"/>
                  <a:pt x="25400" y="65603"/>
                  <a:pt x="25400" y="60325"/>
                </a:cubicBezTo>
                <a:cubicBezTo>
                  <a:pt x="25400" y="55047"/>
                  <a:pt x="29647" y="50800"/>
                  <a:pt x="34925" y="508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4" name="Text 72"/>
          <p:cNvSpPr/>
          <p:nvPr/>
        </p:nvSpPr>
        <p:spPr>
          <a:xfrm>
            <a:off x="11324492" y="5345726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窗口不变式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968892" y="5752126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接收窗口大小限制，防止缓冲区溢出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10765692" y="6361726"/>
            <a:ext cx="4660900" cy="1066800"/>
          </a:xfrm>
          <a:custGeom>
            <a:avLst/>
            <a:gdLst/>
            <a:ahLst/>
            <a:cxnLst/>
            <a:rect l="l" t="t" r="r" b="b"/>
            <a:pathLst>
              <a:path w="4660900" h="1066800">
                <a:moveTo>
                  <a:pt x="101602" y="0"/>
                </a:moveTo>
                <a:lnTo>
                  <a:pt x="4559298" y="0"/>
                </a:lnTo>
                <a:cubicBezTo>
                  <a:pt x="4615411" y="0"/>
                  <a:pt x="4660900" y="45489"/>
                  <a:pt x="4660900" y="101602"/>
                </a:cubicBezTo>
                <a:lnTo>
                  <a:pt x="4660900" y="965198"/>
                </a:lnTo>
                <a:cubicBezTo>
                  <a:pt x="4660900" y="1021311"/>
                  <a:pt x="4615411" y="1066800"/>
                  <a:pt x="45592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10994292" y="6615726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8" name="Text 76"/>
          <p:cNvSpPr/>
          <p:nvPr/>
        </p:nvSpPr>
        <p:spPr>
          <a:xfrm>
            <a:off x="11324492" y="6564926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校验和有效性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10968892" y="6971326"/>
            <a:ext cx="434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数据完整性验证，检测数据篡改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CORE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核心技术：RISC-V仿真与PMP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8940800" cy="3048000"/>
          </a:xfrm>
          <a:custGeom>
            <a:avLst/>
            <a:gdLst/>
            <a:ahLst/>
            <a:cxnLst/>
            <a:rect l="l" t="t" r="r" b="b"/>
            <a:pathLst>
              <a:path w="8940800" h="3048000">
                <a:moveTo>
                  <a:pt x="50800" y="0"/>
                </a:moveTo>
                <a:lnTo>
                  <a:pt x="8788400" y="0"/>
                </a:lnTo>
                <a:cubicBezTo>
                  <a:pt x="8872512" y="0"/>
                  <a:pt x="8940800" y="68288"/>
                  <a:pt x="8940800" y="152400"/>
                </a:cubicBezTo>
                <a:lnTo>
                  <a:pt x="8940800" y="2895600"/>
                </a:lnTo>
                <a:cubicBezTo>
                  <a:pt x="8940800" y="2979712"/>
                  <a:pt x="8872512" y="3048000"/>
                  <a:pt x="8788400" y="3048000"/>
                </a:cubicBezTo>
                <a:lnTo>
                  <a:pt x="50800" y="3048000"/>
                </a:lnTo>
                <a:cubicBezTo>
                  <a:pt x="22763" y="3048000"/>
                  <a:pt x="0" y="3025237"/>
                  <a:pt x="0" y="299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50800" h="3048000">
                <a:moveTo>
                  <a:pt x="50800" y="0"/>
                </a:moveTo>
                <a:lnTo>
                  <a:pt x="50800" y="0"/>
                </a:lnTo>
                <a:lnTo>
                  <a:pt x="50800" y="3048000"/>
                </a:lnTo>
                <a:lnTo>
                  <a:pt x="50800" y="3048000"/>
                </a:lnTo>
                <a:cubicBezTo>
                  <a:pt x="22763" y="3048000"/>
                  <a:pt x="0" y="3025237"/>
                  <a:pt x="0" y="2997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133600"/>
            <a:ext cx="845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RV32I指令集模拟器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" y="2743200"/>
            <a:ext cx="8407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完整的RISC-V RV32I基础整数指令集模拟器，支持寄存器文件管理、内存访问、程序执行、断点调试等功能，可模拟国产RISC-V芯片的执行环境。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3600" y="3606800"/>
            <a:ext cx="1955800" cy="965200"/>
          </a:xfrm>
          <a:custGeom>
            <a:avLst/>
            <a:gdLst/>
            <a:ahLst/>
            <a:cxnLst/>
            <a:rect l="l" t="t" r="r" b="b"/>
            <a:pathLst>
              <a:path w="1955800" h="965200">
                <a:moveTo>
                  <a:pt x="101597" y="0"/>
                </a:moveTo>
                <a:lnTo>
                  <a:pt x="1854203" y="0"/>
                </a:lnTo>
                <a:cubicBezTo>
                  <a:pt x="1910313" y="0"/>
                  <a:pt x="1955800" y="45487"/>
                  <a:pt x="1955800" y="101597"/>
                </a:cubicBezTo>
                <a:lnTo>
                  <a:pt x="1955800" y="863603"/>
                </a:lnTo>
                <a:cubicBezTo>
                  <a:pt x="1955800" y="919713"/>
                  <a:pt x="1910313" y="965200"/>
                  <a:pt x="1854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691603" y="375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" y="41656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32个寄存器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6868" y="3606800"/>
            <a:ext cx="1955800" cy="965200"/>
          </a:xfrm>
          <a:custGeom>
            <a:avLst/>
            <a:gdLst/>
            <a:ahLst/>
            <a:cxnLst/>
            <a:rect l="l" t="t" r="r" b="b"/>
            <a:pathLst>
              <a:path w="1955800" h="965200">
                <a:moveTo>
                  <a:pt x="101597" y="0"/>
                </a:moveTo>
                <a:lnTo>
                  <a:pt x="1854203" y="0"/>
                </a:lnTo>
                <a:cubicBezTo>
                  <a:pt x="1910313" y="0"/>
                  <a:pt x="1955800" y="45487"/>
                  <a:pt x="1955800" y="101597"/>
                </a:cubicBezTo>
                <a:lnTo>
                  <a:pt x="1955800" y="863603"/>
                </a:lnTo>
                <a:cubicBezTo>
                  <a:pt x="1955800" y="919713"/>
                  <a:pt x="1910313" y="965200"/>
                  <a:pt x="1854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804871" y="3759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80605"/>
                </a:lnTo>
                <a:cubicBezTo>
                  <a:pt x="0" y="84653"/>
                  <a:pt x="2619" y="88106"/>
                  <a:pt x="6013" y="90309"/>
                </a:cubicBezTo>
                <a:cubicBezTo>
                  <a:pt x="13871" y="95429"/>
                  <a:pt x="19050" y="104239"/>
                  <a:pt x="19050" y="114300"/>
                </a:cubicBezTo>
                <a:cubicBezTo>
                  <a:pt x="19050" y="124361"/>
                  <a:pt x="13871" y="133171"/>
                  <a:pt x="6013" y="138291"/>
                </a:cubicBezTo>
                <a:cubicBezTo>
                  <a:pt x="2619" y="140494"/>
                  <a:pt x="0" y="143947"/>
                  <a:pt x="0" y="147995"/>
                </a:cubicBezTo>
                <a:lnTo>
                  <a:pt x="0" y="180975"/>
                </a:lnTo>
                <a:lnTo>
                  <a:pt x="304800" y="180975"/>
                </a:lnTo>
                <a:lnTo>
                  <a:pt x="304800" y="147995"/>
                </a:lnTo>
                <a:cubicBezTo>
                  <a:pt x="304800" y="143947"/>
                  <a:pt x="302181" y="140494"/>
                  <a:pt x="298787" y="138291"/>
                </a:cubicBezTo>
                <a:cubicBezTo>
                  <a:pt x="290929" y="133171"/>
                  <a:pt x="285750" y="124361"/>
                  <a:pt x="285750" y="114300"/>
                </a:cubicBezTo>
                <a:cubicBezTo>
                  <a:pt x="285750" y="104239"/>
                  <a:pt x="290929" y="95429"/>
                  <a:pt x="298787" y="90309"/>
                </a:cubicBezTo>
                <a:cubicBezTo>
                  <a:pt x="302181" y="88106"/>
                  <a:pt x="304800" y="84653"/>
                  <a:pt x="304800" y="80605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304800" y="247650"/>
                </a:moveTo>
                <a:lnTo>
                  <a:pt x="304800" y="209550"/>
                </a:lnTo>
                <a:lnTo>
                  <a:pt x="0" y="209550"/>
                </a:lnTo>
                <a:lnTo>
                  <a:pt x="0" y="247650"/>
                </a:lnTo>
                <a:cubicBezTo>
                  <a:pt x="0" y="258187"/>
                  <a:pt x="8513" y="266700"/>
                  <a:pt x="19050" y="266700"/>
                </a:cubicBezTo>
                <a:lnTo>
                  <a:pt x="57150" y="266700"/>
                </a:lnTo>
                <a:lnTo>
                  <a:pt x="57150" y="252413"/>
                </a:lnTo>
                <a:cubicBezTo>
                  <a:pt x="57150" y="244495"/>
                  <a:pt x="63520" y="238125"/>
                  <a:pt x="71438" y="238125"/>
                </a:cubicBezTo>
                <a:cubicBezTo>
                  <a:pt x="79355" y="238125"/>
                  <a:pt x="85725" y="244495"/>
                  <a:pt x="85725" y="252413"/>
                </a:cubicBezTo>
                <a:lnTo>
                  <a:pt x="85725" y="266700"/>
                </a:lnTo>
                <a:lnTo>
                  <a:pt x="138113" y="266700"/>
                </a:lnTo>
                <a:lnTo>
                  <a:pt x="138113" y="252413"/>
                </a:lnTo>
                <a:cubicBezTo>
                  <a:pt x="138113" y="244495"/>
                  <a:pt x="144482" y="238125"/>
                  <a:pt x="152400" y="238125"/>
                </a:cubicBezTo>
                <a:cubicBezTo>
                  <a:pt x="160318" y="238125"/>
                  <a:pt x="166688" y="244495"/>
                  <a:pt x="166688" y="252413"/>
                </a:cubicBezTo>
                <a:lnTo>
                  <a:pt x="166688" y="266700"/>
                </a:lnTo>
                <a:lnTo>
                  <a:pt x="219075" y="266700"/>
                </a:lnTo>
                <a:lnTo>
                  <a:pt x="219075" y="252413"/>
                </a:lnTo>
                <a:cubicBezTo>
                  <a:pt x="219075" y="244495"/>
                  <a:pt x="225445" y="238125"/>
                  <a:pt x="233363" y="238125"/>
                </a:cubicBezTo>
                <a:cubicBezTo>
                  <a:pt x="241280" y="238125"/>
                  <a:pt x="247650" y="244495"/>
                  <a:pt x="247650" y="252413"/>
                </a:cubicBezTo>
                <a:lnTo>
                  <a:pt x="247650" y="266700"/>
                </a:ln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lose/>
                <a:moveTo>
                  <a:pt x="95250" y="95250"/>
                </a:moveTo>
                <a:lnTo>
                  <a:pt x="95250" y="133350"/>
                </a:lnTo>
                <a:cubicBezTo>
                  <a:pt x="95250" y="143887"/>
                  <a:pt x="86737" y="152400"/>
                  <a:pt x="76200" y="152400"/>
                </a:cubicBezTo>
                <a:cubicBezTo>
                  <a:pt x="65663" y="152400"/>
                  <a:pt x="57150" y="143887"/>
                  <a:pt x="57150" y="133350"/>
                </a:cubicBezTo>
                <a:lnTo>
                  <a:pt x="57150" y="95250"/>
                </a:lnTo>
                <a:cubicBezTo>
                  <a:pt x="57150" y="84713"/>
                  <a:pt x="65663" y="76200"/>
                  <a:pt x="76200" y="76200"/>
                </a:cubicBezTo>
                <a:cubicBezTo>
                  <a:pt x="86737" y="76200"/>
                  <a:pt x="95250" y="84713"/>
                  <a:pt x="95250" y="95250"/>
                </a:cubicBezTo>
                <a:close/>
                <a:moveTo>
                  <a:pt x="171450" y="95250"/>
                </a:moveTo>
                <a:lnTo>
                  <a:pt x="171450" y="133350"/>
                </a:lnTo>
                <a:cubicBezTo>
                  <a:pt x="171450" y="143887"/>
                  <a:pt x="162937" y="152400"/>
                  <a:pt x="152400" y="152400"/>
                </a:cubicBezTo>
                <a:cubicBezTo>
                  <a:pt x="141863" y="152400"/>
                  <a:pt x="133350" y="143887"/>
                  <a:pt x="133350" y="13335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47650" y="95250"/>
                </a:moveTo>
                <a:lnTo>
                  <a:pt x="247650" y="133350"/>
                </a:lnTo>
                <a:cubicBezTo>
                  <a:pt x="247650" y="143887"/>
                  <a:pt x="239137" y="152400"/>
                  <a:pt x="228600" y="152400"/>
                </a:cubicBezTo>
                <a:cubicBezTo>
                  <a:pt x="218063" y="152400"/>
                  <a:pt x="209550" y="143887"/>
                  <a:pt x="209550" y="133350"/>
                </a:cubicBezTo>
                <a:lnTo>
                  <a:pt x="209550" y="95250"/>
                </a:lnTo>
                <a:cubicBezTo>
                  <a:pt x="209550" y="84713"/>
                  <a:pt x="218063" y="76200"/>
                  <a:pt x="228600" y="76200"/>
                </a:cubicBezTo>
                <a:cubicBezTo>
                  <a:pt x="239137" y="76200"/>
                  <a:pt x="247650" y="84713"/>
                  <a:pt x="247650" y="952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3084818" y="41656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64KB内存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0136" y="3606800"/>
            <a:ext cx="1955800" cy="965200"/>
          </a:xfrm>
          <a:custGeom>
            <a:avLst/>
            <a:gdLst/>
            <a:ahLst/>
            <a:cxnLst/>
            <a:rect l="l" t="t" r="r" b="b"/>
            <a:pathLst>
              <a:path w="1955800" h="965200">
                <a:moveTo>
                  <a:pt x="101597" y="0"/>
                </a:moveTo>
                <a:lnTo>
                  <a:pt x="1854203" y="0"/>
                </a:lnTo>
                <a:cubicBezTo>
                  <a:pt x="1910313" y="0"/>
                  <a:pt x="1955800" y="45487"/>
                  <a:pt x="1955800" y="101597"/>
                </a:cubicBezTo>
                <a:lnTo>
                  <a:pt x="1955800" y="863603"/>
                </a:lnTo>
                <a:cubicBezTo>
                  <a:pt x="1955800" y="919713"/>
                  <a:pt x="1910313" y="965200"/>
                  <a:pt x="1854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899089" y="3759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5198086" y="41656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47条指令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203404" y="3606800"/>
            <a:ext cx="1955800" cy="965200"/>
          </a:xfrm>
          <a:custGeom>
            <a:avLst/>
            <a:gdLst/>
            <a:ahLst/>
            <a:cxnLst/>
            <a:rect l="l" t="t" r="r" b="b"/>
            <a:pathLst>
              <a:path w="1955800" h="965200">
                <a:moveTo>
                  <a:pt x="101597" y="0"/>
                </a:moveTo>
                <a:lnTo>
                  <a:pt x="1854203" y="0"/>
                </a:lnTo>
                <a:cubicBezTo>
                  <a:pt x="1910313" y="0"/>
                  <a:pt x="1955800" y="45487"/>
                  <a:pt x="1955800" y="101597"/>
                </a:cubicBezTo>
                <a:lnTo>
                  <a:pt x="1955800" y="863603"/>
                </a:lnTo>
                <a:cubicBezTo>
                  <a:pt x="1955800" y="919713"/>
                  <a:pt x="1910313" y="965200"/>
                  <a:pt x="1854203" y="965200"/>
                </a:cubicBezTo>
                <a:lnTo>
                  <a:pt x="101597" y="965200"/>
                </a:lnTo>
                <a:cubicBezTo>
                  <a:pt x="45487" y="965200"/>
                  <a:pt x="0" y="919713"/>
                  <a:pt x="0" y="8636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012418" y="37592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14300" y="57150"/>
                </a:moveTo>
                <a:cubicBezTo>
                  <a:pt x="114300" y="25598"/>
                  <a:pt x="139898" y="0"/>
                  <a:pt x="171450" y="0"/>
                </a:cubicBezTo>
                <a:cubicBezTo>
                  <a:pt x="203002" y="0"/>
                  <a:pt x="228600" y="25598"/>
                  <a:pt x="228600" y="57150"/>
                </a:cubicBezTo>
                <a:lnTo>
                  <a:pt x="228600" y="59293"/>
                </a:lnTo>
                <a:cubicBezTo>
                  <a:pt x="228600" y="68640"/>
                  <a:pt x="221040" y="76200"/>
                  <a:pt x="211693" y="76200"/>
                </a:cubicBezTo>
                <a:lnTo>
                  <a:pt x="131266" y="76200"/>
                </a:lnTo>
                <a:cubicBezTo>
                  <a:pt x="121920" y="76200"/>
                  <a:pt x="114360" y="68640"/>
                  <a:pt x="114360" y="59293"/>
                </a:cubicBezTo>
                <a:lnTo>
                  <a:pt x="114360" y="57150"/>
                </a:lnTo>
                <a:close/>
                <a:moveTo>
                  <a:pt x="320040" y="64770"/>
                </a:moveTo>
                <a:cubicBezTo>
                  <a:pt x="326350" y="73164"/>
                  <a:pt x="324624" y="85130"/>
                  <a:pt x="316230" y="91440"/>
                </a:cubicBezTo>
                <a:lnTo>
                  <a:pt x="258008" y="135076"/>
                </a:lnTo>
                <a:cubicBezTo>
                  <a:pt x="261164" y="140375"/>
                  <a:pt x="263545" y="146209"/>
                  <a:pt x="265033" y="152400"/>
                </a:cubicBezTo>
                <a:lnTo>
                  <a:pt x="323850" y="152400"/>
                </a:lnTo>
                <a:cubicBezTo>
                  <a:pt x="334387" y="152400"/>
                  <a:pt x="342900" y="160913"/>
                  <a:pt x="342900" y="171450"/>
                </a:cubicBezTo>
                <a:cubicBezTo>
                  <a:pt x="342900" y="181987"/>
                  <a:pt x="334387" y="190500"/>
                  <a:pt x="323850" y="190500"/>
                </a:cubicBezTo>
                <a:lnTo>
                  <a:pt x="266700" y="190500"/>
                </a:lnTo>
                <a:lnTo>
                  <a:pt x="266700" y="209550"/>
                </a:lnTo>
                <a:cubicBezTo>
                  <a:pt x="266700" y="211098"/>
                  <a:pt x="266640" y="212705"/>
                  <a:pt x="266581" y="214253"/>
                </a:cubicBezTo>
                <a:lnTo>
                  <a:pt x="316230" y="251460"/>
                </a:lnTo>
                <a:cubicBezTo>
                  <a:pt x="324624" y="257770"/>
                  <a:pt x="326350" y="269736"/>
                  <a:pt x="320040" y="278130"/>
                </a:cubicBezTo>
                <a:cubicBezTo>
                  <a:pt x="313730" y="286524"/>
                  <a:pt x="301764" y="288250"/>
                  <a:pt x="293370" y="281940"/>
                </a:cubicBezTo>
                <a:lnTo>
                  <a:pt x="255806" y="253782"/>
                </a:lnTo>
                <a:cubicBezTo>
                  <a:pt x="241995" y="280095"/>
                  <a:pt x="216218" y="299145"/>
                  <a:pt x="185738" y="303728"/>
                </a:cubicBezTo>
                <a:lnTo>
                  <a:pt x="185738" y="166688"/>
                </a:lnTo>
                <a:cubicBezTo>
                  <a:pt x="185738" y="158770"/>
                  <a:pt x="179368" y="152400"/>
                  <a:pt x="171450" y="152400"/>
                </a:cubicBezTo>
                <a:cubicBezTo>
                  <a:pt x="163532" y="152400"/>
                  <a:pt x="157163" y="158770"/>
                  <a:pt x="157163" y="166688"/>
                </a:cubicBezTo>
                <a:lnTo>
                  <a:pt x="157163" y="303728"/>
                </a:lnTo>
                <a:cubicBezTo>
                  <a:pt x="126683" y="299145"/>
                  <a:pt x="100905" y="280095"/>
                  <a:pt x="87094" y="253782"/>
                </a:cubicBezTo>
                <a:lnTo>
                  <a:pt x="49530" y="281940"/>
                </a:lnTo>
                <a:cubicBezTo>
                  <a:pt x="41136" y="288250"/>
                  <a:pt x="29170" y="286524"/>
                  <a:pt x="22860" y="278130"/>
                </a:cubicBezTo>
                <a:cubicBezTo>
                  <a:pt x="16550" y="269736"/>
                  <a:pt x="18276" y="257770"/>
                  <a:pt x="26670" y="251460"/>
                </a:cubicBezTo>
                <a:lnTo>
                  <a:pt x="76319" y="214253"/>
                </a:lnTo>
                <a:cubicBezTo>
                  <a:pt x="76260" y="212705"/>
                  <a:pt x="76200" y="211157"/>
                  <a:pt x="76200" y="209550"/>
                </a:cubicBezTo>
                <a:lnTo>
                  <a:pt x="76200" y="190500"/>
                </a:lnTo>
                <a:lnTo>
                  <a:pt x="19050" y="190500"/>
                </a:lnTo>
                <a:cubicBezTo>
                  <a:pt x="8513" y="190500"/>
                  <a:pt x="0" y="181987"/>
                  <a:pt x="0" y="171450"/>
                </a:cubicBezTo>
                <a:cubicBezTo>
                  <a:pt x="0" y="160913"/>
                  <a:pt x="8513" y="152400"/>
                  <a:pt x="19050" y="152400"/>
                </a:cubicBezTo>
                <a:lnTo>
                  <a:pt x="77867" y="152400"/>
                </a:lnTo>
                <a:cubicBezTo>
                  <a:pt x="79355" y="146209"/>
                  <a:pt x="81736" y="140375"/>
                  <a:pt x="84892" y="135076"/>
                </a:cubicBezTo>
                <a:lnTo>
                  <a:pt x="26670" y="91440"/>
                </a:lnTo>
                <a:cubicBezTo>
                  <a:pt x="18276" y="85130"/>
                  <a:pt x="16550" y="73164"/>
                  <a:pt x="22860" y="64770"/>
                </a:cubicBezTo>
                <a:cubicBezTo>
                  <a:pt x="29170" y="56376"/>
                  <a:pt x="41136" y="54650"/>
                  <a:pt x="49530" y="60960"/>
                </a:cubicBezTo>
                <a:lnTo>
                  <a:pt x="114300" y="109537"/>
                </a:lnTo>
                <a:cubicBezTo>
                  <a:pt x="121622" y="106501"/>
                  <a:pt x="129659" y="104775"/>
                  <a:pt x="138113" y="104775"/>
                </a:cubicBezTo>
                <a:lnTo>
                  <a:pt x="204787" y="104775"/>
                </a:lnTo>
                <a:cubicBezTo>
                  <a:pt x="213241" y="104775"/>
                  <a:pt x="221278" y="106442"/>
                  <a:pt x="228600" y="109537"/>
                </a:cubicBezTo>
                <a:lnTo>
                  <a:pt x="293370" y="60960"/>
                </a:lnTo>
                <a:cubicBezTo>
                  <a:pt x="301764" y="54650"/>
                  <a:pt x="313730" y="56376"/>
                  <a:pt x="320040" y="6477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1354" y="4165600"/>
            <a:ext cx="173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断点调试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5130800"/>
            <a:ext cx="4356100" cy="4953000"/>
          </a:xfrm>
          <a:custGeom>
            <a:avLst/>
            <a:gdLst/>
            <a:ahLst/>
            <a:cxnLst/>
            <a:rect l="l" t="t" r="r" b="b"/>
            <a:pathLst>
              <a:path w="4356100" h="4953000">
                <a:moveTo>
                  <a:pt x="152420" y="0"/>
                </a:moveTo>
                <a:lnTo>
                  <a:pt x="4203680" y="0"/>
                </a:lnTo>
                <a:cubicBezTo>
                  <a:pt x="4287859" y="0"/>
                  <a:pt x="4356100" y="68241"/>
                  <a:pt x="4356100" y="152420"/>
                </a:cubicBezTo>
                <a:lnTo>
                  <a:pt x="4356100" y="4800580"/>
                </a:lnTo>
                <a:cubicBezTo>
                  <a:pt x="4356100" y="4884759"/>
                  <a:pt x="4287859" y="4953000"/>
                  <a:pt x="4203680" y="4953000"/>
                </a:cubicBezTo>
                <a:lnTo>
                  <a:pt x="152420" y="4953000"/>
                </a:lnTo>
                <a:cubicBezTo>
                  <a:pt x="68241" y="4953000"/>
                  <a:pt x="0" y="4884759"/>
                  <a:pt x="0" y="4800580"/>
                </a:cubicBezTo>
                <a:lnTo>
                  <a:pt x="0" y="152420"/>
                </a:lnTo>
                <a:cubicBezTo>
                  <a:pt x="0" y="68297"/>
                  <a:pt x="68297" y="0"/>
                  <a:pt x="15242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62000" y="5384800"/>
            <a:ext cx="396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支持的指令类型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928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62000" y="58928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61" y="5918206"/>
            <a:ext cx="1435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ADD, SUB, ADDI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2992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62992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逻辑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61" y="6324606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AND, OR, XOR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7056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67056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比较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71661" y="6731006"/>
            <a:ext cx="93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SLT, SLTU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1120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62000" y="71120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移位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71661" y="7137406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SLL, SRL, SRA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62000" y="75184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75184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371661" y="7543806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BEQ, BNE, BLT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79248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79248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加载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371661" y="7950206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LB, LH, LW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331206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62000" y="8331206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存储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371661" y="8356606"/>
            <a:ext cx="101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SB, SH, SW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115536" y="5130800"/>
            <a:ext cx="4356100" cy="4953000"/>
          </a:xfrm>
          <a:custGeom>
            <a:avLst/>
            <a:gdLst/>
            <a:ahLst/>
            <a:cxnLst/>
            <a:rect l="l" t="t" r="r" b="b"/>
            <a:pathLst>
              <a:path w="4356100" h="4953000">
                <a:moveTo>
                  <a:pt x="152420" y="0"/>
                </a:moveTo>
                <a:lnTo>
                  <a:pt x="4203680" y="0"/>
                </a:lnTo>
                <a:cubicBezTo>
                  <a:pt x="4287859" y="0"/>
                  <a:pt x="4356100" y="68241"/>
                  <a:pt x="4356100" y="152420"/>
                </a:cubicBezTo>
                <a:lnTo>
                  <a:pt x="4356100" y="4800580"/>
                </a:lnTo>
                <a:cubicBezTo>
                  <a:pt x="4356100" y="4884759"/>
                  <a:pt x="4287859" y="4953000"/>
                  <a:pt x="4203680" y="4953000"/>
                </a:cubicBezTo>
                <a:lnTo>
                  <a:pt x="152420" y="4953000"/>
                </a:lnTo>
                <a:cubicBezTo>
                  <a:pt x="68241" y="4953000"/>
                  <a:pt x="0" y="4884759"/>
                  <a:pt x="0" y="4800580"/>
                </a:cubicBezTo>
                <a:lnTo>
                  <a:pt x="0" y="152420"/>
                </a:lnTo>
                <a:cubicBezTo>
                  <a:pt x="0" y="68297"/>
                  <a:pt x="68297" y="0"/>
                  <a:pt x="15242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69536" y="5384800"/>
            <a:ext cx="396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PMP权限检查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369536" y="5892806"/>
            <a:ext cx="39497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PMP(Physical Memory Protection)物理内存保护，支持8个可配置区域，每个区域可独立设置读、写、执行权限。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369536" y="7035806"/>
            <a:ext cx="3848100" cy="558800"/>
          </a:xfrm>
          <a:custGeom>
            <a:avLst/>
            <a:gdLst/>
            <a:ahLst/>
            <a:cxnLst/>
            <a:rect l="l" t="t" r="r" b="b"/>
            <a:pathLst>
              <a:path w="3848100" h="558800">
                <a:moveTo>
                  <a:pt x="101601" y="0"/>
                </a:moveTo>
                <a:lnTo>
                  <a:pt x="3746499" y="0"/>
                </a:lnTo>
                <a:cubicBezTo>
                  <a:pt x="3802612" y="0"/>
                  <a:pt x="3848100" y="45488"/>
                  <a:pt x="3848100" y="101601"/>
                </a:cubicBezTo>
                <a:lnTo>
                  <a:pt x="3848100" y="457199"/>
                </a:lnTo>
                <a:cubicBezTo>
                  <a:pt x="3848100" y="513312"/>
                  <a:pt x="3802612" y="558800"/>
                  <a:pt x="3746499" y="558800"/>
                </a:cubicBezTo>
                <a:lnTo>
                  <a:pt x="101601" y="558800"/>
                </a:lnTo>
                <a:cubicBezTo>
                  <a:pt x="45488" y="558800"/>
                  <a:pt x="0" y="513312"/>
                  <a:pt x="0" y="4571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477486" y="7188206"/>
            <a:ext cx="180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代码区: R-X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298654" y="7188206"/>
            <a:ext cx="180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数据区: RW-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779794" y="1834662"/>
            <a:ext cx="5968023" cy="5447323"/>
          </a:xfrm>
          <a:custGeom>
            <a:avLst/>
            <a:gdLst/>
            <a:ahLst/>
            <a:cxnLst/>
            <a:rect l="l" t="t" r="r" b="b"/>
            <a:pathLst>
              <a:path w="5968023" h="5447323">
                <a:moveTo>
                  <a:pt x="152416" y="0"/>
                </a:moveTo>
                <a:lnTo>
                  <a:pt x="5815607" y="0"/>
                </a:lnTo>
                <a:cubicBezTo>
                  <a:pt x="5899784" y="0"/>
                  <a:pt x="5968023" y="68239"/>
                  <a:pt x="5968023" y="152416"/>
                </a:cubicBezTo>
                <a:lnTo>
                  <a:pt x="5968023" y="5294907"/>
                </a:lnTo>
                <a:cubicBezTo>
                  <a:pt x="5968023" y="5379084"/>
                  <a:pt x="5899784" y="5447323"/>
                  <a:pt x="5815607" y="5447323"/>
                </a:cubicBezTo>
                <a:lnTo>
                  <a:pt x="152416" y="5447323"/>
                </a:lnTo>
                <a:cubicBezTo>
                  <a:pt x="68239" y="5447323"/>
                  <a:pt x="0" y="5379084"/>
                  <a:pt x="0" y="5294907"/>
                </a:cubicBezTo>
                <a:lnTo>
                  <a:pt x="0" y="152416"/>
                </a:lnTo>
                <a:cubicBezTo>
                  <a:pt x="0" y="68295"/>
                  <a:pt x="68295" y="0"/>
                  <a:pt x="15241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90455" y="2145326"/>
            <a:ext cx="547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内存区域配置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090455" y="2704126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293655" y="2907326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代码区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4762468" y="2907326"/>
            <a:ext cx="469900" cy="304800"/>
          </a:xfrm>
          <a:custGeom>
            <a:avLst/>
            <a:gdLst/>
            <a:ahLst/>
            <a:cxnLst/>
            <a:rect l="l" t="t" r="r" b="b"/>
            <a:pathLst>
              <a:path w="469900" h="304800">
                <a:moveTo>
                  <a:pt x="50801" y="0"/>
                </a:moveTo>
                <a:lnTo>
                  <a:pt x="419099" y="0"/>
                </a:lnTo>
                <a:cubicBezTo>
                  <a:pt x="447156" y="0"/>
                  <a:pt x="469900" y="22744"/>
                  <a:pt x="469900" y="50801"/>
                </a:cubicBezTo>
                <a:lnTo>
                  <a:pt x="469900" y="253999"/>
                </a:lnTo>
                <a:cubicBezTo>
                  <a:pt x="469900" y="282056"/>
                  <a:pt x="447156" y="304800"/>
                  <a:pt x="4190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4762468" y="2907326"/>
            <a:ext cx="5461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R-X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293655" y="3313726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地址范围: 0x0000 - 0x7FFF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93655" y="3618526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只读执行，防止代码被篡改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090455" y="4177326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93655" y="4380526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数据区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4711547" y="4380526"/>
            <a:ext cx="520700" cy="304800"/>
          </a:xfrm>
          <a:custGeom>
            <a:avLst/>
            <a:gdLst/>
            <a:ahLst/>
            <a:cxnLst/>
            <a:rect l="l" t="t" r="r" b="b"/>
            <a:pathLst>
              <a:path w="520700" h="304800">
                <a:moveTo>
                  <a:pt x="50801" y="0"/>
                </a:moveTo>
                <a:lnTo>
                  <a:pt x="469899" y="0"/>
                </a:lnTo>
                <a:cubicBezTo>
                  <a:pt x="497956" y="0"/>
                  <a:pt x="520700" y="22744"/>
                  <a:pt x="520700" y="50801"/>
                </a:cubicBezTo>
                <a:lnTo>
                  <a:pt x="520700" y="253999"/>
                </a:lnTo>
                <a:cubicBezTo>
                  <a:pt x="520700" y="282056"/>
                  <a:pt x="497956" y="304800"/>
                  <a:pt x="4698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2B7FFF">
              <a:alpha val="2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14711547" y="4380526"/>
            <a:ext cx="5969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1A2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RW-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293655" y="4786926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地址范围: 0x8000 - 0xFFFF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293655" y="5091726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读写权限，不可执行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0090455" y="5650526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93655" y="5853726"/>
            <a:ext cx="95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PMP区域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4624234" y="5853726"/>
            <a:ext cx="609600" cy="304800"/>
          </a:xfrm>
          <a:custGeom>
            <a:avLst/>
            <a:gdLst/>
            <a:ahLst/>
            <a:cxnLst/>
            <a:rect l="l" t="t" r="r" b="b"/>
            <a:pathLst>
              <a:path w="609600" h="304800">
                <a:moveTo>
                  <a:pt x="50801" y="0"/>
                </a:moveTo>
                <a:lnTo>
                  <a:pt x="558799" y="0"/>
                </a:lnTo>
                <a:cubicBezTo>
                  <a:pt x="586856" y="0"/>
                  <a:pt x="609600" y="22744"/>
                  <a:pt x="609600" y="50801"/>
                </a:cubicBezTo>
                <a:lnTo>
                  <a:pt x="609600" y="253999"/>
                </a:lnTo>
                <a:cubicBezTo>
                  <a:pt x="609600" y="282056"/>
                  <a:pt x="586856" y="304800"/>
                  <a:pt x="558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4624234" y="5853726"/>
            <a:ext cx="685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8区域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293655" y="6260126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支持NAPOT/TOR/NA4模式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293655" y="6564926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灵活配置内存保护策略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773933" y="7541847"/>
            <a:ext cx="5969000" cy="2540000"/>
          </a:xfrm>
          <a:custGeom>
            <a:avLst/>
            <a:gdLst/>
            <a:ahLst/>
            <a:cxnLst/>
            <a:rect l="l" t="t" r="r" b="b"/>
            <a:pathLst>
              <a:path w="5969000" h="2540000">
                <a:moveTo>
                  <a:pt x="152400" y="0"/>
                </a:moveTo>
                <a:lnTo>
                  <a:pt x="5816600" y="0"/>
                </a:lnTo>
                <a:cubicBezTo>
                  <a:pt x="5900712" y="0"/>
                  <a:pt x="5969000" y="68288"/>
                  <a:pt x="5969000" y="152400"/>
                </a:cubicBezTo>
                <a:lnTo>
                  <a:pt x="5969000" y="2387600"/>
                </a:lnTo>
                <a:cubicBezTo>
                  <a:pt x="5969000" y="2471712"/>
                  <a:pt x="5900712" y="2540000"/>
                  <a:pt x="5816600" y="2540000"/>
                </a:cubicBezTo>
                <a:lnTo>
                  <a:pt x="152400" y="2540000"/>
                </a:lnTo>
                <a:cubicBezTo>
                  <a:pt x="68288" y="2540000"/>
                  <a:pt x="0" y="2471712"/>
                  <a:pt x="0" y="238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027933" y="7795847"/>
            <a:ext cx="557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应用价值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066033" y="8354647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2" name="Text 70"/>
          <p:cNvSpPr/>
          <p:nvPr/>
        </p:nvSpPr>
        <p:spPr>
          <a:xfrm>
            <a:off x="10383533" y="8303847"/>
            <a:ext cx="2603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验证国产RISC-V芯片安全性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66033" y="8761047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4" name="Text 72"/>
          <p:cNvSpPr/>
          <p:nvPr/>
        </p:nvSpPr>
        <p:spPr>
          <a:xfrm>
            <a:off x="10383533" y="8710247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检测内存访问越界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066033" y="9167447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6" name="Text 74"/>
          <p:cNvSpPr/>
          <p:nvPr/>
        </p:nvSpPr>
        <p:spPr>
          <a:xfrm>
            <a:off x="10383533" y="9116647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防止代码注入攻击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066033" y="9573847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8" name="Text 76"/>
          <p:cNvSpPr/>
          <p:nvPr/>
        </p:nvSpPr>
        <p:spPr>
          <a:xfrm>
            <a:off x="10383533" y="9523047"/>
            <a:ext cx="172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支持安全启动验证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PRODUCT FEATURES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产品功能展示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854200"/>
            <a:ext cx="4876800" cy="6781800"/>
          </a:xfrm>
          <a:custGeom>
            <a:avLst/>
            <a:gdLst/>
            <a:ahLst/>
            <a:cxnLst/>
            <a:rect l="l" t="t" r="r" b="b"/>
            <a:pathLst>
              <a:path w="4876800" h="6781800">
                <a:moveTo>
                  <a:pt x="50800" y="0"/>
                </a:moveTo>
                <a:lnTo>
                  <a:pt x="4826000" y="0"/>
                </a:lnTo>
                <a:cubicBezTo>
                  <a:pt x="4854056" y="0"/>
                  <a:pt x="4876800" y="22744"/>
                  <a:pt x="4876800" y="50800"/>
                </a:cubicBezTo>
                <a:lnTo>
                  <a:pt x="4876800" y="6629400"/>
                </a:lnTo>
                <a:cubicBezTo>
                  <a:pt x="4876800" y="6713512"/>
                  <a:pt x="4808512" y="6781800"/>
                  <a:pt x="4724400" y="6781800"/>
                </a:cubicBezTo>
                <a:lnTo>
                  <a:pt x="152400" y="6781800"/>
                </a:lnTo>
                <a:cubicBezTo>
                  <a:pt x="68288" y="6781800"/>
                  <a:pt x="0" y="6713512"/>
                  <a:pt x="0" y="6629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08000" y="1854200"/>
            <a:ext cx="4876800" cy="50800"/>
          </a:xfrm>
          <a:custGeom>
            <a:avLst/>
            <a:gdLst/>
            <a:ahLst/>
            <a:cxnLst/>
            <a:rect l="l" t="t" r="r" b="b"/>
            <a:pathLst>
              <a:path w="4876800" h="508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84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4003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185961" y="49709"/>
                </a:moveTo>
                <a:cubicBezTo>
                  <a:pt x="193700" y="39067"/>
                  <a:pt x="191319" y="24185"/>
                  <a:pt x="180677" y="16446"/>
                </a:cubicBezTo>
                <a:cubicBezTo>
                  <a:pt x="170036" y="8706"/>
                  <a:pt x="155153" y="11088"/>
                  <a:pt x="147414" y="21729"/>
                </a:cubicBezTo>
                <a:lnTo>
                  <a:pt x="68535" y="130150"/>
                </a:lnTo>
                <a:lnTo>
                  <a:pt x="40630" y="102245"/>
                </a:lnTo>
                <a:cubicBezTo>
                  <a:pt x="31328" y="92943"/>
                  <a:pt x="16222" y="92943"/>
                  <a:pt x="6921" y="102245"/>
                </a:cubicBezTo>
                <a:cubicBezTo>
                  <a:pt x="-2381" y="111547"/>
                  <a:pt x="-2381" y="126653"/>
                  <a:pt x="6921" y="135954"/>
                </a:cubicBezTo>
                <a:lnTo>
                  <a:pt x="54546" y="183579"/>
                </a:lnTo>
                <a:cubicBezTo>
                  <a:pt x="59457" y="188491"/>
                  <a:pt x="66303" y="191021"/>
                  <a:pt x="73223" y="190500"/>
                </a:cubicBezTo>
                <a:cubicBezTo>
                  <a:pt x="80144" y="189979"/>
                  <a:pt x="86544" y="186407"/>
                  <a:pt x="90636" y="180752"/>
                </a:cubicBezTo>
                <a:lnTo>
                  <a:pt x="185886" y="49783"/>
                </a:lnTo>
                <a:close/>
                <a:moveTo>
                  <a:pt x="281211" y="150912"/>
                </a:moveTo>
                <a:cubicBezTo>
                  <a:pt x="288950" y="140271"/>
                  <a:pt x="286569" y="125388"/>
                  <a:pt x="275927" y="117649"/>
                </a:cubicBezTo>
                <a:cubicBezTo>
                  <a:pt x="265286" y="109910"/>
                  <a:pt x="250403" y="112291"/>
                  <a:pt x="242664" y="122932"/>
                </a:cubicBezTo>
                <a:lnTo>
                  <a:pt x="116160" y="296838"/>
                </a:lnTo>
                <a:lnTo>
                  <a:pt x="64443" y="245120"/>
                </a:lnTo>
                <a:cubicBezTo>
                  <a:pt x="55141" y="235818"/>
                  <a:pt x="40035" y="235818"/>
                  <a:pt x="30733" y="245120"/>
                </a:cubicBezTo>
                <a:cubicBezTo>
                  <a:pt x="21431" y="254422"/>
                  <a:pt x="21431" y="269528"/>
                  <a:pt x="30733" y="278829"/>
                </a:cubicBezTo>
                <a:lnTo>
                  <a:pt x="102171" y="350267"/>
                </a:lnTo>
                <a:cubicBezTo>
                  <a:pt x="107082" y="355178"/>
                  <a:pt x="113928" y="357708"/>
                  <a:pt x="120848" y="357188"/>
                </a:cubicBezTo>
                <a:cubicBezTo>
                  <a:pt x="127769" y="356667"/>
                  <a:pt x="134169" y="353095"/>
                  <a:pt x="138261" y="347439"/>
                </a:cubicBezTo>
                <a:lnTo>
                  <a:pt x="281136" y="15098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2387600"/>
            <a:ext cx="1676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3251200"/>
            <a:ext cx="43688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基于Z3的BMC引擎，支持多种验证场景和属性规约，从数学层面证明协议正确性。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5130800"/>
            <a:ext cx="4267200" cy="863600"/>
          </a:xfrm>
          <a:custGeom>
            <a:avLst/>
            <a:gdLst/>
            <a:ahLst/>
            <a:cxnLst/>
            <a:rect l="l" t="t" r="r" b="b"/>
            <a:pathLst>
              <a:path w="4267200" h="863600">
                <a:moveTo>
                  <a:pt x="101603" y="0"/>
                </a:moveTo>
                <a:lnTo>
                  <a:pt x="4165597" y="0"/>
                </a:lnTo>
                <a:cubicBezTo>
                  <a:pt x="4221711" y="0"/>
                  <a:pt x="4267200" y="45489"/>
                  <a:pt x="4267200" y="101603"/>
                </a:cubicBezTo>
                <a:lnTo>
                  <a:pt x="4267200" y="761997"/>
                </a:lnTo>
                <a:cubicBezTo>
                  <a:pt x="4267200" y="818111"/>
                  <a:pt x="4221711" y="863600"/>
                  <a:pt x="4165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8375" y="53213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44428" y="73099"/>
                </a:moveTo>
                <a:cubicBezTo>
                  <a:pt x="148664" y="71953"/>
                  <a:pt x="153109" y="73968"/>
                  <a:pt x="155019" y="77892"/>
                </a:cubicBezTo>
                <a:lnTo>
                  <a:pt x="161479" y="90949"/>
                </a:lnTo>
                <a:cubicBezTo>
                  <a:pt x="165055" y="91435"/>
                  <a:pt x="168563" y="92407"/>
                  <a:pt x="171862" y="93762"/>
                </a:cubicBezTo>
                <a:lnTo>
                  <a:pt x="184016" y="85670"/>
                </a:lnTo>
                <a:cubicBezTo>
                  <a:pt x="187662" y="83240"/>
                  <a:pt x="192489" y="83726"/>
                  <a:pt x="195580" y="86816"/>
                </a:cubicBezTo>
                <a:lnTo>
                  <a:pt x="202248" y="93484"/>
                </a:lnTo>
                <a:cubicBezTo>
                  <a:pt x="205338" y="96575"/>
                  <a:pt x="205824" y="101436"/>
                  <a:pt x="203393" y="105048"/>
                </a:cubicBezTo>
                <a:lnTo>
                  <a:pt x="195302" y="117167"/>
                </a:lnTo>
                <a:cubicBezTo>
                  <a:pt x="195962" y="118800"/>
                  <a:pt x="196552" y="120501"/>
                  <a:pt x="197039" y="122272"/>
                </a:cubicBezTo>
                <a:cubicBezTo>
                  <a:pt x="197525" y="124043"/>
                  <a:pt x="197837" y="125780"/>
                  <a:pt x="198080" y="127551"/>
                </a:cubicBezTo>
                <a:lnTo>
                  <a:pt x="211172" y="134010"/>
                </a:lnTo>
                <a:cubicBezTo>
                  <a:pt x="215096" y="135954"/>
                  <a:pt x="217110" y="140399"/>
                  <a:pt x="215964" y="144601"/>
                </a:cubicBezTo>
                <a:lnTo>
                  <a:pt x="213534" y="153700"/>
                </a:lnTo>
                <a:cubicBezTo>
                  <a:pt x="212388" y="157902"/>
                  <a:pt x="208464" y="160749"/>
                  <a:pt x="204088" y="160471"/>
                </a:cubicBezTo>
                <a:lnTo>
                  <a:pt x="189503" y="159534"/>
                </a:lnTo>
                <a:cubicBezTo>
                  <a:pt x="187315" y="162347"/>
                  <a:pt x="184780" y="164951"/>
                  <a:pt x="181898" y="167174"/>
                </a:cubicBezTo>
                <a:lnTo>
                  <a:pt x="182835" y="181724"/>
                </a:lnTo>
                <a:cubicBezTo>
                  <a:pt x="183113" y="186100"/>
                  <a:pt x="180266" y="190058"/>
                  <a:pt x="176064" y="191170"/>
                </a:cubicBezTo>
                <a:lnTo>
                  <a:pt x="166965" y="193601"/>
                </a:lnTo>
                <a:cubicBezTo>
                  <a:pt x="162729" y="194747"/>
                  <a:pt x="158318" y="192732"/>
                  <a:pt x="156374" y="188808"/>
                </a:cubicBezTo>
                <a:lnTo>
                  <a:pt x="149915" y="175751"/>
                </a:lnTo>
                <a:cubicBezTo>
                  <a:pt x="146338" y="175265"/>
                  <a:pt x="142830" y="174293"/>
                  <a:pt x="139531" y="172938"/>
                </a:cubicBezTo>
                <a:lnTo>
                  <a:pt x="127377" y="181030"/>
                </a:lnTo>
                <a:cubicBezTo>
                  <a:pt x="123731" y="183460"/>
                  <a:pt x="118904" y="182974"/>
                  <a:pt x="115813" y="179884"/>
                </a:cubicBezTo>
                <a:lnTo>
                  <a:pt x="109146" y="173216"/>
                </a:lnTo>
                <a:cubicBezTo>
                  <a:pt x="106055" y="170125"/>
                  <a:pt x="105569" y="165298"/>
                  <a:pt x="108000" y="161652"/>
                </a:cubicBezTo>
                <a:lnTo>
                  <a:pt x="116091" y="149498"/>
                </a:lnTo>
                <a:cubicBezTo>
                  <a:pt x="115431" y="147866"/>
                  <a:pt x="114841" y="146164"/>
                  <a:pt x="114355" y="144393"/>
                </a:cubicBezTo>
                <a:cubicBezTo>
                  <a:pt x="113868" y="142622"/>
                  <a:pt x="113556" y="140851"/>
                  <a:pt x="113313" y="139115"/>
                </a:cubicBezTo>
                <a:lnTo>
                  <a:pt x="100221" y="132655"/>
                </a:lnTo>
                <a:cubicBezTo>
                  <a:pt x="96297" y="130711"/>
                  <a:pt x="94317" y="126266"/>
                  <a:pt x="95429" y="122064"/>
                </a:cubicBezTo>
                <a:lnTo>
                  <a:pt x="97859" y="112966"/>
                </a:lnTo>
                <a:cubicBezTo>
                  <a:pt x="99005" y="108764"/>
                  <a:pt x="102930" y="105916"/>
                  <a:pt x="107305" y="106194"/>
                </a:cubicBezTo>
                <a:lnTo>
                  <a:pt x="121856" y="107131"/>
                </a:lnTo>
                <a:cubicBezTo>
                  <a:pt x="124043" y="104319"/>
                  <a:pt x="126578" y="101714"/>
                  <a:pt x="129461" y="99492"/>
                </a:cubicBezTo>
                <a:lnTo>
                  <a:pt x="128523" y="84976"/>
                </a:lnTo>
                <a:cubicBezTo>
                  <a:pt x="128245" y="80600"/>
                  <a:pt x="131093" y="76642"/>
                  <a:pt x="135295" y="75530"/>
                </a:cubicBezTo>
                <a:lnTo>
                  <a:pt x="144393" y="73099"/>
                </a:lnTo>
                <a:close/>
                <a:moveTo>
                  <a:pt x="155714" y="118070"/>
                </a:moveTo>
                <a:cubicBezTo>
                  <a:pt x="147281" y="118080"/>
                  <a:pt x="140442" y="124934"/>
                  <a:pt x="140452" y="133367"/>
                </a:cubicBezTo>
                <a:cubicBezTo>
                  <a:pt x="140461" y="141800"/>
                  <a:pt x="147316" y="148639"/>
                  <a:pt x="155749" y="148630"/>
                </a:cubicBezTo>
                <a:cubicBezTo>
                  <a:pt x="164182" y="148620"/>
                  <a:pt x="171021" y="141766"/>
                  <a:pt x="171011" y="133333"/>
                </a:cubicBezTo>
                <a:cubicBezTo>
                  <a:pt x="171001" y="124900"/>
                  <a:pt x="164147" y="118061"/>
                  <a:pt x="155714" y="118070"/>
                </a:cubicBezTo>
                <a:close/>
                <a:moveTo>
                  <a:pt x="78100" y="-15801"/>
                </a:moveTo>
                <a:lnTo>
                  <a:pt x="87198" y="-13370"/>
                </a:lnTo>
                <a:cubicBezTo>
                  <a:pt x="91400" y="-12224"/>
                  <a:pt x="94248" y="-8265"/>
                  <a:pt x="93970" y="-3924"/>
                </a:cubicBezTo>
                <a:lnTo>
                  <a:pt x="93032" y="10592"/>
                </a:lnTo>
                <a:cubicBezTo>
                  <a:pt x="95915" y="12814"/>
                  <a:pt x="98450" y="15384"/>
                  <a:pt x="100638" y="18231"/>
                </a:cubicBezTo>
                <a:lnTo>
                  <a:pt x="115223" y="17294"/>
                </a:lnTo>
                <a:cubicBezTo>
                  <a:pt x="119564" y="17016"/>
                  <a:pt x="123522" y="19864"/>
                  <a:pt x="124668" y="24066"/>
                </a:cubicBezTo>
                <a:lnTo>
                  <a:pt x="127099" y="33164"/>
                </a:lnTo>
                <a:cubicBezTo>
                  <a:pt x="128210" y="37366"/>
                  <a:pt x="126231" y="41811"/>
                  <a:pt x="122307" y="43755"/>
                </a:cubicBezTo>
                <a:lnTo>
                  <a:pt x="109215" y="50215"/>
                </a:lnTo>
                <a:cubicBezTo>
                  <a:pt x="108972" y="51986"/>
                  <a:pt x="108625" y="53757"/>
                  <a:pt x="108173" y="55493"/>
                </a:cubicBezTo>
                <a:cubicBezTo>
                  <a:pt x="107722" y="57229"/>
                  <a:pt x="107097" y="58966"/>
                  <a:pt x="106437" y="60598"/>
                </a:cubicBezTo>
                <a:lnTo>
                  <a:pt x="114528" y="72752"/>
                </a:lnTo>
                <a:cubicBezTo>
                  <a:pt x="116959" y="76398"/>
                  <a:pt x="116473" y="81225"/>
                  <a:pt x="113382" y="84316"/>
                </a:cubicBezTo>
                <a:lnTo>
                  <a:pt x="106715" y="90984"/>
                </a:lnTo>
                <a:cubicBezTo>
                  <a:pt x="103624" y="94074"/>
                  <a:pt x="98797" y="94560"/>
                  <a:pt x="95151" y="92130"/>
                </a:cubicBezTo>
                <a:lnTo>
                  <a:pt x="82996" y="84038"/>
                </a:lnTo>
                <a:cubicBezTo>
                  <a:pt x="79697" y="85393"/>
                  <a:pt x="76190" y="86365"/>
                  <a:pt x="72613" y="86851"/>
                </a:cubicBezTo>
                <a:lnTo>
                  <a:pt x="66154" y="99908"/>
                </a:lnTo>
                <a:cubicBezTo>
                  <a:pt x="64209" y="103832"/>
                  <a:pt x="59764" y="105812"/>
                  <a:pt x="55563" y="104701"/>
                </a:cubicBezTo>
                <a:lnTo>
                  <a:pt x="46464" y="102270"/>
                </a:lnTo>
                <a:cubicBezTo>
                  <a:pt x="42228" y="101124"/>
                  <a:pt x="39415" y="97165"/>
                  <a:pt x="39692" y="92824"/>
                </a:cubicBezTo>
                <a:lnTo>
                  <a:pt x="40630" y="78274"/>
                </a:lnTo>
                <a:cubicBezTo>
                  <a:pt x="37748" y="76051"/>
                  <a:pt x="35213" y="73481"/>
                  <a:pt x="33025" y="70634"/>
                </a:cubicBezTo>
                <a:lnTo>
                  <a:pt x="18440" y="71571"/>
                </a:lnTo>
                <a:cubicBezTo>
                  <a:pt x="14099" y="71849"/>
                  <a:pt x="10140" y="69002"/>
                  <a:pt x="8994" y="64800"/>
                </a:cubicBezTo>
                <a:lnTo>
                  <a:pt x="6563" y="55701"/>
                </a:lnTo>
                <a:cubicBezTo>
                  <a:pt x="5452" y="51499"/>
                  <a:pt x="7431" y="47054"/>
                  <a:pt x="11356" y="45110"/>
                </a:cubicBezTo>
                <a:lnTo>
                  <a:pt x="24448" y="38651"/>
                </a:lnTo>
                <a:cubicBezTo>
                  <a:pt x="24691" y="36880"/>
                  <a:pt x="25038" y="35143"/>
                  <a:pt x="25489" y="33372"/>
                </a:cubicBezTo>
                <a:cubicBezTo>
                  <a:pt x="25975" y="31601"/>
                  <a:pt x="26531" y="29900"/>
                  <a:pt x="27226" y="28267"/>
                </a:cubicBezTo>
                <a:lnTo>
                  <a:pt x="19134" y="16148"/>
                </a:lnTo>
                <a:cubicBezTo>
                  <a:pt x="16703" y="12502"/>
                  <a:pt x="17190" y="7675"/>
                  <a:pt x="20280" y="4584"/>
                </a:cubicBezTo>
                <a:lnTo>
                  <a:pt x="26948" y="-2084"/>
                </a:lnTo>
                <a:cubicBezTo>
                  <a:pt x="30038" y="-5174"/>
                  <a:pt x="34865" y="-5660"/>
                  <a:pt x="38512" y="-3230"/>
                </a:cubicBezTo>
                <a:lnTo>
                  <a:pt x="50666" y="4862"/>
                </a:lnTo>
                <a:cubicBezTo>
                  <a:pt x="53965" y="3507"/>
                  <a:pt x="57472" y="2535"/>
                  <a:pt x="61049" y="2049"/>
                </a:cubicBezTo>
                <a:lnTo>
                  <a:pt x="67508" y="-11008"/>
                </a:lnTo>
                <a:cubicBezTo>
                  <a:pt x="69453" y="-14932"/>
                  <a:pt x="73863" y="-16912"/>
                  <a:pt x="78100" y="-15801"/>
                </a:cubicBezTo>
                <a:close/>
                <a:moveTo>
                  <a:pt x="66814" y="29170"/>
                </a:moveTo>
                <a:cubicBezTo>
                  <a:pt x="58381" y="29170"/>
                  <a:pt x="51534" y="36017"/>
                  <a:pt x="51534" y="44450"/>
                </a:cubicBezTo>
                <a:cubicBezTo>
                  <a:pt x="51534" y="52883"/>
                  <a:pt x="58381" y="59730"/>
                  <a:pt x="66814" y="59730"/>
                </a:cubicBezTo>
                <a:cubicBezTo>
                  <a:pt x="75247" y="59730"/>
                  <a:pt x="82094" y="52883"/>
                  <a:pt x="82094" y="44450"/>
                </a:cubicBezTo>
                <a:cubicBezTo>
                  <a:pt x="82094" y="36017"/>
                  <a:pt x="75247" y="29170"/>
                  <a:pt x="66814" y="2917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1289050" y="5283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验证场景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5200" y="5588000"/>
            <a:ext cx="812800" cy="254000"/>
          </a:xfrm>
          <a:custGeom>
            <a:avLst/>
            <a:gdLst/>
            <a:ahLst/>
            <a:cxnLst/>
            <a:rect l="l" t="t" r="r" b="b"/>
            <a:pathLst>
              <a:path w="812800" h="2540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203200"/>
                </a:lnTo>
                <a:cubicBezTo>
                  <a:pt x="812800" y="231237"/>
                  <a:pt x="790037" y="254000"/>
                  <a:pt x="762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65200" y="5588000"/>
            <a:ext cx="8890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正常操作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61" y="5588000"/>
            <a:ext cx="812800" cy="254000"/>
          </a:xfrm>
          <a:custGeom>
            <a:avLst/>
            <a:gdLst/>
            <a:ahLst/>
            <a:cxnLst/>
            <a:rect l="l" t="t" r="r" b="b"/>
            <a:pathLst>
              <a:path w="812800" h="2540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203200"/>
                </a:lnTo>
                <a:cubicBezTo>
                  <a:pt x="812800" y="231237"/>
                  <a:pt x="790037" y="254000"/>
                  <a:pt x="762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828861" y="5588000"/>
            <a:ext cx="8890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重放攻击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92522" y="5588000"/>
            <a:ext cx="965200" cy="254000"/>
          </a:xfrm>
          <a:custGeom>
            <a:avLst/>
            <a:gdLst/>
            <a:ahLst/>
            <a:cxnLst/>
            <a:rect l="l" t="t" r="r" b="b"/>
            <a:pathLst>
              <a:path w="965200" h="254000">
                <a:moveTo>
                  <a:pt x="50800" y="0"/>
                </a:moveTo>
                <a:lnTo>
                  <a:pt x="914400" y="0"/>
                </a:lnTo>
                <a:cubicBezTo>
                  <a:pt x="942437" y="0"/>
                  <a:pt x="965200" y="22763"/>
                  <a:pt x="965200" y="50800"/>
                </a:cubicBezTo>
                <a:lnTo>
                  <a:pt x="965200" y="203200"/>
                </a:lnTo>
                <a:cubicBezTo>
                  <a:pt x="965200" y="231237"/>
                  <a:pt x="942437" y="254000"/>
                  <a:pt x="9144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692522" y="5588000"/>
            <a:ext cx="10414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序列号错误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708583" y="5588000"/>
            <a:ext cx="965200" cy="254000"/>
          </a:xfrm>
          <a:custGeom>
            <a:avLst/>
            <a:gdLst/>
            <a:ahLst/>
            <a:cxnLst/>
            <a:rect l="l" t="t" r="r" b="b"/>
            <a:pathLst>
              <a:path w="965200" h="254000">
                <a:moveTo>
                  <a:pt x="50800" y="0"/>
                </a:moveTo>
                <a:lnTo>
                  <a:pt x="914400" y="0"/>
                </a:lnTo>
                <a:cubicBezTo>
                  <a:pt x="942437" y="0"/>
                  <a:pt x="965200" y="22763"/>
                  <a:pt x="965200" y="50800"/>
                </a:cubicBezTo>
                <a:lnTo>
                  <a:pt x="965200" y="203200"/>
                </a:lnTo>
                <a:cubicBezTo>
                  <a:pt x="965200" y="231237"/>
                  <a:pt x="942437" y="254000"/>
                  <a:pt x="9144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708583" y="5588000"/>
            <a:ext cx="10414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校验和错误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6146800"/>
            <a:ext cx="4267200" cy="863600"/>
          </a:xfrm>
          <a:custGeom>
            <a:avLst/>
            <a:gdLst/>
            <a:ahLst/>
            <a:cxnLst/>
            <a:rect l="l" t="t" r="r" b="b"/>
            <a:pathLst>
              <a:path w="4267200" h="863600">
                <a:moveTo>
                  <a:pt x="101603" y="0"/>
                </a:moveTo>
                <a:lnTo>
                  <a:pt x="4165597" y="0"/>
                </a:lnTo>
                <a:cubicBezTo>
                  <a:pt x="4221711" y="0"/>
                  <a:pt x="4267200" y="45489"/>
                  <a:pt x="4267200" y="101603"/>
                </a:cubicBezTo>
                <a:lnTo>
                  <a:pt x="4267200" y="761997"/>
                </a:lnTo>
                <a:cubicBezTo>
                  <a:pt x="4267200" y="818111"/>
                  <a:pt x="4221711" y="863600"/>
                  <a:pt x="4165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90600" y="6337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1289050" y="6299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安全属性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5200" y="6604000"/>
            <a:ext cx="1117600" cy="254000"/>
          </a:xfrm>
          <a:custGeom>
            <a:avLst/>
            <a:gdLst/>
            <a:ahLst/>
            <a:cxnLst/>
            <a:rect l="l" t="t" r="r" b="b"/>
            <a:pathLst>
              <a:path w="1117600" h="254000">
                <a:moveTo>
                  <a:pt x="50800" y="0"/>
                </a:moveTo>
                <a:lnTo>
                  <a:pt x="1066800" y="0"/>
                </a:lnTo>
                <a:cubicBezTo>
                  <a:pt x="1094837" y="0"/>
                  <a:pt x="1117600" y="22763"/>
                  <a:pt x="1117600" y="50800"/>
                </a:cubicBezTo>
                <a:lnTo>
                  <a:pt x="1117600" y="203200"/>
                </a:lnTo>
                <a:cubicBezTo>
                  <a:pt x="1117600" y="231237"/>
                  <a:pt x="1094837" y="254000"/>
                  <a:pt x="10668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65200" y="6604000"/>
            <a:ext cx="11938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序列号单调性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133661" y="6604000"/>
            <a:ext cx="660400" cy="254000"/>
          </a:xfrm>
          <a:custGeom>
            <a:avLst/>
            <a:gdLst/>
            <a:ahLst/>
            <a:cxnLst/>
            <a:rect l="l" t="t" r="r" b="b"/>
            <a:pathLst>
              <a:path w="660400" h="254000">
                <a:moveTo>
                  <a:pt x="50800" y="0"/>
                </a:moveTo>
                <a:lnTo>
                  <a:pt x="609600" y="0"/>
                </a:lnTo>
                <a:cubicBezTo>
                  <a:pt x="637637" y="0"/>
                  <a:pt x="660400" y="22763"/>
                  <a:pt x="660400" y="50800"/>
                </a:cubicBezTo>
                <a:lnTo>
                  <a:pt x="660400" y="203200"/>
                </a:lnTo>
                <a:cubicBezTo>
                  <a:pt x="660400" y="231237"/>
                  <a:pt x="637637" y="254000"/>
                  <a:pt x="6096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2133661" y="6604000"/>
            <a:ext cx="7366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防重放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844922" y="6604000"/>
            <a:ext cx="965200" cy="254000"/>
          </a:xfrm>
          <a:custGeom>
            <a:avLst/>
            <a:gdLst/>
            <a:ahLst/>
            <a:cxnLst/>
            <a:rect l="l" t="t" r="r" b="b"/>
            <a:pathLst>
              <a:path w="965200" h="254000">
                <a:moveTo>
                  <a:pt x="50800" y="0"/>
                </a:moveTo>
                <a:lnTo>
                  <a:pt x="914400" y="0"/>
                </a:lnTo>
                <a:cubicBezTo>
                  <a:pt x="942437" y="0"/>
                  <a:pt x="965200" y="22763"/>
                  <a:pt x="965200" y="50800"/>
                </a:cubicBezTo>
                <a:lnTo>
                  <a:pt x="965200" y="203200"/>
                </a:lnTo>
                <a:cubicBezTo>
                  <a:pt x="965200" y="231237"/>
                  <a:pt x="942437" y="254000"/>
                  <a:pt x="9144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2844922" y="6604000"/>
            <a:ext cx="10414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窗口不变式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800" y="7162800"/>
            <a:ext cx="4267200" cy="1168400"/>
          </a:xfrm>
          <a:custGeom>
            <a:avLst/>
            <a:gdLst/>
            <a:ahLst/>
            <a:cxnLst/>
            <a:rect l="l" t="t" r="r" b="b"/>
            <a:pathLst>
              <a:path w="4267200" h="1168400">
                <a:moveTo>
                  <a:pt x="101604" y="0"/>
                </a:moveTo>
                <a:lnTo>
                  <a:pt x="4165596" y="0"/>
                </a:lnTo>
                <a:cubicBezTo>
                  <a:pt x="4221710" y="0"/>
                  <a:pt x="4267200" y="45490"/>
                  <a:pt x="4267200" y="101604"/>
                </a:cubicBezTo>
                <a:lnTo>
                  <a:pt x="4267200" y="1066796"/>
                </a:lnTo>
                <a:cubicBezTo>
                  <a:pt x="4267200" y="1122910"/>
                  <a:pt x="4221710" y="1168400"/>
                  <a:pt x="4165596" y="1168400"/>
                </a:cubicBezTo>
                <a:lnTo>
                  <a:pt x="101604" y="1168400"/>
                </a:lnTo>
                <a:cubicBezTo>
                  <a:pt x="45490" y="1168400"/>
                  <a:pt x="0" y="1122910"/>
                  <a:pt x="0" y="1066796"/>
                </a:cubicBezTo>
                <a:lnTo>
                  <a:pt x="0" y="101604"/>
                </a:lnTo>
                <a:cubicBezTo>
                  <a:pt x="0" y="45527"/>
                  <a:pt x="45527" y="0"/>
                  <a:pt x="101604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0600" y="7353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22225"/>
                </a:moveTo>
                <a:cubicBezTo>
                  <a:pt x="22225" y="16078"/>
                  <a:pt x="17259" y="11112"/>
                  <a:pt x="11112" y="11112"/>
                </a:cubicBezTo>
                <a:cubicBezTo>
                  <a:pt x="4966" y="11112"/>
                  <a:pt x="0" y="16078"/>
                  <a:pt x="0" y="22225"/>
                </a:cubicBezTo>
                <a:lnTo>
                  <a:pt x="0" y="138906"/>
                </a:lnTo>
                <a:cubicBezTo>
                  <a:pt x="0" y="154255"/>
                  <a:pt x="12432" y="166688"/>
                  <a:pt x="27781" y="166688"/>
                </a:cubicBezTo>
                <a:lnTo>
                  <a:pt x="166688" y="166688"/>
                </a:lnTo>
                <a:cubicBezTo>
                  <a:pt x="172834" y="166688"/>
                  <a:pt x="177800" y="161722"/>
                  <a:pt x="177800" y="155575"/>
                </a:cubicBezTo>
                <a:cubicBezTo>
                  <a:pt x="177800" y="149428"/>
                  <a:pt x="172834" y="144463"/>
                  <a:pt x="166688" y="144463"/>
                </a:cubicBezTo>
                <a:lnTo>
                  <a:pt x="27781" y="144463"/>
                </a:lnTo>
                <a:cubicBezTo>
                  <a:pt x="24725" y="144463"/>
                  <a:pt x="22225" y="141962"/>
                  <a:pt x="22225" y="138906"/>
                </a:cubicBezTo>
                <a:lnTo>
                  <a:pt x="22225" y="22225"/>
                </a:lnTo>
                <a:close/>
                <a:moveTo>
                  <a:pt x="163423" y="52298"/>
                </a:moveTo>
                <a:cubicBezTo>
                  <a:pt x="167764" y="47957"/>
                  <a:pt x="167764" y="40908"/>
                  <a:pt x="163423" y="36567"/>
                </a:cubicBezTo>
                <a:cubicBezTo>
                  <a:pt x="159082" y="32226"/>
                  <a:pt x="152033" y="32226"/>
                  <a:pt x="147692" y="36567"/>
                </a:cubicBezTo>
                <a:lnTo>
                  <a:pt x="111125" y="73169"/>
                </a:lnTo>
                <a:lnTo>
                  <a:pt x="91192" y="53271"/>
                </a:lnTo>
                <a:cubicBezTo>
                  <a:pt x="86851" y="48930"/>
                  <a:pt x="79802" y="48930"/>
                  <a:pt x="75461" y="53271"/>
                </a:cubicBezTo>
                <a:lnTo>
                  <a:pt x="42123" y="86608"/>
                </a:lnTo>
                <a:cubicBezTo>
                  <a:pt x="37783" y="90949"/>
                  <a:pt x="37783" y="97998"/>
                  <a:pt x="42123" y="102339"/>
                </a:cubicBezTo>
                <a:cubicBezTo>
                  <a:pt x="46464" y="106680"/>
                  <a:pt x="53514" y="106680"/>
                  <a:pt x="57854" y="102339"/>
                </a:cubicBezTo>
                <a:lnTo>
                  <a:pt x="83344" y="76850"/>
                </a:lnTo>
                <a:lnTo>
                  <a:pt x="103277" y="96783"/>
                </a:lnTo>
                <a:cubicBezTo>
                  <a:pt x="107618" y="101124"/>
                  <a:pt x="114667" y="101124"/>
                  <a:pt x="119008" y="96783"/>
                </a:cubicBezTo>
                <a:lnTo>
                  <a:pt x="163458" y="5233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1289050" y="7315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8050" y="76200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10步/秒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27100" y="7975600"/>
            <a:ext cx="200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验证速度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940050" y="7620000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959100" y="7975600"/>
            <a:ext cx="200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准确率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89600" y="1854200"/>
            <a:ext cx="4876800" cy="6781800"/>
          </a:xfrm>
          <a:custGeom>
            <a:avLst/>
            <a:gdLst/>
            <a:ahLst/>
            <a:cxnLst/>
            <a:rect l="l" t="t" r="r" b="b"/>
            <a:pathLst>
              <a:path w="4876800" h="6781800">
                <a:moveTo>
                  <a:pt x="50800" y="0"/>
                </a:moveTo>
                <a:lnTo>
                  <a:pt x="4826000" y="0"/>
                </a:lnTo>
                <a:cubicBezTo>
                  <a:pt x="4854056" y="0"/>
                  <a:pt x="4876800" y="22744"/>
                  <a:pt x="4876800" y="50800"/>
                </a:cubicBezTo>
                <a:lnTo>
                  <a:pt x="4876800" y="6629400"/>
                </a:lnTo>
                <a:cubicBezTo>
                  <a:pt x="4876800" y="6713512"/>
                  <a:pt x="4808512" y="6781800"/>
                  <a:pt x="4724400" y="6781800"/>
                </a:cubicBezTo>
                <a:lnTo>
                  <a:pt x="152400" y="6781800"/>
                </a:lnTo>
                <a:cubicBezTo>
                  <a:pt x="68288" y="6781800"/>
                  <a:pt x="0" y="6713512"/>
                  <a:pt x="0" y="6629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5689600" y="1854200"/>
            <a:ext cx="4876800" cy="50800"/>
          </a:xfrm>
          <a:custGeom>
            <a:avLst/>
            <a:gdLst/>
            <a:ahLst/>
            <a:cxnLst/>
            <a:rect l="l" t="t" r="r" b="b"/>
            <a:pathLst>
              <a:path w="4876800" h="508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5994400" y="2184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213475" y="240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59531"/>
                </a:moveTo>
                <a:cubicBezTo>
                  <a:pt x="0" y="39812"/>
                  <a:pt x="15999" y="23812"/>
                  <a:pt x="35719" y="23812"/>
                </a:cubicBezTo>
                <a:lnTo>
                  <a:pt x="107156" y="23812"/>
                </a:lnTo>
                <a:cubicBezTo>
                  <a:pt x="126876" y="23812"/>
                  <a:pt x="142875" y="39812"/>
                  <a:pt x="142875" y="59531"/>
                </a:cubicBezTo>
                <a:lnTo>
                  <a:pt x="142875" y="71438"/>
                </a:lnTo>
                <a:lnTo>
                  <a:pt x="238125" y="71438"/>
                </a:lnTo>
                <a:lnTo>
                  <a:pt x="238125" y="59531"/>
                </a:lnTo>
                <a:cubicBezTo>
                  <a:pt x="238125" y="39812"/>
                  <a:pt x="254124" y="23812"/>
                  <a:pt x="273844" y="23812"/>
                </a:cubicBezTo>
                <a:lnTo>
                  <a:pt x="345281" y="23812"/>
                </a:lnTo>
                <a:cubicBezTo>
                  <a:pt x="365001" y="23812"/>
                  <a:pt x="381000" y="39812"/>
                  <a:pt x="381000" y="59531"/>
                </a:cubicBezTo>
                <a:lnTo>
                  <a:pt x="381000" y="130969"/>
                </a:lnTo>
                <a:cubicBezTo>
                  <a:pt x="381000" y="150688"/>
                  <a:pt x="365001" y="166688"/>
                  <a:pt x="345281" y="166688"/>
                </a:cubicBezTo>
                <a:lnTo>
                  <a:pt x="273844" y="166688"/>
                </a:lnTo>
                <a:cubicBezTo>
                  <a:pt x="254124" y="166688"/>
                  <a:pt x="238125" y="150688"/>
                  <a:pt x="238125" y="130969"/>
                </a:cubicBezTo>
                <a:lnTo>
                  <a:pt x="238125" y="119063"/>
                </a:lnTo>
                <a:lnTo>
                  <a:pt x="142875" y="119063"/>
                </a:lnTo>
                <a:lnTo>
                  <a:pt x="142875" y="130969"/>
                </a:lnTo>
                <a:cubicBezTo>
                  <a:pt x="142875" y="136401"/>
                  <a:pt x="141610" y="141610"/>
                  <a:pt x="139452" y="146224"/>
                </a:cubicBezTo>
                <a:lnTo>
                  <a:pt x="190500" y="214313"/>
                </a:lnTo>
                <a:lnTo>
                  <a:pt x="250031" y="214313"/>
                </a:lnTo>
                <a:cubicBezTo>
                  <a:pt x="269751" y="214313"/>
                  <a:pt x="285750" y="230312"/>
                  <a:pt x="285750" y="250031"/>
                </a:cubicBezTo>
                <a:lnTo>
                  <a:pt x="285750" y="321469"/>
                </a:lnTo>
                <a:cubicBezTo>
                  <a:pt x="285750" y="341188"/>
                  <a:pt x="269751" y="357188"/>
                  <a:pt x="250031" y="357188"/>
                </a:cubicBezTo>
                <a:lnTo>
                  <a:pt x="178594" y="357188"/>
                </a:lnTo>
                <a:cubicBezTo>
                  <a:pt x="158874" y="357188"/>
                  <a:pt x="142875" y="341188"/>
                  <a:pt x="142875" y="321469"/>
                </a:cubicBezTo>
                <a:lnTo>
                  <a:pt x="142875" y="250031"/>
                </a:lnTo>
                <a:cubicBezTo>
                  <a:pt x="142875" y="244599"/>
                  <a:pt x="144140" y="239390"/>
                  <a:pt x="146298" y="234776"/>
                </a:cubicBezTo>
                <a:lnTo>
                  <a:pt x="95250" y="166688"/>
                </a:lnTo>
                <a:lnTo>
                  <a:pt x="35719" y="166688"/>
                </a:lnTo>
                <a:cubicBezTo>
                  <a:pt x="15999" y="166688"/>
                  <a:pt x="0" y="150688"/>
                  <a:pt x="0" y="130969"/>
                </a:cubicBezTo>
                <a:lnTo>
                  <a:pt x="0" y="5953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7010400" y="2387600"/>
            <a:ext cx="1371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协议仿真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994400" y="3251200"/>
            <a:ext cx="4368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基于Asyncio的并发仿真框架，支持RSSP-I/II协议的并发仿真和故障注入测试。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994400" y="45720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161088" y="47625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6122" y="30559"/>
                </a:moveTo>
                <a:lnTo>
                  <a:pt x="113903" y="30559"/>
                </a:lnTo>
                <a:lnTo>
                  <a:pt x="113903" y="47228"/>
                </a:lnTo>
                <a:lnTo>
                  <a:pt x="86122" y="47228"/>
                </a:lnTo>
                <a:lnTo>
                  <a:pt x="86122" y="30559"/>
                </a:lnTo>
                <a:close/>
                <a:moveTo>
                  <a:pt x="83344" y="11112"/>
                </a:moveTo>
                <a:cubicBezTo>
                  <a:pt x="74141" y="11112"/>
                  <a:pt x="66675" y="18579"/>
                  <a:pt x="66675" y="27781"/>
                </a:cubicBezTo>
                <a:lnTo>
                  <a:pt x="66675" y="50006"/>
                </a:lnTo>
                <a:cubicBezTo>
                  <a:pt x="66675" y="59209"/>
                  <a:pt x="74141" y="66675"/>
                  <a:pt x="83344" y="66675"/>
                </a:cubicBezTo>
                <a:lnTo>
                  <a:pt x="88900" y="66675"/>
                </a:lnTo>
                <a:lnTo>
                  <a:pt x="88900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44450" y="100013"/>
                </a:lnTo>
                <a:lnTo>
                  <a:pt x="44450" y="111125"/>
                </a:lnTo>
                <a:lnTo>
                  <a:pt x="38894" y="111125"/>
                </a:lnTo>
                <a:cubicBezTo>
                  <a:pt x="29691" y="111125"/>
                  <a:pt x="22225" y="118591"/>
                  <a:pt x="22225" y="127794"/>
                </a:cubicBezTo>
                <a:lnTo>
                  <a:pt x="22225" y="150019"/>
                </a:lnTo>
                <a:cubicBezTo>
                  <a:pt x="22225" y="159221"/>
                  <a:pt x="29691" y="166688"/>
                  <a:pt x="38894" y="166688"/>
                </a:cubicBezTo>
                <a:lnTo>
                  <a:pt x="72231" y="166688"/>
                </a:lnTo>
                <a:cubicBezTo>
                  <a:pt x="81434" y="166688"/>
                  <a:pt x="88900" y="159221"/>
                  <a:pt x="88900" y="150019"/>
                </a:cubicBezTo>
                <a:lnTo>
                  <a:pt x="88900" y="127794"/>
                </a:lnTo>
                <a:cubicBezTo>
                  <a:pt x="88900" y="118591"/>
                  <a:pt x="81434" y="111125"/>
                  <a:pt x="72231" y="111125"/>
                </a:cubicBezTo>
                <a:lnTo>
                  <a:pt x="66675" y="111125"/>
                </a:lnTo>
                <a:lnTo>
                  <a:pt x="66675" y="100013"/>
                </a:lnTo>
                <a:lnTo>
                  <a:pt x="133350" y="100013"/>
                </a:lnTo>
                <a:lnTo>
                  <a:pt x="133350" y="111125"/>
                </a:lnTo>
                <a:lnTo>
                  <a:pt x="127794" y="111125"/>
                </a:lnTo>
                <a:cubicBezTo>
                  <a:pt x="118591" y="111125"/>
                  <a:pt x="111125" y="118591"/>
                  <a:pt x="111125" y="127794"/>
                </a:cubicBezTo>
                <a:lnTo>
                  <a:pt x="111125" y="150019"/>
                </a:lnTo>
                <a:cubicBezTo>
                  <a:pt x="111125" y="159221"/>
                  <a:pt x="118591" y="166688"/>
                  <a:pt x="127794" y="166688"/>
                </a:cubicBezTo>
                <a:lnTo>
                  <a:pt x="161131" y="166688"/>
                </a:lnTo>
                <a:cubicBezTo>
                  <a:pt x="170334" y="166688"/>
                  <a:pt x="177800" y="159221"/>
                  <a:pt x="177800" y="150019"/>
                </a:cubicBezTo>
                <a:lnTo>
                  <a:pt x="177800" y="127794"/>
                </a:lnTo>
                <a:cubicBezTo>
                  <a:pt x="177800" y="118591"/>
                  <a:pt x="170334" y="111125"/>
                  <a:pt x="161131" y="111125"/>
                </a:cubicBezTo>
                <a:lnTo>
                  <a:pt x="155575" y="111125"/>
                </a:lnTo>
                <a:lnTo>
                  <a:pt x="155575" y="100013"/>
                </a:lnTo>
                <a:lnTo>
                  <a:pt x="188913" y="100013"/>
                </a:lnTo>
                <a:cubicBezTo>
                  <a:pt x="195059" y="100013"/>
                  <a:pt x="200025" y="95047"/>
                  <a:pt x="200025" y="88900"/>
                </a:cubicBezTo>
                <a:cubicBezTo>
                  <a:pt x="200025" y="82753"/>
                  <a:pt x="195059" y="77788"/>
                  <a:pt x="188913" y="77788"/>
                </a:cubicBezTo>
                <a:lnTo>
                  <a:pt x="111125" y="77788"/>
                </a:lnTo>
                <a:lnTo>
                  <a:pt x="111125" y="66675"/>
                </a:lnTo>
                <a:lnTo>
                  <a:pt x="116681" y="66675"/>
                </a:lnTo>
                <a:cubicBezTo>
                  <a:pt x="125884" y="66675"/>
                  <a:pt x="133350" y="59209"/>
                  <a:pt x="133350" y="50006"/>
                </a:cubicBezTo>
                <a:lnTo>
                  <a:pt x="133350" y="27781"/>
                </a:lnTo>
                <a:cubicBezTo>
                  <a:pt x="133350" y="18579"/>
                  <a:pt x="125884" y="11112"/>
                  <a:pt x="116681" y="11112"/>
                </a:cubicBezTo>
                <a:lnTo>
                  <a:pt x="83344" y="11112"/>
                </a:lnTo>
                <a:close/>
                <a:moveTo>
                  <a:pt x="155575" y="130572"/>
                </a:moveTo>
                <a:lnTo>
                  <a:pt x="158353" y="130572"/>
                </a:lnTo>
                <a:lnTo>
                  <a:pt x="158353" y="147241"/>
                </a:lnTo>
                <a:lnTo>
                  <a:pt x="130572" y="147241"/>
                </a:lnTo>
                <a:lnTo>
                  <a:pt x="130572" y="130572"/>
                </a:lnTo>
                <a:lnTo>
                  <a:pt x="155575" y="130572"/>
                </a:lnTo>
                <a:close/>
                <a:moveTo>
                  <a:pt x="66675" y="130572"/>
                </a:moveTo>
                <a:lnTo>
                  <a:pt x="69453" y="130572"/>
                </a:lnTo>
                <a:lnTo>
                  <a:pt x="69453" y="147241"/>
                </a:lnTo>
                <a:lnTo>
                  <a:pt x="41672" y="147241"/>
                </a:lnTo>
                <a:lnTo>
                  <a:pt x="41672" y="130572"/>
                </a:lnTo>
                <a:lnTo>
                  <a:pt x="66675" y="13057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6470650" y="47244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多节点仿真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46800" y="50292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支持多节点并发通信仿真，模拟真实网络环境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994400" y="5537200"/>
            <a:ext cx="4267200" cy="863600"/>
          </a:xfrm>
          <a:custGeom>
            <a:avLst/>
            <a:gdLst/>
            <a:ahLst/>
            <a:cxnLst/>
            <a:rect l="l" t="t" r="r" b="b"/>
            <a:pathLst>
              <a:path w="4267200" h="863600">
                <a:moveTo>
                  <a:pt x="101603" y="0"/>
                </a:moveTo>
                <a:lnTo>
                  <a:pt x="4165597" y="0"/>
                </a:lnTo>
                <a:cubicBezTo>
                  <a:pt x="4221711" y="0"/>
                  <a:pt x="4267200" y="45489"/>
                  <a:pt x="4267200" y="101603"/>
                </a:cubicBezTo>
                <a:lnTo>
                  <a:pt x="4267200" y="761997"/>
                </a:lnTo>
                <a:cubicBezTo>
                  <a:pt x="4267200" y="818111"/>
                  <a:pt x="4221711" y="863600"/>
                  <a:pt x="41655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161088" y="57277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66675" y="33337"/>
                </a:moveTo>
                <a:cubicBezTo>
                  <a:pt x="66675" y="14932"/>
                  <a:pt x="81607" y="0"/>
                  <a:pt x="100013" y="0"/>
                </a:cubicBezTo>
                <a:cubicBezTo>
                  <a:pt x="118418" y="0"/>
                  <a:pt x="133350" y="14932"/>
                  <a:pt x="133350" y="33337"/>
                </a:cubicBezTo>
                <a:lnTo>
                  <a:pt x="133350" y="34588"/>
                </a:lnTo>
                <a:cubicBezTo>
                  <a:pt x="133350" y="40040"/>
                  <a:pt x="128940" y="44450"/>
                  <a:pt x="123488" y="44450"/>
                </a:cubicBezTo>
                <a:lnTo>
                  <a:pt x="76572" y="44450"/>
                </a:lnTo>
                <a:cubicBezTo>
                  <a:pt x="71120" y="44450"/>
                  <a:pt x="66710" y="40040"/>
                  <a:pt x="66710" y="34588"/>
                </a:cubicBezTo>
                <a:lnTo>
                  <a:pt x="66710" y="33337"/>
                </a:lnTo>
                <a:close/>
                <a:moveTo>
                  <a:pt x="186690" y="37783"/>
                </a:moveTo>
                <a:cubicBezTo>
                  <a:pt x="190371" y="42679"/>
                  <a:pt x="189364" y="49659"/>
                  <a:pt x="184468" y="53340"/>
                </a:cubicBezTo>
                <a:lnTo>
                  <a:pt x="150505" y="78795"/>
                </a:lnTo>
                <a:cubicBezTo>
                  <a:pt x="152345" y="81885"/>
                  <a:pt x="153734" y="85288"/>
                  <a:pt x="154603" y="88900"/>
                </a:cubicBezTo>
                <a:lnTo>
                  <a:pt x="188913" y="88900"/>
                </a:lnTo>
                <a:cubicBezTo>
                  <a:pt x="195059" y="88900"/>
                  <a:pt x="200025" y="93866"/>
                  <a:pt x="200025" y="100013"/>
                </a:cubicBezTo>
                <a:cubicBezTo>
                  <a:pt x="200025" y="106159"/>
                  <a:pt x="195059" y="111125"/>
                  <a:pt x="188913" y="111125"/>
                </a:cubicBezTo>
                <a:lnTo>
                  <a:pt x="155575" y="111125"/>
                </a:lnTo>
                <a:lnTo>
                  <a:pt x="155575" y="122238"/>
                </a:lnTo>
                <a:cubicBezTo>
                  <a:pt x="155575" y="123140"/>
                  <a:pt x="155540" y="124078"/>
                  <a:pt x="155506" y="124981"/>
                </a:cubicBezTo>
                <a:lnTo>
                  <a:pt x="184468" y="146685"/>
                </a:lnTo>
                <a:cubicBezTo>
                  <a:pt x="189364" y="150366"/>
                  <a:pt x="190371" y="157346"/>
                  <a:pt x="186690" y="162243"/>
                </a:cubicBezTo>
                <a:cubicBezTo>
                  <a:pt x="183009" y="167139"/>
                  <a:pt x="176029" y="168146"/>
                  <a:pt x="171133" y="164465"/>
                </a:cubicBezTo>
                <a:lnTo>
                  <a:pt x="149220" y="148039"/>
                </a:lnTo>
                <a:cubicBezTo>
                  <a:pt x="141163" y="163388"/>
                  <a:pt x="126127" y="174501"/>
                  <a:pt x="108347" y="177175"/>
                </a:cubicBezTo>
                <a:lnTo>
                  <a:pt x="108347" y="97234"/>
                </a:lnTo>
                <a:cubicBezTo>
                  <a:pt x="108347" y="92616"/>
                  <a:pt x="104631" y="88900"/>
                  <a:pt x="100013" y="88900"/>
                </a:cubicBezTo>
                <a:cubicBezTo>
                  <a:pt x="95394" y="88900"/>
                  <a:pt x="91678" y="92616"/>
                  <a:pt x="91678" y="97234"/>
                </a:cubicBezTo>
                <a:lnTo>
                  <a:pt x="91678" y="177175"/>
                </a:lnTo>
                <a:cubicBezTo>
                  <a:pt x="73898" y="174501"/>
                  <a:pt x="58862" y="163388"/>
                  <a:pt x="50805" y="148039"/>
                </a:cubicBezTo>
                <a:lnTo>
                  <a:pt x="28893" y="164465"/>
                </a:lnTo>
                <a:cubicBezTo>
                  <a:pt x="23996" y="168146"/>
                  <a:pt x="17016" y="167139"/>
                  <a:pt x="13335" y="162243"/>
                </a:cubicBezTo>
                <a:cubicBezTo>
                  <a:pt x="9654" y="157346"/>
                  <a:pt x="10661" y="150366"/>
                  <a:pt x="15558" y="146685"/>
                </a:cubicBezTo>
                <a:lnTo>
                  <a:pt x="44519" y="124981"/>
                </a:lnTo>
                <a:cubicBezTo>
                  <a:pt x="44485" y="124078"/>
                  <a:pt x="44450" y="123175"/>
                  <a:pt x="44450" y="122238"/>
                </a:cubicBezTo>
                <a:lnTo>
                  <a:pt x="44450" y="111125"/>
                </a:lnTo>
                <a:lnTo>
                  <a:pt x="11113" y="111125"/>
                </a:lnTo>
                <a:cubicBezTo>
                  <a:pt x="4966" y="111125"/>
                  <a:pt x="0" y="106159"/>
                  <a:pt x="0" y="100013"/>
                </a:cubicBezTo>
                <a:cubicBezTo>
                  <a:pt x="0" y="93866"/>
                  <a:pt x="4966" y="88900"/>
                  <a:pt x="11113" y="88900"/>
                </a:cubicBezTo>
                <a:lnTo>
                  <a:pt x="45422" y="88900"/>
                </a:lnTo>
                <a:cubicBezTo>
                  <a:pt x="46291" y="85288"/>
                  <a:pt x="47680" y="81885"/>
                  <a:pt x="49520" y="78795"/>
                </a:cubicBezTo>
                <a:lnTo>
                  <a:pt x="15558" y="53340"/>
                </a:lnTo>
                <a:cubicBezTo>
                  <a:pt x="10661" y="49659"/>
                  <a:pt x="9654" y="42679"/>
                  <a:pt x="13335" y="37783"/>
                </a:cubicBezTo>
                <a:cubicBezTo>
                  <a:pt x="17016" y="32886"/>
                  <a:pt x="23996" y="31879"/>
                  <a:pt x="28893" y="35560"/>
                </a:cubicBezTo>
                <a:lnTo>
                  <a:pt x="66675" y="63897"/>
                </a:lnTo>
                <a:cubicBezTo>
                  <a:pt x="70946" y="62126"/>
                  <a:pt x="75634" y="61119"/>
                  <a:pt x="80566" y="61119"/>
                </a:cubicBezTo>
                <a:lnTo>
                  <a:pt x="119459" y="61119"/>
                </a:lnTo>
                <a:cubicBezTo>
                  <a:pt x="124391" y="61119"/>
                  <a:pt x="129079" y="62091"/>
                  <a:pt x="133350" y="63897"/>
                </a:cubicBezTo>
                <a:lnTo>
                  <a:pt x="171133" y="35560"/>
                </a:lnTo>
                <a:cubicBezTo>
                  <a:pt x="176029" y="31879"/>
                  <a:pt x="183009" y="32886"/>
                  <a:pt x="186690" y="3778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9" name="Text 47"/>
          <p:cNvSpPr/>
          <p:nvPr/>
        </p:nvSpPr>
        <p:spPr>
          <a:xfrm>
            <a:off x="6470650" y="5689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故障注入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46800" y="5994400"/>
            <a:ext cx="812800" cy="254000"/>
          </a:xfrm>
          <a:custGeom>
            <a:avLst/>
            <a:gdLst/>
            <a:ahLst/>
            <a:cxnLst/>
            <a:rect l="l" t="t" r="r" b="b"/>
            <a:pathLst>
              <a:path w="812800" h="254000">
                <a:moveTo>
                  <a:pt x="50800" y="0"/>
                </a:moveTo>
                <a:lnTo>
                  <a:pt x="762000" y="0"/>
                </a:lnTo>
                <a:cubicBezTo>
                  <a:pt x="790037" y="0"/>
                  <a:pt x="812800" y="22763"/>
                  <a:pt x="812800" y="50800"/>
                </a:cubicBezTo>
                <a:lnTo>
                  <a:pt x="812800" y="203200"/>
                </a:lnTo>
                <a:cubicBezTo>
                  <a:pt x="812800" y="231237"/>
                  <a:pt x="790037" y="254000"/>
                  <a:pt x="7620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146800" y="5994400"/>
            <a:ext cx="8890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重放攻击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010461" y="5994400"/>
            <a:ext cx="965200" cy="254000"/>
          </a:xfrm>
          <a:custGeom>
            <a:avLst/>
            <a:gdLst/>
            <a:ahLst/>
            <a:cxnLst/>
            <a:rect l="l" t="t" r="r" b="b"/>
            <a:pathLst>
              <a:path w="965200" h="254000">
                <a:moveTo>
                  <a:pt x="50800" y="0"/>
                </a:moveTo>
                <a:lnTo>
                  <a:pt x="914400" y="0"/>
                </a:lnTo>
                <a:cubicBezTo>
                  <a:pt x="942437" y="0"/>
                  <a:pt x="965200" y="22763"/>
                  <a:pt x="965200" y="50800"/>
                </a:cubicBezTo>
                <a:lnTo>
                  <a:pt x="965200" y="203200"/>
                </a:lnTo>
                <a:cubicBezTo>
                  <a:pt x="965200" y="231237"/>
                  <a:pt x="942437" y="254000"/>
                  <a:pt x="9144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010461" y="5994400"/>
            <a:ext cx="10414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序列号错误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26522" y="5994400"/>
            <a:ext cx="965200" cy="254000"/>
          </a:xfrm>
          <a:custGeom>
            <a:avLst/>
            <a:gdLst/>
            <a:ahLst/>
            <a:cxnLst/>
            <a:rect l="l" t="t" r="r" b="b"/>
            <a:pathLst>
              <a:path w="965200" h="254000">
                <a:moveTo>
                  <a:pt x="50800" y="0"/>
                </a:moveTo>
                <a:lnTo>
                  <a:pt x="914400" y="0"/>
                </a:lnTo>
                <a:cubicBezTo>
                  <a:pt x="942437" y="0"/>
                  <a:pt x="965200" y="22763"/>
                  <a:pt x="965200" y="50800"/>
                </a:cubicBezTo>
                <a:lnTo>
                  <a:pt x="965200" y="203200"/>
                </a:lnTo>
                <a:cubicBezTo>
                  <a:pt x="965200" y="231237"/>
                  <a:pt x="942437" y="254000"/>
                  <a:pt x="914400" y="254000"/>
                </a:cubicBezTo>
                <a:lnTo>
                  <a:pt x="50800" y="254000"/>
                </a:lnTo>
                <a:cubicBezTo>
                  <a:pt x="22763" y="254000"/>
                  <a:pt x="0" y="231237"/>
                  <a:pt x="0" y="203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026522" y="5994400"/>
            <a:ext cx="10414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双通道故障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5994400" y="65532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172200" y="67437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ubicBezTo>
                  <a:pt x="0" y="39835"/>
                  <a:pt x="39835" y="0"/>
                  <a:pt x="88900" y="0"/>
                </a:cubicBezTo>
                <a:close/>
                <a:moveTo>
                  <a:pt x="80566" y="41672"/>
                </a:moveTo>
                <a:lnTo>
                  <a:pt x="80566" y="88900"/>
                </a:lnTo>
                <a:cubicBezTo>
                  <a:pt x="80566" y="91678"/>
                  <a:pt x="81955" y="94283"/>
                  <a:pt x="84281" y="95845"/>
                </a:cubicBezTo>
                <a:lnTo>
                  <a:pt x="117619" y="118070"/>
                </a:lnTo>
                <a:cubicBezTo>
                  <a:pt x="121439" y="120640"/>
                  <a:pt x="126613" y="119598"/>
                  <a:pt x="129183" y="115744"/>
                </a:cubicBezTo>
                <a:cubicBezTo>
                  <a:pt x="131753" y="111889"/>
                  <a:pt x="130711" y="106749"/>
                  <a:pt x="126856" y="104180"/>
                </a:cubicBezTo>
                <a:lnTo>
                  <a:pt x="97234" y="84455"/>
                </a:lnTo>
                <a:lnTo>
                  <a:pt x="97234" y="41672"/>
                </a:lnTo>
                <a:cubicBezTo>
                  <a:pt x="97234" y="37053"/>
                  <a:pt x="93519" y="33337"/>
                  <a:pt x="88900" y="33337"/>
                </a:cubicBezTo>
                <a:cubicBezTo>
                  <a:pt x="84281" y="33337"/>
                  <a:pt x="80566" y="37053"/>
                  <a:pt x="80566" y="4167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6470650" y="6705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时序监控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146800" y="70104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严格时序监控，检测超时和时序异常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994400" y="75184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172200" y="77089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112" y="11112"/>
                </a:moveTo>
                <a:cubicBezTo>
                  <a:pt x="17259" y="11112"/>
                  <a:pt x="22225" y="16078"/>
                  <a:pt x="22225" y="22225"/>
                </a:cubicBezTo>
                <a:lnTo>
                  <a:pt x="22225" y="138906"/>
                </a:lnTo>
                <a:cubicBezTo>
                  <a:pt x="22225" y="141962"/>
                  <a:pt x="24725" y="144463"/>
                  <a:pt x="27781" y="144463"/>
                </a:cubicBezTo>
                <a:lnTo>
                  <a:pt x="166688" y="144463"/>
                </a:lnTo>
                <a:cubicBezTo>
                  <a:pt x="172834" y="144463"/>
                  <a:pt x="177800" y="149428"/>
                  <a:pt x="177800" y="155575"/>
                </a:cubicBezTo>
                <a:cubicBezTo>
                  <a:pt x="177800" y="161722"/>
                  <a:pt x="172834" y="166688"/>
                  <a:pt x="166688" y="166688"/>
                </a:cubicBezTo>
                <a:lnTo>
                  <a:pt x="27781" y="166688"/>
                </a:lnTo>
                <a:cubicBezTo>
                  <a:pt x="12432" y="166688"/>
                  <a:pt x="0" y="154255"/>
                  <a:pt x="0" y="138906"/>
                </a:cubicBezTo>
                <a:lnTo>
                  <a:pt x="0" y="22225"/>
                </a:lnTo>
                <a:cubicBezTo>
                  <a:pt x="0" y="16078"/>
                  <a:pt x="4966" y="11112"/>
                  <a:pt x="11112" y="11112"/>
                </a:cubicBezTo>
                <a:close/>
                <a:moveTo>
                  <a:pt x="44450" y="33337"/>
                </a:moveTo>
                <a:cubicBezTo>
                  <a:pt x="44450" y="27191"/>
                  <a:pt x="49416" y="22225"/>
                  <a:pt x="55563" y="22225"/>
                </a:cubicBezTo>
                <a:lnTo>
                  <a:pt x="122238" y="22225"/>
                </a:lnTo>
                <a:cubicBezTo>
                  <a:pt x="128384" y="22225"/>
                  <a:pt x="133350" y="27191"/>
                  <a:pt x="133350" y="33337"/>
                </a:cubicBezTo>
                <a:cubicBezTo>
                  <a:pt x="133350" y="39484"/>
                  <a:pt x="128384" y="44450"/>
                  <a:pt x="122238" y="44450"/>
                </a:cubicBezTo>
                <a:lnTo>
                  <a:pt x="55563" y="44450"/>
                </a:lnTo>
                <a:cubicBezTo>
                  <a:pt x="49416" y="44450"/>
                  <a:pt x="44450" y="39484"/>
                  <a:pt x="44450" y="33337"/>
                </a:cubicBezTo>
                <a:close/>
                <a:moveTo>
                  <a:pt x="55563" y="61119"/>
                </a:moveTo>
                <a:lnTo>
                  <a:pt x="100013" y="61119"/>
                </a:lnTo>
                <a:cubicBezTo>
                  <a:pt x="106159" y="61119"/>
                  <a:pt x="111125" y="66085"/>
                  <a:pt x="111125" y="72231"/>
                </a:cubicBezTo>
                <a:cubicBezTo>
                  <a:pt x="111125" y="78378"/>
                  <a:pt x="106159" y="83344"/>
                  <a:pt x="100013" y="83344"/>
                </a:cubicBezTo>
                <a:lnTo>
                  <a:pt x="55563" y="83344"/>
                </a:lnTo>
                <a:cubicBezTo>
                  <a:pt x="49416" y="83344"/>
                  <a:pt x="44450" y="78378"/>
                  <a:pt x="44450" y="72231"/>
                </a:cubicBezTo>
                <a:cubicBezTo>
                  <a:pt x="44450" y="66085"/>
                  <a:pt x="49416" y="61119"/>
                  <a:pt x="55563" y="61119"/>
                </a:cubicBezTo>
                <a:close/>
                <a:moveTo>
                  <a:pt x="55563" y="100013"/>
                </a:moveTo>
                <a:lnTo>
                  <a:pt x="144463" y="100013"/>
                </a:lnTo>
                <a:cubicBezTo>
                  <a:pt x="150609" y="100013"/>
                  <a:pt x="155575" y="104978"/>
                  <a:pt x="155575" y="111125"/>
                </a:cubicBezTo>
                <a:cubicBezTo>
                  <a:pt x="155575" y="117272"/>
                  <a:pt x="150609" y="122238"/>
                  <a:pt x="144463" y="122238"/>
                </a:cubicBezTo>
                <a:lnTo>
                  <a:pt x="55563" y="122238"/>
                </a:lnTo>
                <a:cubicBezTo>
                  <a:pt x="49416" y="122238"/>
                  <a:pt x="44450" y="117272"/>
                  <a:pt x="44450" y="111125"/>
                </a:cubicBezTo>
                <a:cubicBezTo>
                  <a:pt x="44450" y="104978"/>
                  <a:pt x="49416" y="100013"/>
                  <a:pt x="55563" y="10001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2" name="Text 60"/>
          <p:cNvSpPr/>
          <p:nvPr/>
        </p:nvSpPr>
        <p:spPr>
          <a:xfrm>
            <a:off x="6470650" y="76708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统计报告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146800" y="79756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生成详细的仿真统计报告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871201" y="1854200"/>
            <a:ext cx="4876800" cy="6781800"/>
          </a:xfrm>
          <a:custGeom>
            <a:avLst/>
            <a:gdLst/>
            <a:ahLst/>
            <a:cxnLst/>
            <a:rect l="l" t="t" r="r" b="b"/>
            <a:pathLst>
              <a:path w="4876800" h="6781800">
                <a:moveTo>
                  <a:pt x="50800" y="0"/>
                </a:moveTo>
                <a:lnTo>
                  <a:pt x="4826000" y="0"/>
                </a:lnTo>
                <a:cubicBezTo>
                  <a:pt x="4854056" y="0"/>
                  <a:pt x="4876800" y="22744"/>
                  <a:pt x="4876800" y="50800"/>
                </a:cubicBezTo>
                <a:lnTo>
                  <a:pt x="4876800" y="6629400"/>
                </a:lnTo>
                <a:cubicBezTo>
                  <a:pt x="4876800" y="6713512"/>
                  <a:pt x="4808512" y="6781800"/>
                  <a:pt x="4724400" y="6781800"/>
                </a:cubicBezTo>
                <a:lnTo>
                  <a:pt x="152400" y="6781800"/>
                </a:lnTo>
                <a:cubicBezTo>
                  <a:pt x="68288" y="6781800"/>
                  <a:pt x="0" y="6713512"/>
                  <a:pt x="0" y="6629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65" name="Shape 63"/>
          <p:cNvSpPr/>
          <p:nvPr/>
        </p:nvSpPr>
        <p:spPr>
          <a:xfrm>
            <a:off x="10871201" y="1854200"/>
            <a:ext cx="4876800" cy="50800"/>
          </a:xfrm>
          <a:custGeom>
            <a:avLst/>
            <a:gdLst/>
            <a:ahLst/>
            <a:cxnLst/>
            <a:rect l="l" t="t" r="r" b="b"/>
            <a:pathLst>
              <a:path w="4876800" h="50800">
                <a:moveTo>
                  <a:pt x="50800" y="0"/>
                </a:moveTo>
                <a:lnTo>
                  <a:pt x="4826000" y="0"/>
                </a:lnTo>
                <a:cubicBezTo>
                  <a:pt x="4854037" y="0"/>
                  <a:pt x="4876800" y="22763"/>
                  <a:pt x="4876800" y="50800"/>
                </a:cubicBezTo>
                <a:lnTo>
                  <a:pt x="48768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6" name="Shape 64"/>
          <p:cNvSpPr/>
          <p:nvPr/>
        </p:nvSpPr>
        <p:spPr>
          <a:xfrm>
            <a:off x="11176001" y="2184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152400" y="0"/>
                </a:moveTo>
                <a:lnTo>
                  <a:pt x="660400" y="0"/>
                </a:lnTo>
                <a:cubicBezTo>
                  <a:pt x="744512" y="0"/>
                  <a:pt x="812800" y="68288"/>
                  <a:pt x="812800" y="152400"/>
                </a:cubicBezTo>
                <a:lnTo>
                  <a:pt x="812800" y="660400"/>
                </a:lnTo>
                <a:cubicBezTo>
                  <a:pt x="812800" y="744512"/>
                  <a:pt x="744512" y="812800"/>
                  <a:pt x="660400" y="812800"/>
                </a:cubicBezTo>
                <a:lnTo>
                  <a:pt x="152400" y="812800"/>
                </a:lnTo>
                <a:cubicBezTo>
                  <a:pt x="68288" y="812800"/>
                  <a:pt x="0" y="744512"/>
                  <a:pt x="0" y="660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395076" y="240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23812"/>
                </a:moveTo>
                <a:cubicBezTo>
                  <a:pt x="21357" y="23812"/>
                  <a:pt x="0" y="45169"/>
                  <a:pt x="0" y="71438"/>
                </a:cubicBezTo>
                <a:lnTo>
                  <a:pt x="0" y="261938"/>
                </a:lnTo>
                <a:cubicBezTo>
                  <a:pt x="0" y="288206"/>
                  <a:pt x="21357" y="309563"/>
                  <a:pt x="47625" y="309563"/>
                </a:cubicBezTo>
                <a:lnTo>
                  <a:pt x="154781" y="309563"/>
                </a:lnTo>
                <a:lnTo>
                  <a:pt x="142875" y="345281"/>
                </a:lnTo>
                <a:lnTo>
                  <a:pt x="89297" y="345281"/>
                </a:lnTo>
                <a:cubicBezTo>
                  <a:pt x="79400" y="345281"/>
                  <a:pt x="71438" y="353244"/>
                  <a:pt x="71438" y="363141"/>
                </a:cubicBezTo>
                <a:cubicBezTo>
                  <a:pt x="71438" y="373038"/>
                  <a:pt x="79400" y="381000"/>
                  <a:pt x="89297" y="381000"/>
                </a:cubicBezTo>
                <a:lnTo>
                  <a:pt x="291703" y="381000"/>
                </a:lnTo>
                <a:cubicBezTo>
                  <a:pt x="301600" y="381000"/>
                  <a:pt x="309563" y="373038"/>
                  <a:pt x="309563" y="363141"/>
                </a:cubicBezTo>
                <a:cubicBezTo>
                  <a:pt x="309563" y="353244"/>
                  <a:pt x="301600" y="345281"/>
                  <a:pt x="291703" y="345281"/>
                </a:cubicBezTo>
                <a:lnTo>
                  <a:pt x="238125" y="345281"/>
                </a:lnTo>
                <a:lnTo>
                  <a:pt x="226219" y="309563"/>
                </a:lnTo>
                <a:lnTo>
                  <a:pt x="333375" y="309563"/>
                </a:lnTo>
                <a:cubicBezTo>
                  <a:pt x="359643" y="309563"/>
                  <a:pt x="381000" y="288206"/>
                  <a:pt x="381000" y="261938"/>
                </a:cubicBezTo>
                <a:lnTo>
                  <a:pt x="381000" y="71438"/>
                </a:lnTo>
                <a:cubicBezTo>
                  <a:pt x="381000" y="45169"/>
                  <a:pt x="359643" y="23812"/>
                  <a:pt x="333375" y="23812"/>
                </a:cubicBezTo>
                <a:lnTo>
                  <a:pt x="47625" y="23812"/>
                </a:lnTo>
                <a:close/>
                <a:moveTo>
                  <a:pt x="71438" y="71438"/>
                </a:moveTo>
                <a:lnTo>
                  <a:pt x="309563" y="71438"/>
                </a:lnTo>
                <a:cubicBezTo>
                  <a:pt x="322734" y="71438"/>
                  <a:pt x="333375" y="82079"/>
                  <a:pt x="333375" y="95250"/>
                </a:cubicBezTo>
                <a:lnTo>
                  <a:pt x="333375" y="214313"/>
                </a:lnTo>
                <a:cubicBezTo>
                  <a:pt x="333375" y="227484"/>
                  <a:pt x="322734" y="238125"/>
                  <a:pt x="309563" y="238125"/>
                </a:cubicBezTo>
                <a:lnTo>
                  <a:pt x="71438" y="238125"/>
                </a:lnTo>
                <a:cubicBezTo>
                  <a:pt x="58266" y="238125"/>
                  <a:pt x="47625" y="227484"/>
                  <a:pt x="47625" y="214313"/>
                </a:cubicBezTo>
                <a:lnTo>
                  <a:pt x="47625" y="95250"/>
                </a:lnTo>
                <a:cubicBezTo>
                  <a:pt x="47625" y="82079"/>
                  <a:pt x="58266" y="71438"/>
                  <a:pt x="71438" y="714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8" name="Text 66"/>
          <p:cNvSpPr/>
          <p:nvPr/>
        </p:nvSpPr>
        <p:spPr>
          <a:xfrm>
            <a:off x="12192001" y="2387600"/>
            <a:ext cx="1600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可视化GUI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1176001" y="3251200"/>
            <a:ext cx="43688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基于PyQt6的现代化图形界面，支持验证场景配置、实时结果显示、日志分析等功能。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11176001" y="46228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1353801" y="48133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11112" y="22225"/>
                </a:moveTo>
                <a:cubicBezTo>
                  <a:pt x="4966" y="22225"/>
                  <a:pt x="0" y="27191"/>
                  <a:pt x="0" y="33337"/>
                </a:cubicBezTo>
                <a:cubicBezTo>
                  <a:pt x="0" y="39484"/>
                  <a:pt x="4966" y="44450"/>
                  <a:pt x="11112" y="44450"/>
                </a:cubicBezTo>
                <a:lnTo>
                  <a:pt x="41220" y="44450"/>
                </a:lnTo>
                <a:cubicBezTo>
                  <a:pt x="45492" y="54278"/>
                  <a:pt x="55285" y="61119"/>
                  <a:pt x="66675" y="61119"/>
                </a:cubicBezTo>
                <a:cubicBezTo>
                  <a:pt x="78065" y="61119"/>
                  <a:pt x="87858" y="54278"/>
                  <a:pt x="92130" y="44450"/>
                </a:cubicBezTo>
                <a:lnTo>
                  <a:pt x="166688" y="44450"/>
                </a:lnTo>
                <a:cubicBezTo>
                  <a:pt x="172834" y="44450"/>
                  <a:pt x="177800" y="39484"/>
                  <a:pt x="177800" y="33337"/>
                </a:cubicBezTo>
                <a:cubicBezTo>
                  <a:pt x="177800" y="27191"/>
                  <a:pt x="172834" y="22225"/>
                  <a:pt x="166688" y="22225"/>
                </a:cubicBezTo>
                <a:lnTo>
                  <a:pt x="92130" y="22225"/>
                </a:lnTo>
                <a:cubicBezTo>
                  <a:pt x="87858" y="12397"/>
                  <a:pt x="78065" y="5556"/>
                  <a:pt x="66675" y="5556"/>
                </a:cubicBezTo>
                <a:cubicBezTo>
                  <a:pt x="55285" y="5556"/>
                  <a:pt x="45492" y="12397"/>
                  <a:pt x="41220" y="22225"/>
                </a:cubicBezTo>
                <a:lnTo>
                  <a:pt x="11112" y="22225"/>
                </a:lnTo>
                <a:close/>
                <a:moveTo>
                  <a:pt x="11112" y="77788"/>
                </a:move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96783" y="100013"/>
                </a:lnTo>
                <a:cubicBezTo>
                  <a:pt x="101054" y="109840"/>
                  <a:pt x="110847" y="116681"/>
                  <a:pt x="122238" y="116681"/>
                </a:cubicBezTo>
                <a:cubicBezTo>
                  <a:pt x="133628" y="116681"/>
                  <a:pt x="143421" y="109840"/>
                  <a:pt x="147692" y="100013"/>
                </a:cubicBezTo>
                <a:lnTo>
                  <a:pt x="166688" y="100013"/>
                </a:lnTo>
                <a:cubicBezTo>
                  <a:pt x="172834" y="100013"/>
                  <a:pt x="177800" y="95047"/>
                  <a:pt x="177800" y="88900"/>
                </a:cubicBezTo>
                <a:cubicBezTo>
                  <a:pt x="177800" y="82753"/>
                  <a:pt x="172834" y="77788"/>
                  <a:pt x="166688" y="77788"/>
                </a:cubicBezTo>
                <a:lnTo>
                  <a:pt x="147692" y="77788"/>
                </a:lnTo>
                <a:cubicBezTo>
                  <a:pt x="143421" y="67960"/>
                  <a:pt x="133628" y="61119"/>
                  <a:pt x="122238" y="61119"/>
                </a:cubicBezTo>
                <a:cubicBezTo>
                  <a:pt x="110847" y="61119"/>
                  <a:pt x="101054" y="67960"/>
                  <a:pt x="96783" y="77788"/>
                </a:cubicBezTo>
                <a:lnTo>
                  <a:pt x="11112" y="77788"/>
                </a:lnTo>
                <a:close/>
                <a:moveTo>
                  <a:pt x="11112" y="133350"/>
                </a:moveTo>
                <a:cubicBezTo>
                  <a:pt x="4966" y="133350"/>
                  <a:pt x="0" y="138316"/>
                  <a:pt x="0" y="144463"/>
                </a:cubicBezTo>
                <a:cubicBezTo>
                  <a:pt x="0" y="150609"/>
                  <a:pt x="4966" y="155575"/>
                  <a:pt x="11112" y="155575"/>
                </a:cubicBezTo>
                <a:lnTo>
                  <a:pt x="30108" y="155575"/>
                </a:lnTo>
                <a:cubicBezTo>
                  <a:pt x="34379" y="165403"/>
                  <a:pt x="44172" y="172244"/>
                  <a:pt x="55563" y="172244"/>
                </a:cubicBezTo>
                <a:cubicBezTo>
                  <a:pt x="66953" y="172244"/>
                  <a:pt x="76746" y="165403"/>
                  <a:pt x="81017" y="155575"/>
                </a:cubicBezTo>
                <a:lnTo>
                  <a:pt x="166688" y="155575"/>
                </a:lnTo>
                <a:cubicBezTo>
                  <a:pt x="172834" y="155575"/>
                  <a:pt x="177800" y="150609"/>
                  <a:pt x="177800" y="144463"/>
                </a:cubicBezTo>
                <a:cubicBezTo>
                  <a:pt x="177800" y="138316"/>
                  <a:pt x="172834" y="133350"/>
                  <a:pt x="166688" y="133350"/>
                </a:cubicBezTo>
                <a:lnTo>
                  <a:pt x="81017" y="133350"/>
                </a:lnTo>
                <a:cubicBezTo>
                  <a:pt x="76746" y="123522"/>
                  <a:pt x="66953" y="116681"/>
                  <a:pt x="55563" y="116681"/>
                </a:cubicBezTo>
                <a:cubicBezTo>
                  <a:pt x="44172" y="116681"/>
                  <a:pt x="34379" y="123522"/>
                  <a:pt x="30108" y="133350"/>
                </a:cubicBezTo>
                <a:lnTo>
                  <a:pt x="11112" y="1333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2" name="Text 70"/>
          <p:cNvSpPr/>
          <p:nvPr/>
        </p:nvSpPr>
        <p:spPr>
          <a:xfrm>
            <a:off x="11652251" y="4775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场景配置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1328401" y="50800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可视化配置验证场景和参数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11176001" y="55880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353801" y="5778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0" y="88900"/>
                </a:moveTo>
                <a:cubicBezTo>
                  <a:pt x="0" y="39835"/>
                  <a:pt x="39835" y="0"/>
                  <a:pt x="88900" y="0"/>
                </a:cubicBezTo>
                <a:cubicBezTo>
                  <a:pt x="137965" y="0"/>
                  <a:pt x="177800" y="39835"/>
                  <a:pt x="177800" y="88900"/>
                </a:cubicBezTo>
                <a:cubicBezTo>
                  <a:pt x="177800" y="137965"/>
                  <a:pt x="137965" y="177800"/>
                  <a:pt x="88900" y="177800"/>
                </a:cubicBezTo>
                <a:cubicBezTo>
                  <a:pt x="39835" y="177800"/>
                  <a:pt x="0" y="137965"/>
                  <a:pt x="0" y="88900"/>
                </a:cubicBezTo>
                <a:close/>
                <a:moveTo>
                  <a:pt x="65390" y="51083"/>
                </a:moveTo>
                <a:cubicBezTo>
                  <a:pt x="62751" y="52541"/>
                  <a:pt x="61119" y="55354"/>
                  <a:pt x="61119" y="58341"/>
                </a:cubicBezTo>
                <a:lnTo>
                  <a:pt x="61119" y="119459"/>
                </a:lnTo>
                <a:cubicBezTo>
                  <a:pt x="61119" y="122481"/>
                  <a:pt x="62751" y="125259"/>
                  <a:pt x="65390" y="126717"/>
                </a:cubicBezTo>
                <a:cubicBezTo>
                  <a:pt x="68029" y="128176"/>
                  <a:pt x="71224" y="128141"/>
                  <a:pt x="73829" y="126544"/>
                </a:cubicBezTo>
                <a:lnTo>
                  <a:pt x="123835" y="95984"/>
                </a:lnTo>
                <a:cubicBezTo>
                  <a:pt x="126301" y="94456"/>
                  <a:pt x="127828" y="91782"/>
                  <a:pt x="127828" y="88865"/>
                </a:cubicBezTo>
                <a:cubicBezTo>
                  <a:pt x="127828" y="85948"/>
                  <a:pt x="126301" y="83274"/>
                  <a:pt x="123835" y="81746"/>
                </a:cubicBezTo>
                <a:lnTo>
                  <a:pt x="73829" y="51187"/>
                </a:lnTo>
                <a:cubicBezTo>
                  <a:pt x="71259" y="49624"/>
                  <a:pt x="68029" y="49555"/>
                  <a:pt x="65390" y="5101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6" name="Text 74"/>
          <p:cNvSpPr/>
          <p:nvPr/>
        </p:nvSpPr>
        <p:spPr>
          <a:xfrm>
            <a:off x="11652251" y="57404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实时执行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11328401" y="60452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实时显示验证进度和结果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1176001" y="65532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11376026" y="67437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22225"/>
                </a:moveTo>
                <a:cubicBezTo>
                  <a:pt x="0" y="9967"/>
                  <a:pt x="9967" y="0"/>
                  <a:pt x="22225" y="0"/>
                </a:cubicBezTo>
                <a:lnTo>
                  <a:pt x="74141" y="0"/>
                </a:lnTo>
                <a:cubicBezTo>
                  <a:pt x="80045" y="0"/>
                  <a:pt x="85705" y="2327"/>
                  <a:pt x="89872" y="6494"/>
                </a:cubicBezTo>
                <a:lnTo>
                  <a:pt x="126856" y="43512"/>
                </a:lnTo>
                <a:cubicBezTo>
                  <a:pt x="131023" y="47680"/>
                  <a:pt x="133350" y="53340"/>
                  <a:pt x="133350" y="59244"/>
                </a:cubicBezTo>
                <a:lnTo>
                  <a:pt x="133350" y="155575"/>
                </a:lnTo>
                <a:cubicBezTo>
                  <a:pt x="133350" y="167833"/>
                  <a:pt x="123383" y="177800"/>
                  <a:pt x="111125" y="177800"/>
                </a:cubicBezTo>
                <a:lnTo>
                  <a:pt x="22225" y="177800"/>
                </a:lnTo>
                <a:cubicBezTo>
                  <a:pt x="9967" y="177800"/>
                  <a:pt x="0" y="167833"/>
                  <a:pt x="0" y="155575"/>
                </a:cubicBezTo>
                <a:lnTo>
                  <a:pt x="0" y="22225"/>
                </a:lnTo>
                <a:close/>
                <a:moveTo>
                  <a:pt x="72231" y="20315"/>
                </a:moveTo>
                <a:lnTo>
                  <a:pt x="72231" y="52784"/>
                </a:lnTo>
                <a:cubicBezTo>
                  <a:pt x="72231" y="57403"/>
                  <a:pt x="75947" y="61119"/>
                  <a:pt x="80566" y="61119"/>
                </a:cubicBezTo>
                <a:lnTo>
                  <a:pt x="113035" y="61119"/>
                </a:lnTo>
                <a:lnTo>
                  <a:pt x="72231" y="20315"/>
                </a:lnTo>
                <a:close/>
                <a:moveTo>
                  <a:pt x="41672" y="88900"/>
                </a:moveTo>
                <a:cubicBezTo>
                  <a:pt x="37053" y="88900"/>
                  <a:pt x="33337" y="92616"/>
                  <a:pt x="33337" y="97234"/>
                </a:cubicBezTo>
                <a:cubicBezTo>
                  <a:pt x="33337" y="101853"/>
                  <a:pt x="37053" y="105569"/>
                  <a:pt x="41672" y="105569"/>
                </a:cubicBezTo>
                <a:lnTo>
                  <a:pt x="91678" y="105569"/>
                </a:lnTo>
                <a:cubicBezTo>
                  <a:pt x="96297" y="105569"/>
                  <a:pt x="100013" y="101853"/>
                  <a:pt x="100013" y="97234"/>
                </a:cubicBezTo>
                <a:cubicBezTo>
                  <a:pt x="100013" y="92616"/>
                  <a:pt x="96297" y="88900"/>
                  <a:pt x="91678" y="88900"/>
                </a:cubicBezTo>
                <a:lnTo>
                  <a:pt x="41672" y="88900"/>
                </a:lnTo>
                <a:close/>
                <a:moveTo>
                  <a:pt x="41672" y="122238"/>
                </a:moveTo>
                <a:cubicBezTo>
                  <a:pt x="37053" y="122238"/>
                  <a:pt x="33337" y="125953"/>
                  <a:pt x="33337" y="130572"/>
                </a:cubicBezTo>
                <a:cubicBezTo>
                  <a:pt x="33337" y="135191"/>
                  <a:pt x="37053" y="138906"/>
                  <a:pt x="41672" y="138906"/>
                </a:cubicBezTo>
                <a:lnTo>
                  <a:pt x="91678" y="138906"/>
                </a:lnTo>
                <a:cubicBezTo>
                  <a:pt x="96297" y="138906"/>
                  <a:pt x="100013" y="135191"/>
                  <a:pt x="100013" y="130572"/>
                </a:cubicBezTo>
                <a:cubicBezTo>
                  <a:pt x="100013" y="125953"/>
                  <a:pt x="96297" y="122238"/>
                  <a:pt x="91678" y="122238"/>
                </a:cubicBezTo>
                <a:lnTo>
                  <a:pt x="41672" y="12223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0" name="Text 78"/>
          <p:cNvSpPr/>
          <p:nvPr/>
        </p:nvSpPr>
        <p:spPr>
          <a:xfrm>
            <a:off x="11652251" y="6705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日志分析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11328401" y="70104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详细的执行日志和错误信息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11176001" y="7518400"/>
            <a:ext cx="4267200" cy="812800"/>
          </a:xfrm>
          <a:custGeom>
            <a:avLst/>
            <a:gdLst/>
            <a:ahLst/>
            <a:cxnLst/>
            <a:rect l="l" t="t" r="r" b="b"/>
            <a:pathLst>
              <a:path w="4267200" h="812800">
                <a:moveTo>
                  <a:pt x="101600" y="0"/>
                </a:moveTo>
                <a:lnTo>
                  <a:pt x="4165600" y="0"/>
                </a:lnTo>
                <a:cubicBezTo>
                  <a:pt x="4221675" y="0"/>
                  <a:pt x="4267200" y="45525"/>
                  <a:pt x="4267200" y="101600"/>
                </a:cubicBezTo>
                <a:lnTo>
                  <a:pt x="4267200" y="711200"/>
                </a:lnTo>
                <a:cubicBezTo>
                  <a:pt x="4267200" y="767275"/>
                  <a:pt x="4221675" y="812800"/>
                  <a:pt x="41656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11342688" y="77089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77939" y="83344"/>
                </a:moveTo>
                <a:lnTo>
                  <a:pt x="116820" y="83344"/>
                </a:lnTo>
                <a:cubicBezTo>
                  <a:pt x="110674" y="83344"/>
                  <a:pt x="105708" y="78378"/>
                  <a:pt x="105708" y="72231"/>
                </a:cubicBezTo>
                <a:lnTo>
                  <a:pt x="105708" y="11112"/>
                </a:lnTo>
                <a:cubicBezTo>
                  <a:pt x="105708" y="4966"/>
                  <a:pt x="110708" y="-69"/>
                  <a:pt x="116785" y="729"/>
                </a:cubicBezTo>
                <a:cubicBezTo>
                  <a:pt x="153943" y="5660"/>
                  <a:pt x="183391" y="35109"/>
                  <a:pt x="188322" y="72266"/>
                </a:cubicBezTo>
                <a:cubicBezTo>
                  <a:pt x="189121" y="78343"/>
                  <a:pt x="184086" y="83344"/>
                  <a:pt x="177939" y="83344"/>
                </a:cubicBezTo>
                <a:close/>
                <a:moveTo>
                  <a:pt x="77301" y="12918"/>
                </a:moveTo>
                <a:cubicBezTo>
                  <a:pt x="83587" y="11599"/>
                  <a:pt x="89039" y="16738"/>
                  <a:pt x="89039" y="23163"/>
                </a:cubicBezTo>
                <a:lnTo>
                  <a:pt x="89039" y="91678"/>
                </a:lnTo>
                <a:cubicBezTo>
                  <a:pt x="89039" y="93623"/>
                  <a:pt x="89733" y="95498"/>
                  <a:pt x="90949" y="96991"/>
                </a:cubicBezTo>
                <a:lnTo>
                  <a:pt x="136823" y="152345"/>
                </a:lnTo>
                <a:cubicBezTo>
                  <a:pt x="140886" y="157242"/>
                  <a:pt x="140017" y="164639"/>
                  <a:pt x="134427" y="167660"/>
                </a:cubicBezTo>
                <a:cubicBezTo>
                  <a:pt x="122585" y="174119"/>
                  <a:pt x="109007" y="177800"/>
                  <a:pt x="94595" y="177800"/>
                </a:cubicBezTo>
                <a:cubicBezTo>
                  <a:pt x="48582" y="177800"/>
                  <a:pt x="11251" y="140469"/>
                  <a:pt x="11251" y="94456"/>
                </a:cubicBezTo>
                <a:cubicBezTo>
                  <a:pt x="11251" y="54347"/>
                  <a:pt x="39554" y="20871"/>
                  <a:pt x="77301" y="12918"/>
                </a:cubicBezTo>
                <a:close/>
                <a:moveTo>
                  <a:pt x="165924" y="100013"/>
                </a:moveTo>
                <a:lnTo>
                  <a:pt x="188149" y="100013"/>
                </a:lnTo>
                <a:cubicBezTo>
                  <a:pt x="194573" y="100013"/>
                  <a:pt x="199712" y="105465"/>
                  <a:pt x="198393" y="111750"/>
                </a:cubicBezTo>
                <a:cubicBezTo>
                  <a:pt x="194851" y="128558"/>
                  <a:pt x="186239" y="143490"/>
                  <a:pt x="174223" y="154880"/>
                </a:cubicBezTo>
                <a:cubicBezTo>
                  <a:pt x="169952" y="158943"/>
                  <a:pt x="163250" y="158075"/>
                  <a:pt x="159499" y="153526"/>
                </a:cubicBezTo>
                <a:lnTo>
                  <a:pt x="130190" y="118209"/>
                </a:lnTo>
                <a:cubicBezTo>
                  <a:pt x="124182" y="110951"/>
                  <a:pt x="129356" y="100013"/>
                  <a:pt x="138733" y="100013"/>
                </a:cubicBezTo>
                <a:lnTo>
                  <a:pt x="165889" y="10001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4" name="Text 82"/>
          <p:cNvSpPr/>
          <p:nvPr/>
        </p:nvSpPr>
        <p:spPr>
          <a:xfrm>
            <a:off x="11652251" y="76708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统计展示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11328401" y="7975600"/>
            <a:ext cx="4038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验证统计信息和覆盖率报告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VERIFICATION RESULTS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验证成果：测试全覆盖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3862" y="1834662"/>
            <a:ext cx="3605823" cy="2145323"/>
          </a:xfrm>
          <a:custGeom>
            <a:avLst/>
            <a:gdLst/>
            <a:ahLst/>
            <a:cxnLst/>
            <a:rect l="l" t="t" r="r" b="b"/>
            <a:pathLst>
              <a:path w="3605823" h="2145323">
                <a:moveTo>
                  <a:pt x="152404" y="0"/>
                </a:moveTo>
                <a:lnTo>
                  <a:pt x="3453419" y="0"/>
                </a:lnTo>
                <a:cubicBezTo>
                  <a:pt x="3537590" y="0"/>
                  <a:pt x="3605823" y="68233"/>
                  <a:pt x="3605823" y="152404"/>
                </a:cubicBezTo>
                <a:lnTo>
                  <a:pt x="3605823" y="1992919"/>
                </a:lnTo>
                <a:cubicBezTo>
                  <a:pt x="3605823" y="2077090"/>
                  <a:pt x="3537590" y="2145323"/>
                  <a:pt x="3453419" y="2145323"/>
                </a:cubicBezTo>
                <a:lnTo>
                  <a:pt x="152404" y="2145323"/>
                </a:lnTo>
                <a:cubicBezTo>
                  <a:pt x="68233" y="2145323"/>
                  <a:pt x="0" y="2077090"/>
                  <a:pt x="0" y="1992919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4023" y="214532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7373" y="300892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测试用例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0073" y="341532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全部通过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7362" y="1834662"/>
            <a:ext cx="3605823" cy="2145323"/>
          </a:xfrm>
          <a:custGeom>
            <a:avLst/>
            <a:gdLst/>
            <a:ahLst/>
            <a:cxnLst/>
            <a:rect l="l" t="t" r="r" b="b"/>
            <a:pathLst>
              <a:path w="3605823" h="2145323">
                <a:moveTo>
                  <a:pt x="152404" y="0"/>
                </a:moveTo>
                <a:lnTo>
                  <a:pt x="3453419" y="0"/>
                </a:lnTo>
                <a:cubicBezTo>
                  <a:pt x="3537590" y="0"/>
                  <a:pt x="3605823" y="68233"/>
                  <a:pt x="3605823" y="152404"/>
                </a:cubicBezTo>
                <a:lnTo>
                  <a:pt x="3605823" y="1992919"/>
                </a:lnTo>
                <a:cubicBezTo>
                  <a:pt x="3605823" y="2077090"/>
                  <a:pt x="3537590" y="2145323"/>
                  <a:pt x="3453419" y="2145323"/>
                </a:cubicBezTo>
                <a:lnTo>
                  <a:pt x="152404" y="2145323"/>
                </a:lnTo>
                <a:cubicBezTo>
                  <a:pt x="68233" y="2145323"/>
                  <a:pt x="0" y="2077090"/>
                  <a:pt x="0" y="1992919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07523" y="214532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0873" y="300892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代码覆盖率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53573" y="341532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60862" y="1834662"/>
            <a:ext cx="3605823" cy="2145323"/>
          </a:xfrm>
          <a:custGeom>
            <a:avLst/>
            <a:gdLst/>
            <a:ahLst/>
            <a:cxnLst/>
            <a:rect l="l" t="t" r="r" b="b"/>
            <a:pathLst>
              <a:path w="3605823" h="2145323">
                <a:moveTo>
                  <a:pt x="152404" y="0"/>
                </a:moveTo>
                <a:lnTo>
                  <a:pt x="3453419" y="0"/>
                </a:lnTo>
                <a:cubicBezTo>
                  <a:pt x="3537590" y="0"/>
                  <a:pt x="3605823" y="68233"/>
                  <a:pt x="3605823" y="152404"/>
                </a:cubicBezTo>
                <a:lnTo>
                  <a:pt x="3605823" y="1992919"/>
                </a:lnTo>
                <a:cubicBezTo>
                  <a:pt x="3605823" y="2077090"/>
                  <a:pt x="3537590" y="2145323"/>
                  <a:pt x="3453419" y="2145323"/>
                </a:cubicBezTo>
                <a:lnTo>
                  <a:pt x="152404" y="2145323"/>
                </a:lnTo>
                <a:cubicBezTo>
                  <a:pt x="68233" y="2145323"/>
                  <a:pt x="0" y="2077090"/>
                  <a:pt x="0" y="1992919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1023" y="214532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14373" y="300892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测试模块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27073" y="341532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全面覆盖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2134362" y="1834662"/>
            <a:ext cx="3605823" cy="2145323"/>
          </a:xfrm>
          <a:custGeom>
            <a:avLst/>
            <a:gdLst/>
            <a:ahLst/>
            <a:cxnLst/>
            <a:rect l="l" t="t" r="r" b="b"/>
            <a:pathLst>
              <a:path w="3605823" h="2145323">
                <a:moveTo>
                  <a:pt x="152404" y="0"/>
                </a:moveTo>
                <a:lnTo>
                  <a:pt x="3453419" y="0"/>
                </a:lnTo>
                <a:cubicBezTo>
                  <a:pt x="3537590" y="0"/>
                  <a:pt x="3605823" y="68233"/>
                  <a:pt x="3605823" y="152404"/>
                </a:cubicBezTo>
                <a:lnTo>
                  <a:pt x="3605823" y="1992919"/>
                </a:lnTo>
                <a:cubicBezTo>
                  <a:pt x="3605823" y="2077090"/>
                  <a:pt x="3537590" y="2145323"/>
                  <a:pt x="3453419" y="2145323"/>
                </a:cubicBezTo>
                <a:lnTo>
                  <a:pt x="152404" y="2145323"/>
                </a:lnTo>
                <a:cubicBezTo>
                  <a:pt x="68233" y="2145323"/>
                  <a:pt x="0" y="2077090"/>
                  <a:pt x="0" y="1992919"/>
                </a:cubicBezTo>
                <a:lnTo>
                  <a:pt x="0" y="152404"/>
                </a:lnTo>
                <a:cubicBezTo>
                  <a:pt x="0" y="68290"/>
                  <a:pt x="68290" y="0"/>
                  <a:pt x="152404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254523" y="2145320"/>
            <a:ext cx="3365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87873" y="3008920"/>
            <a:ext cx="3098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00573" y="3415320"/>
            <a:ext cx="3073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零失败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4239847"/>
            <a:ext cx="7493000" cy="5080000"/>
          </a:xfrm>
          <a:custGeom>
            <a:avLst/>
            <a:gdLst/>
            <a:ahLst/>
            <a:cxnLst/>
            <a:rect l="l" t="t" r="r" b="b"/>
            <a:pathLst>
              <a:path w="7493000" h="5080000">
                <a:moveTo>
                  <a:pt x="1524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4927600"/>
                </a:lnTo>
                <a:cubicBezTo>
                  <a:pt x="7493000" y="5011712"/>
                  <a:pt x="7424712" y="5080000"/>
                  <a:pt x="7340600" y="5080000"/>
                </a:cubicBezTo>
                <a:lnTo>
                  <a:pt x="152400" y="5080000"/>
                </a:lnTo>
                <a:cubicBezTo>
                  <a:pt x="68288" y="5080000"/>
                  <a:pt x="0" y="5011712"/>
                  <a:pt x="0" y="492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12800" y="4544647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测试模块统计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5103447"/>
            <a:ext cx="6883400" cy="660400"/>
          </a:xfrm>
          <a:custGeom>
            <a:avLst/>
            <a:gdLst/>
            <a:ahLst/>
            <a:cxnLst/>
            <a:rect l="l" t="t" r="r" b="b"/>
            <a:pathLst>
              <a:path w="6883400" h="6604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558797"/>
                </a:lnTo>
                <a:cubicBezTo>
                  <a:pt x="6883400" y="614911"/>
                  <a:pt x="6837911" y="660400"/>
                  <a:pt x="6781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90600" y="533204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7434" y="0"/>
                  <a:pt x="112792" y="3215"/>
                  <a:pt x="115570" y="8334"/>
                </a:cubicBezTo>
                <a:lnTo>
                  <a:pt x="201295" y="167084"/>
                </a:lnTo>
                <a:cubicBezTo>
                  <a:pt x="203954" y="172006"/>
                  <a:pt x="203835" y="177959"/>
                  <a:pt x="200978" y="182761"/>
                </a:cubicBezTo>
                <a:cubicBezTo>
                  <a:pt x="198120" y="187563"/>
                  <a:pt x="192921" y="190500"/>
                  <a:pt x="187325" y="190500"/>
                </a:cubicBezTo>
                <a:lnTo>
                  <a:pt x="15875" y="190500"/>
                </a:lnTo>
                <a:cubicBezTo>
                  <a:pt x="10279" y="190500"/>
                  <a:pt x="5120" y="187563"/>
                  <a:pt x="2223" y="182761"/>
                </a:cubicBezTo>
                <a:cubicBezTo>
                  <a:pt x="-675" y="177959"/>
                  <a:pt x="-754" y="172006"/>
                  <a:pt x="1905" y="167084"/>
                </a:cubicBezTo>
                <a:lnTo>
                  <a:pt x="87630" y="8334"/>
                </a:lnTo>
                <a:cubicBezTo>
                  <a:pt x="90408" y="3215"/>
                  <a:pt x="95766" y="0"/>
                  <a:pt x="101600" y="0"/>
                </a:cubicBezTo>
                <a:close/>
                <a:moveTo>
                  <a:pt x="101600" y="66675"/>
                </a:moveTo>
                <a:cubicBezTo>
                  <a:pt x="96322" y="66675"/>
                  <a:pt x="92075" y="70922"/>
                  <a:pt x="92075" y="76200"/>
                </a:cubicBezTo>
                <a:lnTo>
                  <a:pt x="92075" y="120650"/>
                </a:lnTo>
                <a:cubicBezTo>
                  <a:pt x="92075" y="125928"/>
                  <a:pt x="96322" y="130175"/>
                  <a:pt x="101600" y="130175"/>
                </a:cubicBezTo>
                <a:cubicBezTo>
                  <a:pt x="106878" y="130175"/>
                  <a:pt x="111125" y="125928"/>
                  <a:pt x="111125" y="120650"/>
                </a:cubicBezTo>
                <a:lnTo>
                  <a:pt x="111125" y="76200"/>
                </a:lnTo>
                <a:cubicBezTo>
                  <a:pt x="111125" y="70922"/>
                  <a:pt x="106878" y="66675"/>
                  <a:pt x="101600" y="66675"/>
                </a:cubicBezTo>
                <a:close/>
                <a:moveTo>
                  <a:pt x="112197" y="152400"/>
                </a:moveTo>
                <a:cubicBezTo>
                  <a:pt x="112438" y="148467"/>
                  <a:pt x="110476" y="144724"/>
                  <a:pt x="107104" y="142685"/>
                </a:cubicBezTo>
                <a:cubicBezTo>
                  <a:pt x="103732" y="140645"/>
                  <a:pt x="99507" y="140645"/>
                  <a:pt x="96135" y="142685"/>
                </a:cubicBezTo>
                <a:cubicBezTo>
                  <a:pt x="92764" y="144724"/>
                  <a:pt x="90802" y="148467"/>
                  <a:pt x="91043" y="152400"/>
                </a:cubicBezTo>
                <a:cubicBezTo>
                  <a:pt x="90802" y="156333"/>
                  <a:pt x="92764" y="160076"/>
                  <a:pt x="96135" y="162115"/>
                </a:cubicBezTo>
                <a:cubicBezTo>
                  <a:pt x="99507" y="164155"/>
                  <a:pt x="103732" y="164155"/>
                  <a:pt x="107104" y="162115"/>
                </a:cubicBezTo>
                <a:cubicBezTo>
                  <a:pt x="110476" y="160076"/>
                  <a:pt x="112438" y="156333"/>
                  <a:pt x="112197" y="1524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5281247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test_exceptions.py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2779" y="5281247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 测试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883340" y="5255847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177800" y="0"/>
                </a:moveTo>
                <a:lnTo>
                  <a:pt x="482600" y="0"/>
                </a:lnTo>
                <a:cubicBezTo>
                  <a:pt x="580730" y="0"/>
                  <a:pt x="660400" y="79670"/>
                  <a:pt x="660400" y="177800"/>
                </a:cubicBezTo>
                <a:lnTo>
                  <a:pt x="660400" y="177800"/>
                </a:lnTo>
                <a:cubicBezTo>
                  <a:pt x="660400" y="275930"/>
                  <a:pt x="580730" y="355600"/>
                  <a:pt x="482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883340" y="5255847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2800" y="5916247"/>
            <a:ext cx="6883400" cy="660400"/>
          </a:xfrm>
          <a:custGeom>
            <a:avLst/>
            <a:gdLst/>
            <a:ahLst/>
            <a:cxnLst/>
            <a:rect l="l" t="t" r="r" b="b"/>
            <a:pathLst>
              <a:path w="6883400" h="6604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558797"/>
                </a:lnTo>
                <a:cubicBezTo>
                  <a:pt x="6883400" y="614911"/>
                  <a:pt x="6837911" y="660400"/>
                  <a:pt x="6781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90600" y="614484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31750"/>
                </a:moveTo>
                <a:cubicBezTo>
                  <a:pt x="0" y="21233"/>
                  <a:pt x="8533" y="12700"/>
                  <a:pt x="19050" y="12700"/>
                </a:cubicBezTo>
                <a:lnTo>
                  <a:pt x="57150" y="12700"/>
                </a:lnTo>
                <a:cubicBezTo>
                  <a:pt x="67667" y="12700"/>
                  <a:pt x="76200" y="21233"/>
                  <a:pt x="76200" y="31750"/>
                </a:cubicBezTo>
                <a:lnTo>
                  <a:pt x="76200" y="38100"/>
                </a:lnTo>
                <a:lnTo>
                  <a:pt x="127000" y="38100"/>
                </a:lnTo>
                <a:lnTo>
                  <a:pt x="127000" y="31750"/>
                </a:lnTo>
                <a:cubicBezTo>
                  <a:pt x="127000" y="21233"/>
                  <a:pt x="135533" y="12700"/>
                  <a:pt x="146050" y="12700"/>
                </a:cubicBezTo>
                <a:lnTo>
                  <a:pt x="184150" y="12700"/>
                </a:lnTo>
                <a:cubicBezTo>
                  <a:pt x="194667" y="12700"/>
                  <a:pt x="203200" y="21233"/>
                  <a:pt x="203200" y="31750"/>
                </a:cubicBezTo>
                <a:lnTo>
                  <a:pt x="203200" y="69850"/>
                </a:lnTo>
                <a:cubicBezTo>
                  <a:pt x="203200" y="80367"/>
                  <a:pt x="194667" y="88900"/>
                  <a:pt x="184150" y="88900"/>
                </a:cubicBezTo>
                <a:lnTo>
                  <a:pt x="146050" y="88900"/>
                </a:lnTo>
                <a:cubicBezTo>
                  <a:pt x="135533" y="88900"/>
                  <a:pt x="127000" y="80367"/>
                  <a:pt x="127000" y="69850"/>
                </a:cubicBezTo>
                <a:lnTo>
                  <a:pt x="127000" y="63500"/>
                </a:lnTo>
                <a:lnTo>
                  <a:pt x="76200" y="63500"/>
                </a:lnTo>
                <a:lnTo>
                  <a:pt x="76200" y="69850"/>
                </a:lnTo>
                <a:cubicBezTo>
                  <a:pt x="76200" y="72747"/>
                  <a:pt x="75525" y="75525"/>
                  <a:pt x="74374" y="77986"/>
                </a:cubicBezTo>
                <a:lnTo>
                  <a:pt x="101600" y="114300"/>
                </a:lnTo>
                <a:lnTo>
                  <a:pt x="133350" y="114300"/>
                </a:lnTo>
                <a:cubicBezTo>
                  <a:pt x="143867" y="114300"/>
                  <a:pt x="152400" y="122833"/>
                  <a:pt x="152400" y="133350"/>
                </a:cubicBezTo>
                <a:lnTo>
                  <a:pt x="152400" y="171450"/>
                </a:lnTo>
                <a:cubicBezTo>
                  <a:pt x="152400" y="181967"/>
                  <a:pt x="143867" y="190500"/>
                  <a:pt x="133350" y="190500"/>
                </a:cubicBezTo>
                <a:lnTo>
                  <a:pt x="95250" y="190500"/>
                </a:lnTo>
                <a:cubicBezTo>
                  <a:pt x="84733" y="190500"/>
                  <a:pt x="76200" y="181967"/>
                  <a:pt x="76200" y="171450"/>
                </a:cubicBezTo>
                <a:lnTo>
                  <a:pt x="76200" y="133350"/>
                </a:lnTo>
                <a:cubicBezTo>
                  <a:pt x="76200" y="130453"/>
                  <a:pt x="76875" y="127675"/>
                  <a:pt x="78026" y="125214"/>
                </a:cubicBezTo>
                <a:lnTo>
                  <a:pt x="50800" y="88900"/>
                </a:lnTo>
                <a:lnTo>
                  <a:pt x="19050" y="88900"/>
                </a:lnTo>
                <a:cubicBezTo>
                  <a:pt x="8533" y="88900"/>
                  <a:pt x="0" y="80367"/>
                  <a:pt x="0" y="69850"/>
                </a:cubicBezTo>
                <a:lnTo>
                  <a:pt x="0" y="317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8"/>
          <p:cNvSpPr/>
          <p:nvPr/>
        </p:nvSpPr>
        <p:spPr>
          <a:xfrm>
            <a:off x="1371600" y="6094047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test_state_machine.py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13206" y="6094047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 测试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883340" y="6068647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177800" y="0"/>
                </a:moveTo>
                <a:lnTo>
                  <a:pt x="482600" y="0"/>
                </a:lnTo>
                <a:cubicBezTo>
                  <a:pt x="580730" y="0"/>
                  <a:pt x="660400" y="79670"/>
                  <a:pt x="660400" y="177800"/>
                </a:cubicBezTo>
                <a:lnTo>
                  <a:pt x="660400" y="177800"/>
                </a:lnTo>
                <a:cubicBezTo>
                  <a:pt x="660400" y="275930"/>
                  <a:pt x="580730" y="355600"/>
                  <a:pt x="482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883340" y="6068647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" y="6729047"/>
            <a:ext cx="6883400" cy="660400"/>
          </a:xfrm>
          <a:custGeom>
            <a:avLst/>
            <a:gdLst/>
            <a:ahLst/>
            <a:cxnLst/>
            <a:rect l="l" t="t" r="r" b="b"/>
            <a:pathLst>
              <a:path w="6883400" h="6604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558797"/>
                </a:lnTo>
                <a:cubicBezTo>
                  <a:pt x="6883400" y="614911"/>
                  <a:pt x="6837911" y="660400"/>
                  <a:pt x="6781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77900" y="6957647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98425" y="34925"/>
                </a:moveTo>
                <a:lnTo>
                  <a:pt x="130175" y="34925"/>
                </a:lnTo>
                <a:lnTo>
                  <a:pt x="130175" y="53975"/>
                </a:lnTo>
                <a:lnTo>
                  <a:pt x="98425" y="53975"/>
                </a:lnTo>
                <a:lnTo>
                  <a:pt x="98425" y="34925"/>
                </a:lnTo>
                <a:close/>
                <a:moveTo>
                  <a:pt x="95250" y="12700"/>
                </a:moveTo>
                <a:cubicBezTo>
                  <a:pt x="84733" y="12700"/>
                  <a:pt x="76200" y="21233"/>
                  <a:pt x="76200" y="31750"/>
                </a:cubicBezTo>
                <a:lnTo>
                  <a:pt x="76200" y="57150"/>
                </a:lnTo>
                <a:cubicBezTo>
                  <a:pt x="76200" y="67667"/>
                  <a:pt x="84733" y="76200"/>
                  <a:pt x="95250" y="76200"/>
                </a:cubicBezTo>
                <a:lnTo>
                  <a:pt x="101600" y="76200"/>
                </a:lnTo>
                <a:lnTo>
                  <a:pt x="101600" y="88900"/>
                </a:lnTo>
                <a:lnTo>
                  <a:pt x="12700" y="88900"/>
                </a:lnTo>
                <a:cubicBezTo>
                  <a:pt x="5675" y="88900"/>
                  <a:pt x="0" y="94575"/>
                  <a:pt x="0" y="101600"/>
                </a:cubicBezTo>
                <a:cubicBezTo>
                  <a:pt x="0" y="108625"/>
                  <a:pt x="5675" y="114300"/>
                  <a:pt x="12700" y="114300"/>
                </a:cubicBezTo>
                <a:lnTo>
                  <a:pt x="50800" y="114300"/>
                </a:lnTo>
                <a:lnTo>
                  <a:pt x="50800" y="127000"/>
                </a:lnTo>
                <a:lnTo>
                  <a:pt x="44450" y="127000"/>
                </a:lnTo>
                <a:cubicBezTo>
                  <a:pt x="33933" y="127000"/>
                  <a:pt x="25400" y="135533"/>
                  <a:pt x="25400" y="146050"/>
                </a:cubicBezTo>
                <a:lnTo>
                  <a:pt x="25400" y="171450"/>
                </a:lnTo>
                <a:cubicBezTo>
                  <a:pt x="25400" y="181967"/>
                  <a:pt x="33933" y="190500"/>
                  <a:pt x="44450" y="190500"/>
                </a:cubicBezTo>
                <a:lnTo>
                  <a:pt x="82550" y="190500"/>
                </a:lnTo>
                <a:cubicBezTo>
                  <a:pt x="93067" y="190500"/>
                  <a:pt x="101600" y="181967"/>
                  <a:pt x="101600" y="171450"/>
                </a:cubicBezTo>
                <a:lnTo>
                  <a:pt x="101600" y="146050"/>
                </a:lnTo>
                <a:cubicBezTo>
                  <a:pt x="101600" y="135533"/>
                  <a:pt x="93067" y="127000"/>
                  <a:pt x="82550" y="127000"/>
                </a:cubicBezTo>
                <a:lnTo>
                  <a:pt x="76200" y="127000"/>
                </a:lnTo>
                <a:lnTo>
                  <a:pt x="76200" y="114300"/>
                </a:lnTo>
                <a:lnTo>
                  <a:pt x="152400" y="114300"/>
                </a:lnTo>
                <a:lnTo>
                  <a:pt x="152400" y="127000"/>
                </a:lnTo>
                <a:lnTo>
                  <a:pt x="146050" y="127000"/>
                </a:lnTo>
                <a:cubicBezTo>
                  <a:pt x="135533" y="127000"/>
                  <a:pt x="127000" y="135533"/>
                  <a:pt x="127000" y="146050"/>
                </a:cubicBezTo>
                <a:lnTo>
                  <a:pt x="127000" y="171450"/>
                </a:lnTo>
                <a:cubicBezTo>
                  <a:pt x="127000" y="181967"/>
                  <a:pt x="135533" y="190500"/>
                  <a:pt x="146050" y="190500"/>
                </a:cubicBezTo>
                <a:lnTo>
                  <a:pt x="184150" y="190500"/>
                </a:lnTo>
                <a:cubicBezTo>
                  <a:pt x="194667" y="190500"/>
                  <a:pt x="203200" y="181967"/>
                  <a:pt x="203200" y="171450"/>
                </a:cubicBezTo>
                <a:lnTo>
                  <a:pt x="203200" y="146050"/>
                </a:lnTo>
                <a:cubicBezTo>
                  <a:pt x="203200" y="135533"/>
                  <a:pt x="194667" y="127000"/>
                  <a:pt x="184150" y="127000"/>
                </a:cubicBezTo>
                <a:lnTo>
                  <a:pt x="177800" y="127000"/>
                </a:lnTo>
                <a:lnTo>
                  <a:pt x="177800" y="114300"/>
                </a:lnTo>
                <a:lnTo>
                  <a:pt x="215900" y="114300"/>
                </a:lnTo>
                <a:cubicBezTo>
                  <a:pt x="222925" y="114300"/>
                  <a:pt x="228600" y="108625"/>
                  <a:pt x="228600" y="101600"/>
                </a:cubicBezTo>
                <a:cubicBezTo>
                  <a:pt x="228600" y="94575"/>
                  <a:pt x="222925" y="88900"/>
                  <a:pt x="215900" y="88900"/>
                </a:cubicBezTo>
                <a:lnTo>
                  <a:pt x="127000" y="88900"/>
                </a:lnTo>
                <a:lnTo>
                  <a:pt x="127000" y="76200"/>
                </a:lnTo>
                <a:lnTo>
                  <a:pt x="133350" y="76200"/>
                </a:lnTo>
                <a:cubicBezTo>
                  <a:pt x="143867" y="76200"/>
                  <a:pt x="152400" y="67667"/>
                  <a:pt x="152400" y="57150"/>
                </a:cubicBezTo>
                <a:lnTo>
                  <a:pt x="152400" y="31750"/>
                </a:lnTo>
                <a:cubicBezTo>
                  <a:pt x="152400" y="21233"/>
                  <a:pt x="143867" y="12700"/>
                  <a:pt x="133350" y="12700"/>
                </a:cubicBezTo>
                <a:lnTo>
                  <a:pt x="95250" y="12700"/>
                </a:lnTo>
                <a:close/>
                <a:moveTo>
                  <a:pt x="177800" y="149225"/>
                </a:moveTo>
                <a:lnTo>
                  <a:pt x="180975" y="149225"/>
                </a:lnTo>
                <a:lnTo>
                  <a:pt x="180975" y="168275"/>
                </a:lnTo>
                <a:lnTo>
                  <a:pt x="149225" y="168275"/>
                </a:lnTo>
                <a:lnTo>
                  <a:pt x="149225" y="149225"/>
                </a:lnTo>
                <a:lnTo>
                  <a:pt x="177800" y="149225"/>
                </a:lnTo>
                <a:close/>
                <a:moveTo>
                  <a:pt x="76200" y="149225"/>
                </a:moveTo>
                <a:lnTo>
                  <a:pt x="79375" y="149225"/>
                </a:lnTo>
                <a:lnTo>
                  <a:pt x="79375" y="168275"/>
                </a:lnTo>
                <a:lnTo>
                  <a:pt x="47625" y="168275"/>
                </a:lnTo>
                <a:lnTo>
                  <a:pt x="47625" y="149225"/>
                </a:lnTo>
                <a:lnTo>
                  <a:pt x="76200" y="14922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1371600" y="6906847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test_rssp_protocols.py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79685" y="6906847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 测试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83340" y="6881447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177800" y="0"/>
                </a:moveTo>
                <a:lnTo>
                  <a:pt x="482600" y="0"/>
                </a:lnTo>
                <a:cubicBezTo>
                  <a:pt x="580730" y="0"/>
                  <a:pt x="660400" y="79670"/>
                  <a:pt x="660400" y="177800"/>
                </a:cubicBezTo>
                <a:lnTo>
                  <a:pt x="660400" y="177800"/>
                </a:lnTo>
                <a:cubicBezTo>
                  <a:pt x="660400" y="275930"/>
                  <a:pt x="580730" y="355600"/>
                  <a:pt x="482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883340" y="6881447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12800" y="7541847"/>
            <a:ext cx="6883400" cy="660400"/>
          </a:xfrm>
          <a:custGeom>
            <a:avLst/>
            <a:gdLst/>
            <a:ahLst/>
            <a:cxnLst/>
            <a:rect l="l" t="t" r="r" b="b"/>
            <a:pathLst>
              <a:path w="6883400" h="6604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558797"/>
                </a:lnTo>
                <a:cubicBezTo>
                  <a:pt x="6883400" y="614911"/>
                  <a:pt x="6837911" y="660400"/>
                  <a:pt x="6781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90600" y="7770447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69850" y="9525"/>
                </a:moveTo>
                <a:cubicBezTo>
                  <a:pt x="69850" y="4247"/>
                  <a:pt x="65603" y="0"/>
                  <a:pt x="60325" y="0"/>
                </a:cubicBezTo>
                <a:cubicBezTo>
                  <a:pt x="55047" y="0"/>
                  <a:pt x="50800" y="4247"/>
                  <a:pt x="50800" y="9525"/>
                </a:cubicBezTo>
                <a:lnTo>
                  <a:pt x="50800" y="25400"/>
                </a:lnTo>
                <a:cubicBezTo>
                  <a:pt x="36790" y="25400"/>
                  <a:pt x="25400" y="36790"/>
                  <a:pt x="25400" y="50800"/>
                </a:cubicBezTo>
                <a:lnTo>
                  <a:pt x="9525" y="50800"/>
                </a:lnTo>
                <a:cubicBezTo>
                  <a:pt x="4247" y="50800"/>
                  <a:pt x="0" y="55047"/>
                  <a:pt x="0" y="60325"/>
                </a:cubicBezTo>
                <a:cubicBezTo>
                  <a:pt x="0" y="65603"/>
                  <a:pt x="4247" y="69850"/>
                  <a:pt x="9525" y="69850"/>
                </a:cubicBezTo>
                <a:lnTo>
                  <a:pt x="25400" y="69850"/>
                </a:lnTo>
                <a:lnTo>
                  <a:pt x="25400" y="92075"/>
                </a:lnTo>
                <a:lnTo>
                  <a:pt x="9525" y="92075"/>
                </a:lnTo>
                <a:cubicBezTo>
                  <a:pt x="4247" y="92075"/>
                  <a:pt x="0" y="96322"/>
                  <a:pt x="0" y="101600"/>
                </a:cubicBezTo>
                <a:cubicBezTo>
                  <a:pt x="0" y="106878"/>
                  <a:pt x="4247" y="111125"/>
                  <a:pt x="9525" y="111125"/>
                </a:cubicBezTo>
                <a:lnTo>
                  <a:pt x="25400" y="111125"/>
                </a:lnTo>
                <a:lnTo>
                  <a:pt x="25400" y="133350"/>
                </a:lnTo>
                <a:lnTo>
                  <a:pt x="9525" y="133350"/>
                </a:lnTo>
                <a:cubicBezTo>
                  <a:pt x="4247" y="133350"/>
                  <a:pt x="0" y="137597"/>
                  <a:pt x="0" y="142875"/>
                </a:cubicBezTo>
                <a:cubicBezTo>
                  <a:pt x="0" y="148153"/>
                  <a:pt x="4247" y="152400"/>
                  <a:pt x="9525" y="152400"/>
                </a:cubicBezTo>
                <a:lnTo>
                  <a:pt x="25400" y="152400"/>
                </a:lnTo>
                <a:cubicBezTo>
                  <a:pt x="25400" y="166410"/>
                  <a:pt x="36790" y="177800"/>
                  <a:pt x="50800" y="177800"/>
                </a:cubicBezTo>
                <a:lnTo>
                  <a:pt x="50800" y="193675"/>
                </a:lnTo>
                <a:cubicBezTo>
                  <a:pt x="50800" y="198953"/>
                  <a:pt x="55047" y="203200"/>
                  <a:pt x="60325" y="203200"/>
                </a:cubicBezTo>
                <a:cubicBezTo>
                  <a:pt x="65603" y="203200"/>
                  <a:pt x="69850" y="198953"/>
                  <a:pt x="69850" y="193675"/>
                </a:cubicBezTo>
                <a:lnTo>
                  <a:pt x="69850" y="177800"/>
                </a:lnTo>
                <a:lnTo>
                  <a:pt x="92075" y="177800"/>
                </a:lnTo>
                <a:lnTo>
                  <a:pt x="92075" y="193675"/>
                </a:lnTo>
                <a:cubicBezTo>
                  <a:pt x="92075" y="198953"/>
                  <a:pt x="96322" y="203200"/>
                  <a:pt x="101600" y="203200"/>
                </a:cubicBezTo>
                <a:cubicBezTo>
                  <a:pt x="106878" y="203200"/>
                  <a:pt x="111125" y="198953"/>
                  <a:pt x="111125" y="193675"/>
                </a:cubicBezTo>
                <a:lnTo>
                  <a:pt x="111125" y="177800"/>
                </a:lnTo>
                <a:lnTo>
                  <a:pt x="133350" y="177800"/>
                </a:lnTo>
                <a:lnTo>
                  <a:pt x="133350" y="193675"/>
                </a:lnTo>
                <a:cubicBezTo>
                  <a:pt x="133350" y="198953"/>
                  <a:pt x="137597" y="203200"/>
                  <a:pt x="142875" y="203200"/>
                </a:cubicBezTo>
                <a:cubicBezTo>
                  <a:pt x="148153" y="203200"/>
                  <a:pt x="152400" y="198953"/>
                  <a:pt x="152400" y="193675"/>
                </a:cubicBezTo>
                <a:lnTo>
                  <a:pt x="152400" y="177800"/>
                </a:lnTo>
                <a:cubicBezTo>
                  <a:pt x="166410" y="177800"/>
                  <a:pt x="177800" y="166410"/>
                  <a:pt x="177800" y="152400"/>
                </a:cubicBezTo>
                <a:lnTo>
                  <a:pt x="193675" y="152400"/>
                </a:lnTo>
                <a:cubicBezTo>
                  <a:pt x="198953" y="152400"/>
                  <a:pt x="203200" y="148153"/>
                  <a:pt x="203200" y="142875"/>
                </a:cubicBezTo>
                <a:cubicBezTo>
                  <a:pt x="203200" y="137597"/>
                  <a:pt x="198953" y="133350"/>
                  <a:pt x="193675" y="133350"/>
                </a:cubicBezTo>
                <a:lnTo>
                  <a:pt x="177800" y="133350"/>
                </a:lnTo>
                <a:lnTo>
                  <a:pt x="177800" y="111125"/>
                </a:lnTo>
                <a:lnTo>
                  <a:pt x="193675" y="111125"/>
                </a:lnTo>
                <a:cubicBezTo>
                  <a:pt x="198953" y="111125"/>
                  <a:pt x="203200" y="106878"/>
                  <a:pt x="203200" y="101600"/>
                </a:cubicBezTo>
                <a:cubicBezTo>
                  <a:pt x="203200" y="96322"/>
                  <a:pt x="198953" y="92075"/>
                  <a:pt x="193675" y="92075"/>
                </a:cubicBezTo>
                <a:lnTo>
                  <a:pt x="177800" y="92075"/>
                </a:lnTo>
                <a:lnTo>
                  <a:pt x="177800" y="69850"/>
                </a:lnTo>
                <a:lnTo>
                  <a:pt x="193675" y="69850"/>
                </a:lnTo>
                <a:cubicBezTo>
                  <a:pt x="198953" y="69850"/>
                  <a:pt x="203200" y="65603"/>
                  <a:pt x="203200" y="60325"/>
                </a:cubicBezTo>
                <a:cubicBezTo>
                  <a:pt x="203200" y="55047"/>
                  <a:pt x="198953" y="50800"/>
                  <a:pt x="193675" y="50800"/>
                </a:cubicBezTo>
                <a:lnTo>
                  <a:pt x="177800" y="50800"/>
                </a:lnTo>
                <a:cubicBezTo>
                  <a:pt x="177800" y="36790"/>
                  <a:pt x="166410" y="25400"/>
                  <a:pt x="152400" y="25400"/>
                </a:cubicBezTo>
                <a:lnTo>
                  <a:pt x="152400" y="9525"/>
                </a:lnTo>
                <a:cubicBezTo>
                  <a:pt x="152400" y="4247"/>
                  <a:pt x="148153" y="0"/>
                  <a:pt x="142875" y="0"/>
                </a:cubicBezTo>
                <a:cubicBezTo>
                  <a:pt x="137597" y="0"/>
                  <a:pt x="133350" y="4247"/>
                  <a:pt x="133350" y="9525"/>
                </a:cubicBezTo>
                <a:lnTo>
                  <a:pt x="133350" y="25400"/>
                </a:lnTo>
                <a:lnTo>
                  <a:pt x="111125" y="25400"/>
                </a:lnTo>
                <a:lnTo>
                  <a:pt x="111125" y="9525"/>
                </a:lnTo>
                <a:cubicBezTo>
                  <a:pt x="111125" y="4247"/>
                  <a:pt x="106878" y="0"/>
                  <a:pt x="101600" y="0"/>
                </a:cubicBezTo>
                <a:cubicBezTo>
                  <a:pt x="96322" y="0"/>
                  <a:pt x="92075" y="4247"/>
                  <a:pt x="92075" y="9525"/>
                </a:cubicBezTo>
                <a:lnTo>
                  <a:pt x="92075" y="25400"/>
                </a:lnTo>
                <a:lnTo>
                  <a:pt x="69850" y="25400"/>
                </a:lnTo>
                <a:lnTo>
                  <a:pt x="69850" y="9525"/>
                </a:lnTo>
                <a:close/>
                <a:moveTo>
                  <a:pt x="63500" y="50800"/>
                </a:moveTo>
                <a:lnTo>
                  <a:pt x="139700" y="50800"/>
                </a:lnTo>
                <a:cubicBezTo>
                  <a:pt x="146725" y="50800"/>
                  <a:pt x="152400" y="56475"/>
                  <a:pt x="152400" y="63500"/>
                </a:cubicBezTo>
                <a:lnTo>
                  <a:pt x="152400" y="139700"/>
                </a:lnTo>
                <a:cubicBezTo>
                  <a:pt x="152400" y="146725"/>
                  <a:pt x="146725" y="152400"/>
                  <a:pt x="139700" y="152400"/>
                </a:cubicBezTo>
                <a:lnTo>
                  <a:pt x="63500" y="152400"/>
                </a:lnTo>
                <a:cubicBezTo>
                  <a:pt x="56475" y="152400"/>
                  <a:pt x="50800" y="146725"/>
                  <a:pt x="50800" y="139700"/>
                </a:cubicBezTo>
                <a:lnTo>
                  <a:pt x="50800" y="63500"/>
                </a:lnTo>
                <a:cubicBezTo>
                  <a:pt x="50800" y="56475"/>
                  <a:pt x="56475" y="50800"/>
                  <a:pt x="63500" y="50800"/>
                </a:cubicBezTo>
                <a:close/>
                <a:moveTo>
                  <a:pt x="69850" y="69850"/>
                </a:moveTo>
                <a:lnTo>
                  <a:pt x="69850" y="133350"/>
                </a:lnTo>
                <a:lnTo>
                  <a:pt x="133350" y="133350"/>
                </a:lnTo>
                <a:lnTo>
                  <a:pt x="133350" y="69850"/>
                </a:lnTo>
                <a:lnTo>
                  <a:pt x="69850" y="698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1371600" y="7719647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test_riscv_simulator.py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79502" y="7719647"/>
            <a:ext cx="80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32 测试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883340" y="7694247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177800" y="0"/>
                </a:moveTo>
                <a:lnTo>
                  <a:pt x="482600" y="0"/>
                </a:lnTo>
                <a:cubicBezTo>
                  <a:pt x="580730" y="0"/>
                  <a:pt x="660400" y="79670"/>
                  <a:pt x="660400" y="177800"/>
                </a:cubicBezTo>
                <a:lnTo>
                  <a:pt x="660400" y="177800"/>
                </a:lnTo>
                <a:cubicBezTo>
                  <a:pt x="660400" y="275930"/>
                  <a:pt x="580730" y="355600"/>
                  <a:pt x="482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883340" y="7694247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12800" y="8354647"/>
            <a:ext cx="6883400" cy="660400"/>
          </a:xfrm>
          <a:custGeom>
            <a:avLst/>
            <a:gdLst/>
            <a:ahLst/>
            <a:cxnLst/>
            <a:rect l="l" t="t" r="r" b="b"/>
            <a:pathLst>
              <a:path w="6883400" h="6604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558797"/>
                </a:lnTo>
                <a:cubicBezTo>
                  <a:pt x="6883400" y="614911"/>
                  <a:pt x="6837911" y="660400"/>
                  <a:pt x="67817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016000" y="8583247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99179" y="26511"/>
                </a:moveTo>
                <a:cubicBezTo>
                  <a:pt x="103307" y="20836"/>
                  <a:pt x="102037" y="12898"/>
                  <a:pt x="96361" y="8771"/>
                </a:cubicBezTo>
                <a:cubicBezTo>
                  <a:pt x="90686" y="4643"/>
                  <a:pt x="82748" y="5913"/>
                  <a:pt x="78621" y="11589"/>
                </a:cubicBezTo>
                <a:lnTo>
                  <a:pt x="36552" y="69413"/>
                </a:lnTo>
                <a:lnTo>
                  <a:pt x="21669" y="54531"/>
                </a:lnTo>
                <a:cubicBezTo>
                  <a:pt x="16708" y="49570"/>
                  <a:pt x="8652" y="49570"/>
                  <a:pt x="3691" y="54531"/>
                </a:cubicBezTo>
                <a:cubicBezTo>
                  <a:pt x="-1270" y="59492"/>
                  <a:pt x="-1270" y="67548"/>
                  <a:pt x="3691" y="72509"/>
                </a:cubicBezTo>
                <a:lnTo>
                  <a:pt x="29091" y="97909"/>
                </a:lnTo>
                <a:cubicBezTo>
                  <a:pt x="31710" y="100528"/>
                  <a:pt x="35362" y="101878"/>
                  <a:pt x="39053" y="101600"/>
                </a:cubicBezTo>
                <a:cubicBezTo>
                  <a:pt x="42743" y="101322"/>
                  <a:pt x="46157" y="99417"/>
                  <a:pt x="48339" y="96401"/>
                </a:cubicBezTo>
                <a:lnTo>
                  <a:pt x="99139" y="26551"/>
                </a:lnTo>
                <a:close/>
                <a:moveTo>
                  <a:pt x="149979" y="80486"/>
                </a:moveTo>
                <a:cubicBezTo>
                  <a:pt x="154107" y="74811"/>
                  <a:pt x="152837" y="66873"/>
                  <a:pt x="147161" y="62746"/>
                </a:cubicBezTo>
                <a:cubicBezTo>
                  <a:pt x="141486" y="58618"/>
                  <a:pt x="133548" y="59888"/>
                  <a:pt x="129421" y="65564"/>
                </a:cubicBezTo>
                <a:lnTo>
                  <a:pt x="61952" y="158313"/>
                </a:lnTo>
                <a:lnTo>
                  <a:pt x="34369" y="130731"/>
                </a:lnTo>
                <a:cubicBezTo>
                  <a:pt x="29408" y="125770"/>
                  <a:pt x="21352" y="125770"/>
                  <a:pt x="16391" y="130731"/>
                </a:cubicBezTo>
                <a:cubicBezTo>
                  <a:pt x="11430" y="135692"/>
                  <a:pt x="11430" y="143748"/>
                  <a:pt x="16391" y="148709"/>
                </a:cubicBezTo>
                <a:lnTo>
                  <a:pt x="54491" y="186809"/>
                </a:lnTo>
                <a:cubicBezTo>
                  <a:pt x="57110" y="189428"/>
                  <a:pt x="60762" y="190778"/>
                  <a:pt x="64452" y="190500"/>
                </a:cubicBezTo>
                <a:cubicBezTo>
                  <a:pt x="68143" y="190222"/>
                  <a:pt x="71557" y="188317"/>
                  <a:pt x="73739" y="185301"/>
                </a:cubicBezTo>
                <a:lnTo>
                  <a:pt x="149939" y="805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8" name="Text 46"/>
          <p:cNvSpPr/>
          <p:nvPr/>
        </p:nvSpPr>
        <p:spPr>
          <a:xfrm>
            <a:off x="1371600" y="8532447"/>
            <a:ext cx="281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test_verification_scenarios.py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04902" y="8532447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 测试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883340" y="8507047"/>
            <a:ext cx="660400" cy="355600"/>
          </a:xfrm>
          <a:custGeom>
            <a:avLst/>
            <a:gdLst/>
            <a:ahLst/>
            <a:cxnLst/>
            <a:rect l="l" t="t" r="r" b="b"/>
            <a:pathLst>
              <a:path w="660400" h="355600">
                <a:moveTo>
                  <a:pt x="177800" y="0"/>
                </a:moveTo>
                <a:lnTo>
                  <a:pt x="482600" y="0"/>
                </a:lnTo>
                <a:cubicBezTo>
                  <a:pt x="580730" y="0"/>
                  <a:pt x="660400" y="79670"/>
                  <a:pt x="660400" y="177800"/>
                </a:cubicBezTo>
                <a:lnTo>
                  <a:pt x="660400" y="177800"/>
                </a:lnTo>
                <a:cubicBezTo>
                  <a:pt x="660400" y="275930"/>
                  <a:pt x="580730" y="355600"/>
                  <a:pt x="482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00C950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883340" y="8507047"/>
            <a:ext cx="749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05DF7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通过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55000" y="4239847"/>
            <a:ext cx="7493000" cy="5080000"/>
          </a:xfrm>
          <a:custGeom>
            <a:avLst/>
            <a:gdLst/>
            <a:ahLst/>
            <a:cxnLst/>
            <a:rect l="l" t="t" r="r" b="b"/>
            <a:pathLst>
              <a:path w="7493000" h="5080000">
                <a:moveTo>
                  <a:pt x="1524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4927600"/>
                </a:lnTo>
                <a:cubicBezTo>
                  <a:pt x="7493000" y="5011712"/>
                  <a:pt x="7424712" y="5080000"/>
                  <a:pt x="7340600" y="5080000"/>
                </a:cubicBezTo>
                <a:lnTo>
                  <a:pt x="152400" y="5080000"/>
                </a:lnTo>
                <a:cubicBezTo>
                  <a:pt x="68288" y="5080000"/>
                  <a:pt x="0" y="5011712"/>
                  <a:pt x="0" y="492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559800" y="4544647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代码质量指标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59800" y="5103447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类型安全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4914442" y="5103447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59800" y="5509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57" name="Shape 55"/>
          <p:cNvSpPr/>
          <p:nvPr/>
        </p:nvSpPr>
        <p:spPr>
          <a:xfrm>
            <a:off x="8559800" y="5509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8559800" y="5713047"/>
            <a:ext cx="695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所有函数使用Type Hints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559800" y="6119447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文档覆盖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914442" y="6119447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559800" y="6525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2" name="Shape 60"/>
          <p:cNvSpPr/>
          <p:nvPr/>
        </p:nvSpPr>
        <p:spPr>
          <a:xfrm>
            <a:off x="8559800" y="6525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3" name="Text 61"/>
          <p:cNvSpPr/>
          <p:nvPr/>
        </p:nvSpPr>
        <p:spPr>
          <a:xfrm>
            <a:off x="8559800" y="6729047"/>
            <a:ext cx="695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Google Style Docstring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559800" y="7135447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测试覆盖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4882569" y="7135447"/>
            <a:ext cx="66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90%+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559800" y="7541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67" name="Shape 65"/>
          <p:cNvSpPr/>
          <p:nvPr/>
        </p:nvSpPr>
        <p:spPr>
          <a:xfrm>
            <a:off x="8559800" y="7541847"/>
            <a:ext cx="6197600" cy="152400"/>
          </a:xfrm>
          <a:custGeom>
            <a:avLst/>
            <a:gdLst/>
            <a:ahLst/>
            <a:cxnLst/>
            <a:rect l="l" t="t" r="r" b="b"/>
            <a:pathLst>
              <a:path w="6197600" h="152400">
                <a:moveTo>
                  <a:pt x="76200" y="0"/>
                </a:moveTo>
                <a:lnTo>
                  <a:pt x="6121400" y="0"/>
                </a:lnTo>
                <a:cubicBezTo>
                  <a:pt x="6163456" y="0"/>
                  <a:pt x="6197600" y="34144"/>
                  <a:pt x="6197600" y="76200"/>
                </a:cubicBezTo>
                <a:lnTo>
                  <a:pt x="6197600" y="76200"/>
                </a:lnTo>
                <a:cubicBezTo>
                  <a:pt x="6197600" y="118256"/>
                  <a:pt x="6163456" y="152400"/>
                  <a:pt x="61214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8" name="Text 66"/>
          <p:cNvSpPr/>
          <p:nvPr/>
        </p:nvSpPr>
        <p:spPr>
          <a:xfrm>
            <a:off x="8559800" y="7745047"/>
            <a:ext cx="695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核心模块全覆盖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559800" y="8151447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异常处理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14914442" y="8151447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559800" y="8557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72" name="Shape 70"/>
          <p:cNvSpPr/>
          <p:nvPr/>
        </p:nvSpPr>
        <p:spPr>
          <a:xfrm>
            <a:off x="8559800" y="8557847"/>
            <a:ext cx="6883400" cy="152400"/>
          </a:xfrm>
          <a:custGeom>
            <a:avLst/>
            <a:gdLst/>
            <a:ahLst/>
            <a:cxnLst/>
            <a:rect l="l" t="t" r="r" b="b"/>
            <a:pathLst>
              <a:path w="6883400" h="152400">
                <a:moveTo>
                  <a:pt x="76200" y="0"/>
                </a:moveTo>
                <a:lnTo>
                  <a:pt x="6807200" y="0"/>
                </a:lnTo>
                <a:cubicBezTo>
                  <a:pt x="6849256" y="0"/>
                  <a:pt x="6883400" y="34144"/>
                  <a:pt x="6883400" y="76200"/>
                </a:cubicBezTo>
                <a:lnTo>
                  <a:pt x="6883400" y="76200"/>
                </a:lnTo>
                <a:cubicBezTo>
                  <a:pt x="6883400" y="118256"/>
                  <a:pt x="6849256" y="152400"/>
                  <a:pt x="6807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3" name="Text 71"/>
          <p:cNvSpPr/>
          <p:nvPr/>
        </p:nvSpPr>
        <p:spPr>
          <a:xfrm>
            <a:off x="8559800" y="8761047"/>
            <a:ext cx="695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自定义异常类，显式错误处理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FAULT INJECTION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验证场景：故障注入测试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7467600" cy="3403600"/>
          </a:xfrm>
          <a:custGeom>
            <a:avLst/>
            <a:gdLst/>
            <a:ahLst/>
            <a:cxnLst/>
            <a:rect l="l" t="t" r="r" b="b"/>
            <a:pathLst>
              <a:path w="7467600" h="3403600">
                <a:moveTo>
                  <a:pt x="50800" y="0"/>
                </a:moveTo>
                <a:lnTo>
                  <a:pt x="7315187" y="0"/>
                </a:lnTo>
                <a:cubicBezTo>
                  <a:pt x="7399362" y="0"/>
                  <a:pt x="7467600" y="68238"/>
                  <a:pt x="7467600" y="152413"/>
                </a:cubicBezTo>
                <a:lnTo>
                  <a:pt x="7467600" y="3251187"/>
                </a:lnTo>
                <a:cubicBezTo>
                  <a:pt x="7467600" y="3335362"/>
                  <a:pt x="7399362" y="3403600"/>
                  <a:pt x="73151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9973" y="44470"/>
                </a:moveTo>
                <a:lnTo>
                  <a:pt x="266700" y="50840"/>
                </a:lnTo>
                <a:lnTo>
                  <a:pt x="266700" y="19050"/>
                </a:lnTo>
                <a:cubicBezTo>
                  <a:pt x="266700" y="8513"/>
                  <a:pt x="275213" y="0"/>
                  <a:pt x="285750" y="0"/>
                </a:cubicBezTo>
                <a:cubicBezTo>
                  <a:pt x="296287" y="0"/>
                  <a:pt x="304800" y="8513"/>
                  <a:pt x="304800" y="19050"/>
                </a:cubicBezTo>
                <a:lnTo>
                  <a:pt x="304800" y="95250"/>
                </a:lnTo>
                <a:cubicBezTo>
                  <a:pt x="304800" y="105787"/>
                  <a:pt x="296287" y="114300"/>
                  <a:pt x="285750" y="114300"/>
                </a:cubicBezTo>
                <a:lnTo>
                  <a:pt x="209550" y="114300"/>
                </a:lnTo>
                <a:cubicBezTo>
                  <a:pt x="199013" y="114300"/>
                  <a:pt x="190500" y="105787"/>
                  <a:pt x="190500" y="95250"/>
                </a:cubicBezTo>
                <a:cubicBezTo>
                  <a:pt x="190500" y="84713"/>
                  <a:pt x="199013" y="76200"/>
                  <a:pt x="209550" y="76200"/>
                </a:cubicBezTo>
                <a:lnTo>
                  <a:pt x="238065" y="76200"/>
                </a:lnTo>
                <a:lnTo>
                  <a:pt x="233541" y="71914"/>
                </a:lnTo>
                <a:cubicBezTo>
                  <a:pt x="233422" y="71795"/>
                  <a:pt x="233303" y="71676"/>
                  <a:pt x="233184" y="71557"/>
                </a:cubicBezTo>
                <a:cubicBezTo>
                  <a:pt x="188535" y="26908"/>
                  <a:pt x="116205" y="26908"/>
                  <a:pt x="71557" y="71557"/>
                </a:cubicBezTo>
                <a:cubicBezTo>
                  <a:pt x="26908" y="116205"/>
                  <a:pt x="26908" y="188535"/>
                  <a:pt x="71557" y="233184"/>
                </a:cubicBezTo>
                <a:cubicBezTo>
                  <a:pt x="116205" y="277832"/>
                  <a:pt x="188535" y="277832"/>
                  <a:pt x="233184" y="233184"/>
                </a:cubicBezTo>
                <a:cubicBezTo>
                  <a:pt x="238065" y="228302"/>
                  <a:pt x="242411" y="223123"/>
                  <a:pt x="246221" y="217646"/>
                </a:cubicBezTo>
                <a:cubicBezTo>
                  <a:pt x="252234" y="209014"/>
                  <a:pt x="264140" y="206931"/>
                  <a:pt x="272772" y="212943"/>
                </a:cubicBezTo>
                <a:cubicBezTo>
                  <a:pt x="281404" y="218956"/>
                  <a:pt x="283488" y="230862"/>
                  <a:pt x="277475" y="239494"/>
                </a:cubicBezTo>
                <a:cubicBezTo>
                  <a:pt x="272415" y="246757"/>
                  <a:pt x="266640" y="253663"/>
                  <a:pt x="260152" y="260152"/>
                </a:cubicBezTo>
                <a:cubicBezTo>
                  <a:pt x="200620" y="319683"/>
                  <a:pt x="104120" y="319683"/>
                  <a:pt x="44648" y="260152"/>
                </a:cubicBezTo>
                <a:cubicBezTo>
                  <a:pt x="-14823" y="200620"/>
                  <a:pt x="-14883" y="104180"/>
                  <a:pt x="44648" y="44648"/>
                </a:cubicBezTo>
                <a:cubicBezTo>
                  <a:pt x="104120" y="-14823"/>
                  <a:pt x="200442" y="-14883"/>
                  <a:pt x="259973" y="4447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2860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重放攻击检测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30480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模拟攻击者重复发送已接收的消息，验证协议能否正确检测并拒绝重放消息。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3911600"/>
            <a:ext cx="6832600" cy="1016000"/>
          </a:xfrm>
          <a:custGeom>
            <a:avLst/>
            <a:gdLst/>
            <a:ahLst/>
            <a:cxnLst/>
            <a:rect l="l" t="t" r="r" b="b"/>
            <a:pathLst>
              <a:path w="6832600" h="1016000">
                <a:moveTo>
                  <a:pt x="101600" y="0"/>
                </a:moveTo>
                <a:lnTo>
                  <a:pt x="6731000" y="0"/>
                </a:lnTo>
                <a:cubicBezTo>
                  <a:pt x="6787075" y="0"/>
                  <a:pt x="6832600" y="45525"/>
                  <a:pt x="6832600" y="101600"/>
                </a:cubicBezTo>
                <a:lnTo>
                  <a:pt x="6832600" y="914400"/>
                </a:lnTo>
                <a:cubicBezTo>
                  <a:pt x="6832600" y="970475"/>
                  <a:pt x="6787075" y="1016000"/>
                  <a:pt x="6731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41656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检测成功率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99861" y="4114800"/>
            <a:ext cx="93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66800" y="46228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6800" y="46228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80400" y="1828800"/>
            <a:ext cx="7467600" cy="3403600"/>
          </a:xfrm>
          <a:custGeom>
            <a:avLst/>
            <a:gdLst/>
            <a:ahLst/>
            <a:cxnLst/>
            <a:rect l="l" t="t" r="r" b="b"/>
            <a:pathLst>
              <a:path w="7467600" h="3403600">
                <a:moveTo>
                  <a:pt x="50800" y="0"/>
                </a:moveTo>
                <a:lnTo>
                  <a:pt x="7315187" y="0"/>
                </a:lnTo>
                <a:cubicBezTo>
                  <a:pt x="7399362" y="0"/>
                  <a:pt x="7467600" y="68238"/>
                  <a:pt x="7467600" y="152413"/>
                </a:cubicBezTo>
                <a:lnTo>
                  <a:pt x="7467600" y="3251187"/>
                </a:lnTo>
                <a:cubicBezTo>
                  <a:pt x="7467600" y="3335362"/>
                  <a:pt x="7399362" y="3403600"/>
                  <a:pt x="73151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8280400" y="18288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10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138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9654" y="24646"/>
                </a:moveTo>
                <a:cubicBezTo>
                  <a:pt x="82213" y="17205"/>
                  <a:pt x="70128" y="17205"/>
                  <a:pt x="62686" y="24646"/>
                </a:cubicBezTo>
                <a:lnTo>
                  <a:pt x="5536" y="81796"/>
                </a:lnTo>
                <a:cubicBezTo>
                  <a:pt x="-1905" y="89237"/>
                  <a:pt x="-1905" y="101322"/>
                  <a:pt x="5536" y="108764"/>
                </a:cubicBezTo>
                <a:cubicBezTo>
                  <a:pt x="12978" y="116205"/>
                  <a:pt x="25063" y="116205"/>
                  <a:pt x="32504" y="108764"/>
                </a:cubicBezTo>
                <a:lnTo>
                  <a:pt x="57150" y="84118"/>
                </a:lnTo>
                <a:lnTo>
                  <a:pt x="57150" y="266700"/>
                </a:lnTo>
                <a:cubicBezTo>
                  <a:pt x="57150" y="277237"/>
                  <a:pt x="65663" y="285750"/>
                  <a:pt x="76200" y="285750"/>
                </a:cubicBezTo>
                <a:cubicBezTo>
                  <a:pt x="86737" y="285750"/>
                  <a:pt x="95250" y="277237"/>
                  <a:pt x="95250" y="266700"/>
                </a:cubicBezTo>
                <a:lnTo>
                  <a:pt x="95250" y="84118"/>
                </a:lnTo>
                <a:lnTo>
                  <a:pt x="119896" y="108764"/>
                </a:lnTo>
                <a:cubicBezTo>
                  <a:pt x="127337" y="116205"/>
                  <a:pt x="139422" y="116205"/>
                  <a:pt x="146864" y="108764"/>
                </a:cubicBezTo>
                <a:cubicBezTo>
                  <a:pt x="154305" y="101322"/>
                  <a:pt x="154305" y="89237"/>
                  <a:pt x="146864" y="81796"/>
                </a:cubicBezTo>
                <a:lnTo>
                  <a:pt x="89714" y="24646"/>
                </a:lnTo>
                <a:close/>
                <a:moveTo>
                  <a:pt x="249257" y="22622"/>
                </a:moveTo>
                <a:cubicBezTo>
                  <a:pt x="244316" y="19050"/>
                  <a:pt x="237887" y="18038"/>
                  <a:pt x="232112" y="20003"/>
                </a:cubicBezTo>
                <a:lnTo>
                  <a:pt x="203537" y="29527"/>
                </a:lnTo>
                <a:cubicBezTo>
                  <a:pt x="193536" y="32861"/>
                  <a:pt x="188178" y="43636"/>
                  <a:pt x="191512" y="53638"/>
                </a:cubicBezTo>
                <a:cubicBezTo>
                  <a:pt x="194846" y="63639"/>
                  <a:pt x="205621" y="68997"/>
                  <a:pt x="215622" y="65663"/>
                </a:cubicBezTo>
                <a:lnTo>
                  <a:pt x="219135" y="64472"/>
                </a:lnTo>
                <a:lnTo>
                  <a:pt x="219135" y="95190"/>
                </a:lnTo>
                <a:lnTo>
                  <a:pt x="209610" y="95190"/>
                </a:lnTo>
                <a:cubicBezTo>
                  <a:pt x="199072" y="95190"/>
                  <a:pt x="190560" y="103703"/>
                  <a:pt x="190560" y="114240"/>
                </a:cubicBezTo>
                <a:cubicBezTo>
                  <a:pt x="190560" y="124777"/>
                  <a:pt x="199072" y="133290"/>
                  <a:pt x="209610" y="133290"/>
                </a:cubicBezTo>
                <a:lnTo>
                  <a:pt x="266760" y="133290"/>
                </a:lnTo>
                <a:cubicBezTo>
                  <a:pt x="277297" y="133290"/>
                  <a:pt x="285810" y="124777"/>
                  <a:pt x="285810" y="114240"/>
                </a:cubicBezTo>
                <a:cubicBezTo>
                  <a:pt x="285810" y="103703"/>
                  <a:pt x="277297" y="95190"/>
                  <a:pt x="266760" y="95190"/>
                </a:cubicBezTo>
                <a:lnTo>
                  <a:pt x="257235" y="95190"/>
                </a:lnTo>
                <a:lnTo>
                  <a:pt x="257235" y="38040"/>
                </a:lnTo>
                <a:cubicBezTo>
                  <a:pt x="257235" y="31909"/>
                  <a:pt x="254318" y="26194"/>
                  <a:pt x="249317" y="22562"/>
                </a:cubicBezTo>
                <a:close/>
                <a:moveTo>
                  <a:pt x="217349" y="256342"/>
                </a:moveTo>
                <a:cubicBezTo>
                  <a:pt x="211634" y="265152"/>
                  <a:pt x="214134" y="276939"/>
                  <a:pt x="222945" y="282714"/>
                </a:cubicBezTo>
                <a:cubicBezTo>
                  <a:pt x="231755" y="288488"/>
                  <a:pt x="243542" y="285929"/>
                  <a:pt x="249317" y="277118"/>
                </a:cubicBezTo>
                <a:lnTo>
                  <a:pt x="274380" y="238482"/>
                </a:lnTo>
                <a:cubicBezTo>
                  <a:pt x="281761" y="227052"/>
                  <a:pt x="285750" y="213717"/>
                  <a:pt x="285750" y="200085"/>
                </a:cubicBezTo>
                <a:cubicBezTo>
                  <a:pt x="285750" y="173772"/>
                  <a:pt x="264438" y="152460"/>
                  <a:pt x="238125" y="152460"/>
                </a:cubicBezTo>
                <a:cubicBezTo>
                  <a:pt x="211812" y="152460"/>
                  <a:pt x="190500" y="173772"/>
                  <a:pt x="190500" y="200085"/>
                </a:cubicBezTo>
                <a:cubicBezTo>
                  <a:pt x="190500" y="221575"/>
                  <a:pt x="204728" y="239792"/>
                  <a:pt x="224314" y="245685"/>
                </a:cubicBezTo>
                <a:lnTo>
                  <a:pt x="217349" y="256401"/>
                </a:lnTo>
                <a:close/>
                <a:moveTo>
                  <a:pt x="223838" y="200025"/>
                </a:moveTo>
                <a:cubicBezTo>
                  <a:pt x="223838" y="192140"/>
                  <a:pt x="230240" y="185738"/>
                  <a:pt x="238125" y="185738"/>
                </a:cubicBezTo>
                <a:cubicBezTo>
                  <a:pt x="246010" y="185738"/>
                  <a:pt x="252413" y="192140"/>
                  <a:pt x="252413" y="200025"/>
                </a:cubicBezTo>
                <a:cubicBezTo>
                  <a:pt x="252413" y="207910"/>
                  <a:pt x="246010" y="214313"/>
                  <a:pt x="238125" y="214313"/>
                </a:cubicBezTo>
                <a:cubicBezTo>
                  <a:pt x="230240" y="214313"/>
                  <a:pt x="223838" y="207910"/>
                  <a:pt x="223838" y="20002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22860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序列号错误检测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10600" y="30480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模拟发送超出接收窗口范围的乱序消息，验证协议能否正确检测并处理序列号错误。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10600" y="3911600"/>
            <a:ext cx="6832600" cy="1016000"/>
          </a:xfrm>
          <a:custGeom>
            <a:avLst/>
            <a:gdLst/>
            <a:ahLst/>
            <a:cxnLst/>
            <a:rect l="l" t="t" r="r" b="b"/>
            <a:pathLst>
              <a:path w="6832600" h="1016000">
                <a:moveTo>
                  <a:pt x="101600" y="0"/>
                </a:moveTo>
                <a:lnTo>
                  <a:pt x="6731000" y="0"/>
                </a:lnTo>
                <a:cubicBezTo>
                  <a:pt x="6787075" y="0"/>
                  <a:pt x="6832600" y="45525"/>
                  <a:pt x="6832600" y="101600"/>
                </a:cubicBezTo>
                <a:lnTo>
                  <a:pt x="6832600" y="914400"/>
                </a:lnTo>
                <a:cubicBezTo>
                  <a:pt x="6832600" y="970475"/>
                  <a:pt x="6787075" y="1016000"/>
                  <a:pt x="6731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813800" y="41656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检测成功率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446861" y="4114800"/>
            <a:ext cx="93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813800" y="46228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25" name="Shape 23"/>
          <p:cNvSpPr/>
          <p:nvPr/>
        </p:nvSpPr>
        <p:spPr>
          <a:xfrm>
            <a:off x="8813800" y="46228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4"/>
          <p:cNvSpPr/>
          <p:nvPr/>
        </p:nvSpPr>
        <p:spPr>
          <a:xfrm>
            <a:off x="533400" y="5486400"/>
            <a:ext cx="7467600" cy="3403600"/>
          </a:xfrm>
          <a:custGeom>
            <a:avLst/>
            <a:gdLst/>
            <a:ahLst/>
            <a:cxnLst/>
            <a:rect l="l" t="t" r="r" b="b"/>
            <a:pathLst>
              <a:path w="7467600" h="3403600">
                <a:moveTo>
                  <a:pt x="50800" y="0"/>
                </a:moveTo>
                <a:lnTo>
                  <a:pt x="7315187" y="0"/>
                </a:lnTo>
                <a:cubicBezTo>
                  <a:pt x="7399362" y="0"/>
                  <a:pt x="7467600" y="68238"/>
                  <a:pt x="7467600" y="152413"/>
                </a:cubicBezTo>
                <a:lnTo>
                  <a:pt x="7467600" y="3251187"/>
                </a:lnTo>
                <a:cubicBezTo>
                  <a:pt x="7467600" y="3335362"/>
                  <a:pt x="7399362" y="3403600"/>
                  <a:pt x="73151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33400" y="54864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" y="5791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66800" y="599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8"/>
          <p:cNvSpPr/>
          <p:nvPr/>
        </p:nvSpPr>
        <p:spPr>
          <a:xfrm>
            <a:off x="1778000" y="59436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校验和错误检测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600" y="67056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模拟数据在传输过程中被篡改，验证协议能否通过校验和机制检测数据完整性错误。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600" y="7569200"/>
            <a:ext cx="6832600" cy="1016000"/>
          </a:xfrm>
          <a:custGeom>
            <a:avLst/>
            <a:gdLst/>
            <a:ahLst/>
            <a:cxnLst/>
            <a:rect l="l" t="t" r="r" b="b"/>
            <a:pathLst>
              <a:path w="6832600" h="1016000">
                <a:moveTo>
                  <a:pt x="101600" y="0"/>
                </a:moveTo>
                <a:lnTo>
                  <a:pt x="6731000" y="0"/>
                </a:lnTo>
                <a:cubicBezTo>
                  <a:pt x="6787075" y="0"/>
                  <a:pt x="6832600" y="45525"/>
                  <a:pt x="6832600" y="101600"/>
                </a:cubicBezTo>
                <a:lnTo>
                  <a:pt x="6832600" y="914400"/>
                </a:lnTo>
                <a:cubicBezTo>
                  <a:pt x="6832600" y="970475"/>
                  <a:pt x="6787075" y="1016000"/>
                  <a:pt x="6731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782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检测成功率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99861" y="7772400"/>
            <a:ext cx="93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66800" y="82804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1066800" y="82804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Shape 35"/>
          <p:cNvSpPr/>
          <p:nvPr/>
        </p:nvSpPr>
        <p:spPr>
          <a:xfrm>
            <a:off x="8280400" y="5486400"/>
            <a:ext cx="7467600" cy="3403600"/>
          </a:xfrm>
          <a:custGeom>
            <a:avLst/>
            <a:gdLst/>
            <a:ahLst/>
            <a:cxnLst/>
            <a:rect l="l" t="t" r="r" b="b"/>
            <a:pathLst>
              <a:path w="7467600" h="3403600">
                <a:moveTo>
                  <a:pt x="50800" y="0"/>
                </a:moveTo>
                <a:lnTo>
                  <a:pt x="7315187" y="0"/>
                </a:lnTo>
                <a:cubicBezTo>
                  <a:pt x="7399362" y="0"/>
                  <a:pt x="7467600" y="68238"/>
                  <a:pt x="7467600" y="152413"/>
                </a:cubicBezTo>
                <a:lnTo>
                  <a:pt x="7467600" y="3251187"/>
                </a:lnTo>
                <a:cubicBezTo>
                  <a:pt x="7467600" y="3335362"/>
                  <a:pt x="7399362" y="3403600"/>
                  <a:pt x="7315187" y="3403600"/>
                </a:cubicBez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8280400" y="5486400"/>
            <a:ext cx="50800" cy="3403600"/>
          </a:xfrm>
          <a:custGeom>
            <a:avLst/>
            <a:gdLst/>
            <a:ahLst/>
            <a:cxnLst/>
            <a:rect l="l" t="t" r="r" b="b"/>
            <a:pathLst>
              <a:path w="50800" h="3403600">
                <a:moveTo>
                  <a:pt x="50800" y="0"/>
                </a:moveTo>
                <a:lnTo>
                  <a:pt x="50800" y="0"/>
                </a:lnTo>
                <a:lnTo>
                  <a:pt x="50800" y="3403600"/>
                </a:lnTo>
                <a:lnTo>
                  <a:pt x="50800" y="3403600"/>
                </a:lnTo>
                <a:cubicBezTo>
                  <a:pt x="22763" y="3403600"/>
                  <a:pt x="0" y="3380837"/>
                  <a:pt x="0" y="3352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8610600" y="5791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813800" y="599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9525000" y="59436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双通道故障容错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10600" y="67056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模拟双通道中的一个通道故障，验证RSSP-II协议能否通过单通道继续正常工作。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10600" y="7569200"/>
            <a:ext cx="6832600" cy="1016000"/>
          </a:xfrm>
          <a:custGeom>
            <a:avLst/>
            <a:gdLst/>
            <a:ahLst/>
            <a:cxnLst/>
            <a:rect l="l" t="t" r="r" b="b"/>
            <a:pathLst>
              <a:path w="6832600" h="1016000">
                <a:moveTo>
                  <a:pt x="101600" y="0"/>
                </a:moveTo>
                <a:lnTo>
                  <a:pt x="6731000" y="0"/>
                </a:lnTo>
                <a:cubicBezTo>
                  <a:pt x="6787075" y="0"/>
                  <a:pt x="6832600" y="45525"/>
                  <a:pt x="6832600" y="101600"/>
                </a:cubicBezTo>
                <a:lnTo>
                  <a:pt x="6832600" y="914400"/>
                </a:lnTo>
                <a:cubicBezTo>
                  <a:pt x="6832600" y="970475"/>
                  <a:pt x="6787075" y="1016000"/>
                  <a:pt x="6731000" y="1016000"/>
                </a:cubicBezTo>
                <a:lnTo>
                  <a:pt x="101600" y="1016000"/>
                </a:lnTo>
                <a:cubicBezTo>
                  <a:pt x="45525" y="1016000"/>
                  <a:pt x="0" y="970475"/>
                  <a:pt x="0" y="914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813800" y="78232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容错成功率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4446861" y="7772400"/>
            <a:ext cx="939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13800" y="82804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7" name="Shape 45"/>
          <p:cNvSpPr/>
          <p:nvPr/>
        </p:nvSpPr>
        <p:spPr>
          <a:xfrm>
            <a:off x="8813800" y="8280400"/>
            <a:ext cx="6426200" cy="101600"/>
          </a:xfrm>
          <a:custGeom>
            <a:avLst/>
            <a:gdLst/>
            <a:ahLst/>
            <a:cxnLst/>
            <a:rect l="l" t="t" r="r" b="b"/>
            <a:pathLst>
              <a:path w="6426200" h="101600">
                <a:moveTo>
                  <a:pt x="50800" y="0"/>
                </a:moveTo>
                <a:lnTo>
                  <a:pt x="6375400" y="0"/>
                </a:lnTo>
                <a:cubicBezTo>
                  <a:pt x="6403437" y="0"/>
                  <a:pt x="6426200" y="22763"/>
                  <a:pt x="6426200" y="50800"/>
                </a:cubicBezTo>
                <a:lnTo>
                  <a:pt x="6426200" y="50800"/>
                </a:lnTo>
                <a:cubicBezTo>
                  <a:pt x="6426200" y="78837"/>
                  <a:pt x="6403437" y="101600"/>
                  <a:pt x="637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8" name="Shape 46"/>
          <p:cNvSpPr/>
          <p:nvPr/>
        </p:nvSpPr>
        <p:spPr>
          <a:xfrm>
            <a:off x="513862" y="9149862"/>
            <a:ext cx="15226323" cy="1307123"/>
          </a:xfrm>
          <a:custGeom>
            <a:avLst/>
            <a:gdLst/>
            <a:ahLst/>
            <a:cxnLst/>
            <a:rect l="l" t="t" r="r" b="b"/>
            <a:pathLst>
              <a:path w="15226323" h="1307123">
                <a:moveTo>
                  <a:pt x="152397" y="0"/>
                </a:moveTo>
                <a:lnTo>
                  <a:pt x="15073926" y="0"/>
                </a:lnTo>
                <a:cubicBezTo>
                  <a:pt x="15158092" y="0"/>
                  <a:pt x="15226323" y="68231"/>
                  <a:pt x="15226323" y="152397"/>
                </a:cubicBezTo>
                <a:lnTo>
                  <a:pt x="15226323" y="1154726"/>
                </a:lnTo>
                <a:cubicBezTo>
                  <a:pt x="15226323" y="1238892"/>
                  <a:pt x="15158092" y="1307123"/>
                  <a:pt x="15073926" y="1307123"/>
                </a:cubicBezTo>
                <a:lnTo>
                  <a:pt x="152397" y="1307123"/>
                </a:lnTo>
                <a:cubicBezTo>
                  <a:pt x="68231" y="1307123"/>
                  <a:pt x="0" y="1238892"/>
                  <a:pt x="0" y="1154726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4523" y="96129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0" name="Text 48"/>
          <p:cNvSpPr/>
          <p:nvPr/>
        </p:nvSpPr>
        <p:spPr>
          <a:xfrm>
            <a:off x="1453173" y="9409733"/>
            <a:ext cx="141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测试成果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53173" y="9866933"/>
            <a:ext cx="1413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所有故障注入测试均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100%通过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，验证了轨芯安在各种异常情况下都能正确响应，满足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SIL4级安全要求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 CERTIFICATION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SIL4安全认证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8940800" cy="3302000"/>
          </a:xfrm>
          <a:custGeom>
            <a:avLst/>
            <a:gdLst/>
            <a:ahLst/>
            <a:cxnLst/>
            <a:rect l="l" t="t" r="r" b="b"/>
            <a:pathLst>
              <a:path w="8940800" h="3302000">
                <a:moveTo>
                  <a:pt x="50800" y="0"/>
                </a:moveTo>
                <a:lnTo>
                  <a:pt x="8788413" y="0"/>
                </a:lnTo>
                <a:cubicBezTo>
                  <a:pt x="8872574" y="0"/>
                  <a:pt x="8940800" y="68226"/>
                  <a:pt x="8940800" y="152387"/>
                </a:cubicBezTo>
                <a:lnTo>
                  <a:pt x="8940800" y="3149613"/>
                </a:lnTo>
                <a:cubicBezTo>
                  <a:pt x="8940800" y="3233774"/>
                  <a:pt x="8872574" y="3302000"/>
                  <a:pt x="8788413" y="3302000"/>
                </a:cubicBez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50800" h="3302000">
                <a:moveTo>
                  <a:pt x="50800" y="0"/>
                </a:moveTo>
                <a:lnTo>
                  <a:pt x="50800" y="0"/>
                </a:lnTo>
                <a:lnTo>
                  <a:pt x="50800" y="3302000"/>
                </a:ln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2133600"/>
            <a:ext cx="8458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符合标准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3600" y="2743200"/>
            <a:ext cx="84074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轨芯安按照国际安全标准设计，满足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SIL4级安全完整性要求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，这是轨道交通信号系统的最高安全等级。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3600" y="3606800"/>
            <a:ext cx="2628900" cy="1219200"/>
          </a:xfrm>
          <a:custGeom>
            <a:avLst/>
            <a:gdLst/>
            <a:ahLst/>
            <a:cxnLst/>
            <a:rect l="l" t="t" r="r" b="b"/>
            <a:pathLst>
              <a:path w="2628900" h="1219200">
                <a:moveTo>
                  <a:pt x="101596" y="0"/>
                </a:moveTo>
                <a:lnTo>
                  <a:pt x="2527304" y="0"/>
                </a:lnTo>
                <a:cubicBezTo>
                  <a:pt x="2583414" y="0"/>
                  <a:pt x="2628900" y="45486"/>
                  <a:pt x="2628900" y="101596"/>
                </a:cubicBezTo>
                <a:lnTo>
                  <a:pt x="2628900" y="1117604"/>
                </a:lnTo>
                <a:cubicBezTo>
                  <a:pt x="2628900" y="1173714"/>
                  <a:pt x="2583414" y="1219200"/>
                  <a:pt x="25273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71550" y="3810000"/>
            <a:ext cx="241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50128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22350" y="43688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铁路应用软件标准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98203" y="3606800"/>
            <a:ext cx="2628900" cy="1219200"/>
          </a:xfrm>
          <a:custGeom>
            <a:avLst/>
            <a:gdLst/>
            <a:ahLst/>
            <a:cxnLst/>
            <a:rect l="l" t="t" r="r" b="b"/>
            <a:pathLst>
              <a:path w="2628900" h="1219200">
                <a:moveTo>
                  <a:pt x="101596" y="0"/>
                </a:moveTo>
                <a:lnTo>
                  <a:pt x="2527304" y="0"/>
                </a:lnTo>
                <a:cubicBezTo>
                  <a:pt x="2583414" y="0"/>
                  <a:pt x="2628900" y="45486"/>
                  <a:pt x="2628900" y="101596"/>
                </a:cubicBezTo>
                <a:lnTo>
                  <a:pt x="2628900" y="1117604"/>
                </a:lnTo>
                <a:cubicBezTo>
                  <a:pt x="2628900" y="1173714"/>
                  <a:pt x="2583414" y="1219200"/>
                  <a:pt x="25273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806153" y="3810000"/>
            <a:ext cx="241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IEC 61508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56953" y="43688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功能安全通用标准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2868" y="3606800"/>
            <a:ext cx="2628900" cy="1219200"/>
          </a:xfrm>
          <a:custGeom>
            <a:avLst/>
            <a:gdLst/>
            <a:ahLst/>
            <a:cxnLst/>
            <a:rect l="l" t="t" r="r" b="b"/>
            <a:pathLst>
              <a:path w="2628900" h="1219200">
                <a:moveTo>
                  <a:pt x="101596" y="0"/>
                </a:moveTo>
                <a:lnTo>
                  <a:pt x="2527304" y="0"/>
                </a:lnTo>
                <a:cubicBezTo>
                  <a:pt x="2583414" y="0"/>
                  <a:pt x="2628900" y="45486"/>
                  <a:pt x="2628900" y="101596"/>
                </a:cubicBezTo>
                <a:lnTo>
                  <a:pt x="2628900" y="1117604"/>
                </a:lnTo>
                <a:cubicBezTo>
                  <a:pt x="2628900" y="1173714"/>
                  <a:pt x="2583414" y="1219200"/>
                  <a:pt x="25273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40818" y="3810000"/>
            <a:ext cx="241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 50159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91618" y="4368800"/>
            <a:ext cx="231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安全通信标准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8000" y="5384800"/>
            <a:ext cx="4356100" cy="5308600"/>
          </a:xfrm>
          <a:custGeom>
            <a:avLst/>
            <a:gdLst/>
            <a:ahLst/>
            <a:cxnLst/>
            <a:rect l="l" t="t" r="r" b="b"/>
            <a:pathLst>
              <a:path w="4356100" h="5308600">
                <a:moveTo>
                  <a:pt x="152420" y="0"/>
                </a:moveTo>
                <a:lnTo>
                  <a:pt x="4203680" y="0"/>
                </a:lnTo>
                <a:cubicBezTo>
                  <a:pt x="4287859" y="0"/>
                  <a:pt x="4356100" y="68241"/>
                  <a:pt x="4356100" y="152420"/>
                </a:cubicBezTo>
                <a:lnTo>
                  <a:pt x="4356100" y="5156180"/>
                </a:lnTo>
                <a:cubicBezTo>
                  <a:pt x="4356100" y="5240359"/>
                  <a:pt x="4287859" y="5308600"/>
                  <a:pt x="4203680" y="5308600"/>
                </a:cubicBezTo>
                <a:lnTo>
                  <a:pt x="152420" y="5308600"/>
                </a:lnTo>
                <a:cubicBezTo>
                  <a:pt x="68241" y="5308600"/>
                  <a:pt x="0" y="5240359"/>
                  <a:pt x="0" y="5156180"/>
                </a:cubicBezTo>
                <a:lnTo>
                  <a:pt x="0" y="152420"/>
                </a:lnTo>
                <a:cubicBezTo>
                  <a:pt x="0" y="68297"/>
                  <a:pt x="68297" y="0"/>
                  <a:pt x="15242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62000" y="5638800"/>
            <a:ext cx="396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认证证据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00100" y="61976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" y="61468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需求追溯矩阵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" y="6604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" y="65532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形式化验证证据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0100" y="70104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1117600" y="69596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测试覆盖率报告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0100" y="74168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" y="73660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SIL4安全手册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115536" y="5384800"/>
            <a:ext cx="4356100" cy="5308600"/>
          </a:xfrm>
          <a:custGeom>
            <a:avLst/>
            <a:gdLst/>
            <a:ahLst/>
            <a:cxnLst/>
            <a:rect l="l" t="t" r="r" b="b"/>
            <a:pathLst>
              <a:path w="4356100" h="5308600">
                <a:moveTo>
                  <a:pt x="152420" y="0"/>
                </a:moveTo>
                <a:lnTo>
                  <a:pt x="4203680" y="0"/>
                </a:lnTo>
                <a:cubicBezTo>
                  <a:pt x="4287859" y="0"/>
                  <a:pt x="4356100" y="68241"/>
                  <a:pt x="4356100" y="152420"/>
                </a:cubicBezTo>
                <a:lnTo>
                  <a:pt x="4356100" y="5156180"/>
                </a:lnTo>
                <a:cubicBezTo>
                  <a:pt x="4356100" y="5240359"/>
                  <a:pt x="4287859" y="5308600"/>
                  <a:pt x="4203680" y="5308600"/>
                </a:cubicBezTo>
                <a:lnTo>
                  <a:pt x="152420" y="5308600"/>
                </a:lnTo>
                <a:cubicBezTo>
                  <a:pt x="68241" y="5308600"/>
                  <a:pt x="0" y="5240359"/>
                  <a:pt x="0" y="5156180"/>
                </a:cubicBezTo>
                <a:lnTo>
                  <a:pt x="0" y="152420"/>
                </a:lnTo>
                <a:cubicBezTo>
                  <a:pt x="0" y="68297"/>
                  <a:pt x="68297" y="0"/>
                  <a:pt x="15242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369536" y="5638800"/>
            <a:ext cx="3962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SIL4要求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69536" y="61468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残余错误率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94054" y="6146800"/>
            <a:ext cx="71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&lt;10⁻⁸/h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69536" y="64516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2" name="Shape 30"/>
          <p:cNvSpPr/>
          <p:nvPr/>
        </p:nvSpPr>
        <p:spPr>
          <a:xfrm>
            <a:off x="5369536" y="64516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3" name="Text 31"/>
          <p:cNvSpPr/>
          <p:nvPr/>
        </p:nvSpPr>
        <p:spPr>
          <a:xfrm>
            <a:off x="5369536" y="67056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测试覆盖率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724534" y="6705600"/>
            <a:ext cx="584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&gt;90%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69536" y="70104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36" name="Shape 34"/>
          <p:cNvSpPr/>
          <p:nvPr/>
        </p:nvSpPr>
        <p:spPr>
          <a:xfrm>
            <a:off x="5369536" y="7010400"/>
            <a:ext cx="3467100" cy="101600"/>
          </a:xfrm>
          <a:custGeom>
            <a:avLst/>
            <a:gdLst/>
            <a:ahLst/>
            <a:cxnLst/>
            <a:rect l="l" t="t" r="r" b="b"/>
            <a:pathLst>
              <a:path w="3467100" h="101600">
                <a:moveTo>
                  <a:pt x="50800" y="0"/>
                </a:moveTo>
                <a:lnTo>
                  <a:pt x="3416300" y="0"/>
                </a:lnTo>
                <a:cubicBezTo>
                  <a:pt x="3444337" y="0"/>
                  <a:pt x="3467100" y="22763"/>
                  <a:pt x="3467100" y="50800"/>
                </a:cubicBezTo>
                <a:lnTo>
                  <a:pt x="3467100" y="50800"/>
                </a:lnTo>
                <a:cubicBezTo>
                  <a:pt x="3467100" y="78837"/>
                  <a:pt x="3444337" y="101600"/>
                  <a:pt x="3416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5369536" y="72644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59472" y="7264400"/>
            <a:ext cx="444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必需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369536" y="75692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4A5568"/>
          </a:solidFill>
          <a:ln/>
        </p:spPr>
      </p:sp>
      <p:sp>
        <p:nvSpPr>
          <p:cNvPr id="40" name="Shape 38"/>
          <p:cNvSpPr/>
          <p:nvPr/>
        </p:nvSpPr>
        <p:spPr>
          <a:xfrm>
            <a:off x="5369536" y="7569200"/>
            <a:ext cx="3848100" cy="101600"/>
          </a:xfrm>
          <a:custGeom>
            <a:avLst/>
            <a:gdLst/>
            <a:ahLst/>
            <a:cxnLst/>
            <a:rect l="l" t="t" r="r" b="b"/>
            <a:pathLst>
              <a:path w="3848100" h="101600">
                <a:moveTo>
                  <a:pt x="50800" y="0"/>
                </a:moveTo>
                <a:lnTo>
                  <a:pt x="3797300" y="0"/>
                </a:lnTo>
                <a:cubicBezTo>
                  <a:pt x="3825337" y="0"/>
                  <a:pt x="3848100" y="22763"/>
                  <a:pt x="3848100" y="50800"/>
                </a:cubicBezTo>
                <a:lnTo>
                  <a:pt x="3848100" y="50800"/>
                </a:lnTo>
                <a:cubicBezTo>
                  <a:pt x="3848100" y="78837"/>
                  <a:pt x="3825337" y="101600"/>
                  <a:pt x="37973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Shape 39"/>
          <p:cNvSpPr/>
          <p:nvPr/>
        </p:nvSpPr>
        <p:spPr>
          <a:xfrm>
            <a:off x="9779794" y="1834662"/>
            <a:ext cx="5968023" cy="6920523"/>
          </a:xfrm>
          <a:custGeom>
            <a:avLst/>
            <a:gdLst/>
            <a:ahLst/>
            <a:cxnLst/>
            <a:rect l="l" t="t" r="r" b="b"/>
            <a:pathLst>
              <a:path w="5968023" h="6920523">
                <a:moveTo>
                  <a:pt x="152423" y="0"/>
                </a:moveTo>
                <a:lnTo>
                  <a:pt x="5815600" y="0"/>
                </a:lnTo>
                <a:cubicBezTo>
                  <a:pt x="5899781" y="0"/>
                  <a:pt x="5968023" y="68242"/>
                  <a:pt x="5968023" y="152423"/>
                </a:cubicBezTo>
                <a:lnTo>
                  <a:pt x="5968023" y="6768100"/>
                </a:lnTo>
                <a:cubicBezTo>
                  <a:pt x="5968023" y="6852281"/>
                  <a:pt x="5899781" y="6920523"/>
                  <a:pt x="5815600" y="6920523"/>
                </a:cubicBezTo>
                <a:lnTo>
                  <a:pt x="152423" y="6920523"/>
                </a:lnTo>
                <a:cubicBezTo>
                  <a:pt x="68242" y="6920523"/>
                  <a:pt x="0" y="6852281"/>
                  <a:pt x="0" y="6768100"/>
                </a:cubicBezTo>
                <a:lnTo>
                  <a:pt x="0" y="152423"/>
                </a:lnTo>
                <a:cubicBezTo>
                  <a:pt x="0" y="68299"/>
                  <a:pt x="68299" y="0"/>
                  <a:pt x="152423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90455" y="2145333"/>
            <a:ext cx="547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安全完整性等级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90455" y="2704133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0293655" y="2907333"/>
            <a:ext cx="58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 4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4720216" y="2907333"/>
            <a:ext cx="508000" cy="304800"/>
          </a:xfrm>
          <a:custGeom>
            <a:avLst/>
            <a:gdLst/>
            <a:ahLst/>
            <a:cxnLst/>
            <a:rect l="l" t="t" r="r" b="b"/>
            <a:pathLst>
              <a:path w="508000" h="304800">
                <a:moveTo>
                  <a:pt x="50801" y="0"/>
                </a:moveTo>
                <a:lnTo>
                  <a:pt x="457199" y="0"/>
                </a:lnTo>
                <a:cubicBezTo>
                  <a:pt x="485256" y="0"/>
                  <a:pt x="508000" y="22744"/>
                  <a:pt x="508000" y="50801"/>
                </a:cubicBezTo>
                <a:lnTo>
                  <a:pt x="508000" y="253999"/>
                </a:lnTo>
                <a:cubicBezTo>
                  <a:pt x="508000" y="282056"/>
                  <a:pt x="485256" y="304800"/>
                  <a:pt x="4571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4720216" y="2907333"/>
            <a:ext cx="5842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最高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293655" y="33137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残余错误率: 10⁻⁸ ~ 10⁻⁹/h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293655" y="3618533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轨道交通信号系统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090455" y="4177333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293655" y="4380533"/>
            <a:ext cx="58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 3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4872616" y="4380533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355600" h="304800">
                <a:moveTo>
                  <a:pt x="50801" y="0"/>
                </a:moveTo>
                <a:lnTo>
                  <a:pt x="304799" y="0"/>
                </a:lnTo>
                <a:cubicBezTo>
                  <a:pt x="332856" y="0"/>
                  <a:pt x="355600" y="22744"/>
                  <a:pt x="355600" y="50801"/>
                </a:cubicBezTo>
                <a:lnTo>
                  <a:pt x="355600" y="253999"/>
                </a:lnTo>
                <a:cubicBezTo>
                  <a:pt x="355600" y="282056"/>
                  <a:pt x="332856" y="304800"/>
                  <a:pt x="304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4872616" y="4380533"/>
            <a:ext cx="431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293655" y="47869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残余错误率: 10⁻⁷ ~ 10⁻⁸/h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293655" y="5091733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工业控制系统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0090455" y="5650533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10293655" y="5853733"/>
            <a:ext cx="58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 2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4872616" y="5853733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355600" h="304800">
                <a:moveTo>
                  <a:pt x="50801" y="0"/>
                </a:moveTo>
                <a:lnTo>
                  <a:pt x="304799" y="0"/>
                </a:lnTo>
                <a:cubicBezTo>
                  <a:pt x="332856" y="0"/>
                  <a:pt x="355600" y="22744"/>
                  <a:pt x="355600" y="50801"/>
                </a:cubicBezTo>
                <a:lnTo>
                  <a:pt x="355600" y="253999"/>
                </a:lnTo>
                <a:cubicBezTo>
                  <a:pt x="355600" y="282056"/>
                  <a:pt x="332856" y="304800"/>
                  <a:pt x="304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4872616" y="5853733"/>
            <a:ext cx="431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0293655" y="62601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残余错误率: 10⁻⁶ ~ 10⁻⁷/h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293655" y="6564933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一般安全系统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090455" y="7123733"/>
            <a:ext cx="5346700" cy="1320800"/>
          </a:xfrm>
          <a:custGeom>
            <a:avLst/>
            <a:gdLst/>
            <a:ahLst/>
            <a:cxnLst/>
            <a:rect l="l" t="t" r="r" b="b"/>
            <a:pathLst>
              <a:path w="5346700" h="1320800">
                <a:moveTo>
                  <a:pt x="101596" y="0"/>
                </a:moveTo>
                <a:lnTo>
                  <a:pt x="5245104" y="0"/>
                </a:lnTo>
                <a:cubicBezTo>
                  <a:pt x="5301214" y="0"/>
                  <a:pt x="5346700" y="45486"/>
                  <a:pt x="5346700" y="101596"/>
                </a:cubicBezTo>
                <a:lnTo>
                  <a:pt x="5346700" y="1219204"/>
                </a:lnTo>
                <a:cubicBezTo>
                  <a:pt x="5346700" y="1275314"/>
                  <a:pt x="5301214" y="1320800"/>
                  <a:pt x="5245104" y="1320800"/>
                </a:cubicBezTo>
                <a:lnTo>
                  <a:pt x="101596" y="1320800"/>
                </a:lnTo>
                <a:cubicBezTo>
                  <a:pt x="45486" y="1320800"/>
                  <a:pt x="0" y="1275314"/>
                  <a:pt x="0" y="12192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93655" y="7326933"/>
            <a:ext cx="54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 1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4872616" y="7326933"/>
            <a:ext cx="355600" cy="304800"/>
          </a:xfrm>
          <a:custGeom>
            <a:avLst/>
            <a:gdLst/>
            <a:ahLst/>
            <a:cxnLst/>
            <a:rect l="l" t="t" r="r" b="b"/>
            <a:pathLst>
              <a:path w="355600" h="304800">
                <a:moveTo>
                  <a:pt x="50801" y="0"/>
                </a:moveTo>
                <a:lnTo>
                  <a:pt x="304799" y="0"/>
                </a:lnTo>
                <a:cubicBezTo>
                  <a:pt x="332856" y="0"/>
                  <a:pt x="355600" y="22744"/>
                  <a:pt x="355600" y="50801"/>
                </a:cubicBezTo>
                <a:lnTo>
                  <a:pt x="355600" y="253999"/>
                </a:lnTo>
                <a:cubicBezTo>
                  <a:pt x="355600" y="282056"/>
                  <a:pt x="332856" y="304800"/>
                  <a:pt x="304799" y="304800"/>
                </a:cubicBezTo>
                <a:lnTo>
                  <a:pt x="50801" y="304800"/>
                </a:lnTo>
                <a:cubicBezTo>
                  <a:pt x="22744" y="304800"/>
                  <a:pt x="0" y="282056"/>
                  <a:pt x="0" y="253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4872616" y="7326933"/>
            <a:ext cx="431800" cy="304800"/>
          </a:xfrm>
          <a:prstGeom prst="rect">
            <a:avLst/>
          </a:prstGeom>
          <a:noFill/>
          <a:ln/>
        </p:spPr>
        <p:txBody>
          <a:bodyPr wrap="square" lIns="101600" tIns="50800" rIns="101600" bIns="508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0293655" y="77333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残余错误率: 10⁻⁵ ~ 10⁻⁶/h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0293655" y="8038133"/>
            <a:ext cx="5016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4A556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低风险系统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9773933" y="9015053"/>
            <a:ext cx="5969000" cy="1676400"/>
          </a:xfrm>
          <a:custGeom>
            <a:avLst/>
            <a:gdLst/>
            <a:ahLst/>
            <a:cxnLst/>
            <a:rect l="l" t="t" r="r" b="b"/>
            <a:pathLst>
              <a:path w="5969000" h="1676400">
                <a:moveTo>
                  <a:pt x="152402" y="0"/>
                </a:moveTo>
                <a:lnTo>
                  <a:pt x="5816598" y="0"/>
                </a:lnTo>
                <a:cubicBezTo>
                  <a:pt x="5900768" y="0"/>
                  <a:pt x="5969000" y="68232"/>
                  <a:pt x="5969000" y="152402"/>
                </a:cubicBezTo>
                <a:lnTo>
                  <a:pt x="5969000" y="1523998"/>
                </a:lnTo>
                <a:cubicBezTo>
                  <a:pt x="5969000" y="1608168"/>
                  <a:pt x="5900768" y="1676400"/>
                  <a:pt x="5816598" y="1676400"/>
                </a:cubicBezTo>
                <a:lnTo>
                  <a:pt x="152402" y="1676400"/>
                </a:lnTo>
                <a:cubicBezTo>
                  <a:pt x="68232" y="1676400"/>
                  <a:pt x="0" y="1608168"/>
                  <a:pt x="0" y="152399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027933" y="9269053"/>
            <a:ext cx="557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国内首创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027933" y="9777053"/>
            <a:ext cx="5562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轨芯安是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国内首个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支持SIL4认证的轻量化形式化验证工具，填补了国内空白。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COMPETITIVE ADVANTAGES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竞争优势分析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854200"/>
            <a:ext cx="4914900" cy="5664200"/>
          </a:xfrm>
          <a:custGeom>
            <a:avLst/>
            <a:gdLst/>
            <a:ahLst/>
            <a:cxnLst/>
            <a:rect l="l" t="t" r="r" b="b"/>
            <a:pathLst>
              <a:path w="4914900" h="5664200">
                <a:moveTo>
                  <a:pt x="50800" y="0"/>
                </a:moveTo>
                <a:lnTo>
                  <a:pt x="4864100" y="0"/>
                </a:lnTo>
                <a:cubicBezTo>
                  <a:pt x="4892156" y="0"/>
                  <a:pt x="4914900" y="22744"/>
                  <a:pt x="4914900" y="50800"/>
                </a:cubicBezTo>
                <a:lnTo>
                  <a:pt x="4914900" y="5511789"/>
                </a:lnTo>
                <a:cubicBezTo>
                  <a:pt x="4914900" y="5595963"/>
                  <a:pt x="4846663" y="5664200"/>
                  <a:pt x="4762489" y="5664200"/>
                </a:cubicBezTo>
                <a:lnTo>
                  <a:pt x="152411" y="5664200"/>
                </a:lnTo>
                <a:cubicBezTo>
                  <a:pt x="68237" y="5664200"/>
                  <a:pt x="0" y="5595963"/>
                  <a:pt x="0" y="55117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08000" y="18542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09490" y="166688"/>
                </a:moveTo>
                <a:lnTo>
                  <a:pt x="95845" y="166688"/>
                </a:lnTo>
                <a:cubicBezTo>
                  <a:pt x="97572" y="205085"/>
                  <a:pt x="106085" y="240447"/>
                  <a:pt x="118170" y="266343"/>
                </a:cubicBezTo>
                <a:cubicBezTo>
                  <a:pt x="124956" y="280928"/>
                  <a:pt x="132278" y="291227"/>
                  <a:pt x="139065" y="297537"/>
                </a:cubicBezTo>
                <a:cubicBezTo>
                  <a:pt x="145733" y="303788"/>
                  <a:pt x="150316" y="304800"/>
                  <a:pt x="152698" y="304800"/>
                </a:cubicBezTo>
                <a:cubicBezTo>
                  <a:pt x="155079" y="304800"/>
                  <a:pt x="159663" y="303788"/>
                  <a:pt x="166330" y="297537"/>
                </a:cubicBezTo>
                <a:cubicBezTo>
                  <a:pt x="173117" y="291227"/>
                  <a:pt x="180439" y="280868"/>
                  <a:pt x="187226" y="266343"/>
                </a:cubicBezTo>
                <a:cubicBezTo>
                  <a:pt x="199311" y="240447"/>
                  <a:pt x="207824" y="205085"/>
                  <a:pt x="209550" y="166688"/>
                </a:cubicBezTo>
                <a:close/>
                <a:moveTo>
                  <a:pt x="95786" y="138113"/>
                </a:moveTo>
                <a:lnTo>
                  <a:pt x="209431" y="138113"/>
                </a:lnTo>
                <a:cubicBezTo>
                  <a:pt x="207764" y="99715"/>
                  <a:pt x="199251" y="64353"/>
                  <a:pt x="187166" y="38457"/>
                </a:cubicBezTo>
                <a:cubicBezTo>
                  <a:pt x="180380" y="23932"/>
                  <a:pt x="173057" y="13573"/>
                  <a:pt x="166271" y="7263"/>
                </a:cubicBezTo>
                <a:cubicBezTo>
                  <a:pt x="159603" y="1012"/>
                  <a:pt x="155019" y="0"/>
                  <a:pt x="152638" y="0"/>
                </a:cubicBezTo>
                <a:cubicBezTo>
                  <a:pt x="150257" y="0"/>
                  <a:pt x="145673" y="1012"/>
                  <a:pt x="139005" y="7263"/>
                </a:cubicBezTo>
                <a:cubicBezTo>
                  <a:pt x="132219" y="13573"/>
                  <a:pt x="124897" y="23932"/>
                  <a:pt x="118110" y="38457"/>
                </a:cubicBezTo>
                <a:cubicBezTo>
                  <a:pt x="106025" y="64353"/>
                  <a:pt x="97512" y="99715"/>
                  <a:pt x="95786" y="138113"/>
                </a:cubicBezTo>
                <a:close/>
                <a:moveTo>
                  <a:pt x="67211" y="138113"/>
                </a:moveTo>
                <a:cubicBezTo>
                  <a:pt x="69294" y="87154"/>
                  <a:pt x="82451" y="39826"/>
                  <a:pt x="101679" y="8751"/>
                </a:cubicBezTo>
                <a:cubicBezTo>
                  <a:pt x="46851" y="28158"/>
                  <a:pt x="6489" y="78105"/>
                  <a:pt x="893" y="138113"/>
                </a:cubicBezTo>
                <a:lnTo>
                  <a:pt x="67211" y="138113"/>
                </a:lnTo>
                <a:close/>
                <a:moveTo>
                  <a:pt x="893" y="166688"/>
                </a:moveTo>
                <a:cubicBezTo>
                  <a:pt x="6489" y="226695"/>
                  <a:pt x="46851" y="276642"/>
                  <a:pt x="101679" y="296049"/>
                </a:cubicBezTo>
                <a:cubicBezTo>
                  <a:pt x="82451" y="264974"/>
                  <a:pt x="69294" y="217646"/>
                  <a:pt x="67211" y="166688"/>
                </a:cubicBezTo>
                <a:lnTo>
                  <a:pt x="893" y="166688"/>
                </a:lnTo>
                <a:close/>
                <a:moveTo>
                  <a:pt x="238065" y="166688"/>
                </a:moveTo>
                <a:cubicBezTo>
                  <a:pt x="235982" y="217646"/>
                  <a:pt x="222825" y="264974"/>
                  <a:pt x="203597" y="296049"/>
                </a:cubicBezTo>
                <a:cubicBezTo>
                  <a:pt x="258425" y="276582"/>
                  <a:pt x="298787" y="226695"/>
                  <a:pt x="304383" y="166688"/>
                </a:cubicBezTo>
                <a:lnTo>
                  <a:pt x="238065" y="166688"/>
                </a:lnTo>
                <a:close/>
                <a:moveTo>
                  <a:pt x="304383" y="138113"/>
                </a:moveTo>
                <a:cubicBezTo>
                  <a:pt x="298787" y="78105"/>
                  <a:pt x="258425" y="28158"/>
                  <a:pt x="203597" y="8751"/>
                </a:cubicBezTo>
                <a:cubicBezTo>
                  <a:pt x="222825" y="39826"/>
                  <a:pt x="235982" y="87154"/>
                  <a:pt x="238065" y="138113"/>
                </a:cubicBezTo>
                <a:lnTo>
                  <a:pt x="304383" y="13811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727200" y="23622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 国外工具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3098800"/>
            <a:ext cx="4305300" cy="914400"/>
          </a:xfrm>
          <a:custGeom>
            <a:avLst/>
            <a:gdLst/>
            <a:ahLst/>
            <a:cxnLst/>
            <a:rect l="l" t="t" r="r" b="b"/>
            <a:pathLst>
              <a:path w="4305300" h="914400">
                <a:moveTo>
                  <a:pt x="101599" y="0"/>
                </a:moveTo>
                <a:lnTo>
                  <a:pt x="4203701" y="0"/>
                </a:lnTo>
                <a:cubicBezTo>
                  <a:pt x="4259813" y="0"/>
                  <a:pt x="4305300" y="45487"/>
                  <a:pt x="4305300" y="101599"/>
                </a:cubicBezTo>
                <a:lnTo>
                  <a:pt x="4305300" y="812801"/>
                </a:lnTo>
                <a:cubicBezTo>
                  <a:pt x="4305300" y="868913"/>
                  <a:pt x="4259813" y="914400"/>
                  <a:pt x="42037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65200" y="3251200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Ansys SCADE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19026" y="3276600"/>
            <a:ext cx="812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500万+/年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36068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351765" y="3632200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免费开源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800" y="4165600"/>
            <a:ext cx="4305300" cy="1879600"/>
          </a:xfrm>
          <a:custGeom>
            <a:avLst/>
            <a:gdLst/>
            <a:ahLst/>
            <a:cxnLst/>
            <a:rect l="l" t="t" r="r" b="b"/>
            <a:pathLst>
              <a:path w="4305300" h="1879600">
                <a:moveTo>
                  <a:pt x="101592" y="0"/>
                </a:moveTo>
                <a:lnTo>
                  <a:pt x="4203708" y="0"/>
                </a:lnTo>
                <a:cubicBezTo>
                  <a:pt x="4259816" y="0"/>
                  <a:pt x="4305300" y="45484"/>
                  <a:pt x="4305300" y="101592"/>
                </a:cubicBezTo>
                <a:lnTo>
                  <a:pt x="4305300" y="1778008"/>
                </a:lnTo>
                <a:cubicBezTo>
                  <a:pt x="4305300" y="1834116"/>
                  <a:pt x="4259816" y="1879600"/>
                  <a:pt x="42037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5200" y="4318000"/>
            <a:ext cx="410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93775" y="4775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Text 15"/>
          <p:cNvSpPr/>
          <p:nvPr/>
        </p:nvSpPr>
        <p:spPr>
          <a:xfrm>
            <a:off x="1257300" y="4724400"/>
            <a:ext cx="1282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成本降低80%+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3775" y="5080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1257300" y="50292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自主可控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93775" y="5384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1257300" y="53340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本土化支持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93775" y="5689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1257300" y="5638800"/>
            <a:ext cx="138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RISC-V原生支持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72626" y="1854200"/>
            <a:ext cx="4914900" cy="5664200"/>
          </a:xfrm>
          <a:custGeom>
            <a:avLst/>
            <a:gdLst/>
            <a:ahLst/>
            <a:cxnLst/>
            <a:rect l="l" t="t" r="r" b="b"/>
            <a:pathLst>
              <a:path w="4914900" h="5664200">
                <a:moveTo>
                  <a:pt x="50800" y="0"/>
                </a:moveTo>
                <a:lnTo>
                  <a:pt x="4864100" y="0"/>
                </a:lnTo>
                <a:cubicBezTo>
                  <a:pt x="4892156" y="0"/>
                  <a:pt x="4914900" y="22744"/>
                  <a:pt x="4914900" y="50800"/>
                </a:cubicBezTo>
                <a:lnTo>
                  <a:pt x="4914900" y="5511789"/>
                </a:lnTo>
                <a:cubicBezTo>
                  <a:pt x="4914900" y="5595963"/>
                  <a:pt x="4846663" y="5664200"/>
                  <a:pt x="4762489" y="5664200"/>
                </a:cubicBezTo>
                <a:lnTo>
                  <a:pt x="152411" y="5664200"/>
                </a:lnTo>
                <a:cubicBezTo>
                  <a:pt x="68237" y="5664200"/>
                  <a:pt x="0" y="5595963"/>
                  <a:pt x="0" y="55117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5672626" y="18542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4"/>
          <p:cNvSpPr/>
          <p:nvPr/>
        </p:nvSpPr>
        <p:spPr>
          <a:xfrm>
            <a:off x="5977426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199676" y="23876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Text 26"/>
          <p:cNvSpPr/>
          <p:nvPr/>
        </p:nvSpPr>
        <p:spPr>
          <a:xfrm>
            <a:off x="6891826" y="23622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vs 国内方案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977426" y="3098800"/>
            <a:ext cx="4305300" cy="1219200"/>
          </a:xfrm>
          <a:custGeom>
            <a:avLst/>
            <a:gdLst/>
            <a:ahLst/>
            <a:cxnLst/>
            <a:rect l="l" t="t" r="r" b="b"/>
            <a:pathLst>
              <a:path w="4305300" h="1219200">
                <a:moveTo>
                  <a:pt x="101596" y="0"/>
                </a:moveTo>
                <a:lnTo>
                  <a:pt x="4203704" y="0"/>
                </a:lnTo>
                <a:cubicBezTo>
                  <a:pt x="4259814" y="0"/>
                  <a:pt x="4305300" y="45486"/>
                  <a:pt x="4305300" y="101596"/>
                </a:cubicBezTo>
                <a:lnTo>
                  <a:pt x="4305300" y="1117604"/>
                </a:lnTo>
                <a:cubicBezTo>
                  <a:pt x="4305300" y="1173714"/>
                  <a:pt x="4259814" y="1219200"/>
                  <a:pt x="4203704" y="1219200"/>
                </a:cubicBezTo>
                <a:lnTo>
                  <a:pt x="101596" y="1219200"/>
                </a:lnTo>
                <a:cubicBezTo>
                  <a:pt x="45486" y="1219200"/>
                  <a:pt x="0" y="1173714"/>
                  <a:pt x="0" y="1117604"/>
                </a:cubicBezTo>
                <a:lnTo>
                  <a:pt x="0" y="101596"/>
                </a:lnTo>
                <a:cubicBezTo>
                  <a:pt x="0" y="45486"/>
                  <a:pt x="45486" y="0"/>
                  <a:pt x="101596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129826" y="3251200"/>
            <a:ext cx="410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市场现状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29826" y="3657600"/>
            <a:ext cx="408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国内现有方案主要针对ARM/x86架构，</a:t>
            </a:r>
            <a:pPr>
              <a:lnSpc>
                <a:spcPct val="12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无RISC-V支持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77426" y="4470400"/>
            <a:ext cx="4305300" cy="1879600"/>
          </a:xfrm>
          <a:custGeom>
            <a:avLst/>
            <a:gdLst/>
            <a:ahLst/>
            <a:cxnLst/>
            <a:rect l="l" t="t" r="r" b="b"/>
            <a:pathLst>
              <a:path w="4305300" h="1879600">
                <a:moveTo>
                  <a:pt x="101592" y="0"/>
                </a:moveTo>
                <a:lnTo>
                  <a:pt x="4203708" y="0"/>
                </a:lnTo>
                <a:cubicBezTo>
                  <a:pt x="4259816" y="0"/>
                  <a:pt x="4305300" y="45484"/>
                  <a:pt x="4305300" y="101592"/>
                </a:cubicBezTo>
                <a:lnTo>
                  <a:pt x="4305300" y="1778008"/>
                </a:lnTo>
                <a:cubicBezTo>
                  <a:pt x="4305300" y="1834116"/>
                  <a:pt x="4259816" y="1879600"/>
                  <a:pt x="4203708" y="1879600"/>
                </a:cubicBezTo>
                <a:lnTo>
                  <a:pt x="101592" y="1879600"/>
                </a:lnTo>
                <a:cubicBezTo>
                  <a:pt x="45484" y="1879600"/>
                  <a:pt x="0" y="1834116"/>
                  <a:pt x="0" y="1778008"/>
                </a:cubicBezTo>
                <a:lnTo>
                  <a:pt x="0" y="101592"/>
                </a:lnTo>
                <a:cubicBezTo>
                  <a:pt x="0" y="45522"/>
                  <a:pt x="45522" y="0"/>
                  <a:pt x="10159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129826" y="4622800"/>
            <a:ext cx="410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轨芯安优势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58401" y="50800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5" name="Text 33"/>
          <p:cNvSpPr/>
          <p:nvPr/>
        </p:nvSpPr>
        <p:spPr>
          <a:xfrm>
            <a:off x="6421926" y="5029200"/>
            <a:ext cx="138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唯一支持RISC-V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58401" y="5384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6421926" y="53340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完整形式化验证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58401" y="5689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6421926" y="56388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SIL4级认证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58401" y="5994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29421" y="20866"/>
                </a:moveTo>
                <a:cubicBezTo>
                  <a:pt x="133677" y="23961"/>
                  <a:pt x="134630" y="29914"/>
                  <a:pt x="131534" y="34171"/>
                </a:cubicBezTo>
                <a:lnTo>
                  <a:pt x="55334" y="138946"/>
                </a:lnTo>
                <a:cubicBezTo>
                  <a:pt x="53697" y="141208"/>
                  <a:pt x="51167" y="142607"/>
                  <a:pt x="48369" y="142845"/>
                </a:cubicBezTo>
                <a:cubicBezTo>
                  <a:pt x="45571" y="143083"/>
                  <a:pt x="42863" y="142042"/>
                  <a:pt x="40898" y="140077"/>
                </a:cubicBezTo>
                <a:lnTo>
                  <a:pt x="2798" y="101977"/>
                </a:lnTo>
                <a:cubicBezTo>
                  <a:pt x="-923" y="98256"/>
                  <a:pt x="-923" y="92214"/>
                  <a:pt x="2798" y="88493"/>
                </a:cubicBezTo>
                <a:cubicBezTo>
                  <a:pt x="6519" y="84773"/>
                  <a:pt x="12561" y="84773"/>
                  <a:pt x="16282" y="88493"/>
                </a:cubicBezTo>
                <a:lnTo>
                  <a:pt x="46494" y="118705"/>
                </a:lnTo>
                <a:lnTo>
                  <a:pt x="116145" y="22949"/>
                </a:lnTo>
                <a:cubicBezTo>
                  <a:pt x="119241" y="18693"/>
                  <a:pt x="125194" y="17740"/>
                  <a:pt x="129451" y="2083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6421926" y="59436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轻量化设计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37314" y="1854200"/>
            <a:ext cx="4914900" cy="5664200"/>
          </a:xfrm>
          <a:custGeom>
            <a:avLst/>
            <a:gdLst/>
            <a:ahLst/>
            <a:cxnLst/>
            <a:rect l="l" t="t" r="r" b="b"/>
            <a:pathLst>
              <a:path w="4914900" h="5664200">
                <a:moveTo>
                  <a:pt x="50800" y="0"/>
                </a:moveTo>
                <a:lnTo>
                  <a:pt x="4864100" y="0"/>
                </a:lnTo>
                <a:cubicBezTo>
                  <a:pt x="4892156" y="0"/>
                  <a:pt x="4914900" y="22744"/>
                  <a:pt x="4914900" y="50800"/>
                </a:cubicBezTo>
                <a:lnTo>
                  <a:pt x="4914900" y="5511789"/>
                </a:lnTo>
                <a:cubicBezTo>
                  <a:pt x="4914900" y="5595963"/>
                  <a:pt x="4846663" y="5664200"/>
                  <a:pt x="4762489" y="5664200"/>
                </a:cubicBezTo>
                <a:lnTo>
                  <a:pt x="152411" y="5664200"/>
                </a:lnTo>
                <a:cubicBezTo>
                  <a:pt x="68237" y="5664200"/>
                  <a:pt x="0" y="5595963"/>
                  <a:pt x="0" y="5511789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3" name="Shape 41"/>
          <p:cNvSpPr/>
          <p:nvPr/>
        </p:nvSpPr>
        <p:spPr>
          <a:xfrm>
            <a:off x="10837314" y="1854200"/>
            <a:ext cx="4914900" cy="50800"/>
          </a:xfrm>
          <a:custGeom>
            <a:avLst/>
            <a:gdLst/>
            <a:ahLst/>
            <a:cxnLst/>
            <a:rect l="l" t="t" r="r" b="b"/>
            <a:pathLst>
              <a:path w="4914900" h="50800">
                <a:moveTo>
                  <a:pt x="50800" y="0"/>
                </a:moveTo>
                <a:lnTo>
                  <a:pt x="4864100" y="0"/>
                </a:lnTo>
                <a:cubicBezTo>
                  <a:pt x="4892137" y="0"/>
                  <a:pt x="4914900" y="22763"/>
                  <a:pt x="4914900" y="50800"/>
                </a:cubicBezTo>
                <a:lnTo>
                  <a:pt x="4914900" y="50800"/>
                </a:lnTo>
                <a:lnTo>
                  <a:pt x="0" y="50800"/>
                </a:ln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42114" y="2184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345314" y="2387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5904" y="0"/>
                </a:moveTo>
                <a:lnTo>
                  <a:pt x="219254" y="0"/>
                </a:lnTo>
                <a:cubicBezTo>
                  <a:pt x="235029" y="0"/>
                  <a:pt x="247888" y="12978"/>
                  <a:pt x="247293" y="28694"/>
                </a:cubicBezTo>
                <a:cubicBezTo>
                  <a:pt x="247174" y="31849"/>
                  <a:pt x="247055" y="35004"/>
                  <a:pt x="246876" y="38100"/>
                </a:cubicBezTo>
                <a:lnTo>
                  <a:pt x="276404" y="38100"/>
                </a:lnTo>
                <a:cubicBezTo>
                  <a:pt x="291941" y="38100"/>
                  <a:pt x="305633" y="50959"/>
                  <a:pt x="304443" y="67747"/>
                </a:cubicBezTo>
                <a:cubicBezTo>
                  <a:pt x="299978" y="129480"/>
                  <a:pt x="268426" y="163413"/>
                  <a:pt x="234196" y="181154"/>
                </a:cubicBezTo>
                <a:cubicBezTo>
                  <a:pt x="224790" y="186035"/>
                  <a:pt x="215205" y="189667"/>
                  <a:pt x="206097" y="192345"/>
                </a:cubicBezTo>
                <a:cubicBezTo>
                  <a:pt x="194072" y="209371"/>
                  <a:pt x="181570" y="218361"/>
                  <a:pt x="171629" y="223183"/>
                </a:cubicBezTo>
                <a:lnTo>
                  <a:pt x="171629" y="266700"/>
                </a:lnTo>
                <a:lnTo>
                  <a:pt x="209729" y="266700"/>
                </a:lnTo>
                <a:cubicBezTo>
                  <a:pt x="220266" y="266700"/>
                  <a:pt x="228779" y="275213"/>
                  <a:pt x="228779" y="285750"/>
                </a:cubicBezTo>
                <a:cubicBezTo>
                  <a:pt x="228779" y="296287"/>
                  <a:pt x="220266" y="304800"/>
                  <a:pt x="209729" y="304800"/>
                </a:cubicBezTo>
                <a:lnTo>
                  <a:pt x="95429" y="304800"/>
                </a:lnTo>
                <a:cubicBezTo>
                  <a:pt x="84892" y="304800"/>
                  <a:pt x="76379" y="296287"/>
                  <a:pt x="76379" y="285750"/>
                </a:cubicBezTo>
                <a:cubicBezTo>
                  <a:pt x="76379" y="275213"/>
                  <a:pt x="84892" y="266700"/>
                  <a:pt x="95429" y="266700"/>
                </a:cubicBezTo>
                <a:lnTo>
                  <a:pt x="133529" y="266700"/>
                </a:lnTo>
                <a:lnTo>
                  <a:pt x="133529" y="223183"/>
                </a:lnTo>
                <a:cubicBezTo>
                  <a:pt x="124004" y="218599"/>
                  <a:pt x="112157" y="210086"/>
                  <a:pt x="100608" y="194429"/>
                </a:cubicBezTo>
                <a:cubicBezTo>
                  <a:pt x="89654" y="191572"/>
                  <a:pt x="77748" y="187226"/>
                  <a:pt x="66139" y="180677"/>
                </a:cubicBezTo>
                <a:cubicBezTo>
                  <a:pt x="33933" y="162639"/>
                  <a:pt x="4882" y="128647"/>
                  <a:pt x="714" y="67627"/>
                </a:cubicBezTo>
                <a:cubicBezTo>
                  <a:pt x="-417" y="50899"/>
                  <a:pt x="13216" y="38040"/>
                  <a:pt x="28754" y="38040"/>
                </a:cubicBezTo>
                <a:lnTo>
                  <a:pt x="58281" y="38040"/>
                </a:lnTo>
                <a:cubicBezTo>
                  <a:pt x="58103" y="34945"/>
                  <a:pt x="57983" y="31849"/>
                  <a:pt x="57864" y="28635"/>
                </a:cubicBezTo>
                <a:cubicBezTo>
                  <a:pt x="57269" y="12859"/>
                  <a:pt x="70128" y="-60"/>
                  <a:pt x="85904" y="-60"/>
                </a:cubicBezTo>
                <a:close/>
                <a:moveTo>
                  <a:pt x="60424" y="66675"/>
                </a:moveTo>
                <a:lnTo>
                  <a:pt x="29230" y="66675"/>
                </a:lnTo>
                <a:cubicBezTo>
                  <a:pt x="32921" y="117098"/>
                  <a:pt x="56078" y="142339"/>
                  <a:pt x="79950" y="155734"/>
                </a:cubicBezTo>
                <a:cubicBezTo>
                  <a:pt x="71378" y="133529"/>
                  <a:pt x="64294" y="104537"/>
                  <a:pt x="60424" y="66675"/>
                </a:cubicBezTo>
                <a:close/>
                <a:moveTo>
                  <a:pt x="226219" y="152876"/>
                </a:moveTo>
                <a:cubicBezTo>
                  <a:pt x="250329" y="138708"/>
                  <a:pt x="272117" y="113526"/>
                  <a:pt x="275808" y="66675"/>
                </a:cubicBezTo>
                <a:lnTo>
                  <a:pt x="244673" y="66675"/>
                </a:lnTo>
                <a:cubicBezTo>
                  <a:pt x="240983" y="102930"/>
                  <a:pt x="234315" y="131088"/>
                  <a:pt x="226219" y="15287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12056514" y="23622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综合优势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42114" y="3098800"/>
            <a:ext cx="4305300" cy="914400"/>
          </a:xfrm>
          <a:custGeom>
            <a:avLst/>
            <a:gdLst/>
            <a:ahLst/>
            <a:cxnLst/>
            <a:rect l="l" t="t" r="r" b="b"/>
            <a:pathLst>
              <a:path w="4305300" h="914400">
                <a:moveTo>
                  <a:pt x="101599" y="0"/>
                </a:moveTo>
                <a:lnTo>
                  <a:pt x="4203701" y="0"/>
                </a:lnTo>
                <a:cubicBezTo>
                  <a:pt x="4259813" y="0"/>
                  <a:pt x="4305300" y="45487"/>
                  <a:pt x="4305300" y="101599"/>
                </a:cubicBezTo>
                <a:lnTo>
                  <a:pt x="4305300" y="812801"/>
                </a:lnTo>
                <a:cubicBezTo>
                  <a:pt x="4305300" y="868913"/>
                  <a:pt x="4259813" y="914400"/>
                  <a:pt x="42037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1358014" y="3302000"/>
            <a:ext cx="127000" cy="203200"/>
          </a:xfrm>
          <a:custGeom>
            <a:avLst/>
            <a:gdLst/>
            <a:ahLst/>
            <a:cxnLst/>
            <a:rect l="l" t="t" r="r" b="b"/>
            <a:pathLst>
              <a:path w="127000" h="203200">
                <a:moveTo>
                  <a:pt x="53975" y="9525"/>
                </a:moveTo>
                <a:cubicBezTo>
                  <a:pt x="53975" y="4247"/>
                  <a:pt x="58222" y="0"/>
                  <a:pt x="63500" y="0"/>
                </a:cubicBezTo>
                <a:cubicBezTo>
                  <a:pt x="68778" y="0"/>
                  <a:pt x="73025" y="4247"/>
                  <a:pt x="73025" y="9525"/>
                </a:cubicBezTo>
                <a:lnTo>
                  <a:pt x="73025" y="25400"/>
                </a:lnTo>
                <a:lnTo>
                  <a:pt x="95250" y="25400"/>
                </a:lnTo>
                <a:cubicBezTo>
                  <a:pt x="102275" y="25400"/>
                  <a:pt x="107950" y="31075"/>
                  <a:pt x="107950" y="38100"/>
                </a:cubicBezTo>
                <a:cubicBezTo>
                  <a:pt x="107950" y="45125"/>
                  <a:pt x="102275" y="50800"/>
                  <a:pt x="95250" y="50800"/>
                </a:cubicBezTo>
                <a:lnTo>
                  <a:pt x="49649" y="50800"/>
                </a:lnTo>
                <a:cubicBezTo>
                  <a:pt x="39767" y="50800"/>
                  <a:pt x="31750" y="58817"/>
                  <a:pt x="31750" y="68699"/>
                </a:cubicBezTo>
                <a:cubicBezTo>
                  <a:pt x="31750" y="77629"/>
                  <a:pt x="38298" y="85169"/>
                  <a:pt x="47109" y="86439"/>
                </a:cubicBezTo>
                <a:lnTo>
                  <a:pt x="83463" y="91638"/>
                </a:lnTo>
                <a:cubicBezTo>
                  <a:pt x="104815" y="94694"/>
                  <a:pt x="120650" y="112951"/>
                  <a:pt x="120650" y="134501"/>
                </a:cubicBezTo>
                <a:cubicBezTo>
                  <a:pt x="120650" y="158433"/>
                  <a:pt x="101243" y="177800"/>
                  <a:pt x="77351" y="177800"/>
                </a:cubicBezTo>
                <a:lnTo>
                  <a:pt x="73025" y="177800"/>
                </a:lnTo>
                <a:lnTo>
                  <a:pt x="73025" y="193675"/>
                </a:lnTo>
                <a:cubicBezTo>
                  <a:pt x="73025" y="198953"/>
                  <a:pt x="68778" y="203200"/>
                  <a:pt x="63500" y="203200"/>
                </a:cubicBezTo>
                <a:cubicBezTo>
                  <a:pt x="58222" y="203200"/>
                  <a:pt x="53975" y="198953"/>
                  <a:pt x="53975" y="193675"/>
                </a:cubicBezTo>
                <a:lnTo>
                  <a:pt x="53975" y="177800"/>
                </a:lnTo>
                <a:lnTo>
                  <a:pt x="25400" y="177800"/>
                </a:lnTo>
                <a:cubicBezTo>
                  <a:pt x="18375" y="177800"/>
                  <a:pt x="12700" y="172125"/>
                  <a:pt x="12700" y="165100"/>
                </a:cubicBezTo>
                <a:cubicBezTo>
                  <a:pt x="12700" y="158075"/>
                  <a:pt x="18375" y="152400"/>
                  <a:pt x="25400" y="152400"/>
                </a:cubicBezTo>
                <a:lnTo>
                  <a:pt x="77351" y="152400"/>
                </a:lnTo>
                <a:cubicBezTo>
                  <a:pt x="87233" y="152400"/>
                  <a:pt x="95250" y="144383"/>
                  <a:pt x="95250" y="134501"/>
                </a:cubicBezTo>
                <a:cubicBezTo>
                  <a:pt x="95250" y="125571"/>
                  <a:pt x="88702" y="118031"/>
                  <a:pt x="79891" y="116761"/>
                </a:cubicBezTo>
                <a:lnTo>
                  <a:pt x="43537" y="111562"/>
                </a:lnTo>
                <a:cubicBezTo>
                  <a:pt x="22185" y="108545"/>
                  <a:pt x="6350" y="90249"/>
                  <a:pt x="6350" y="68699"/>
                </a:cubicBezTo>
                <a:cubicBezTo>
                  <a:pt x="6350" y="44807"/>
                  <a:pt x="25757" y="25400"/>
                  <a:pt x="49649" y="25400"/>
                </a:cubicBezTo>
                <a:lnTo>
                  <a:pt x="53975" y="25400"/>
                </a:lnTo>
                <a:lnTo>
                  <a:pt x="53975" y="952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9" name="Text 47"/>
          <p:cNvSpPr/>
          <p:nvPr/>
        </p:nvSpPr>
        <p:spPr>
          <a:xfrm>
            <a:off x="11650114" y="32512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成本优势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94514" y="36068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相比国外工具节省80%+成本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42114" y="4165600"/>
            <a:ext cx="4305300" cy="914400"/>
          </a:xfrm>
          <a:custGeom>
            <a:avLst/>
            <a:gdLst/>
            <a:ahLst/>
            <a:cxnLst/>
            <a:rect l="l" t="t" r="r" b="b"/>
            <a:pathLst>
              <a:path w="4305300" h="914400">
                <a:moveTo>
                  <a:pt x="101599" y="0"/>
                </a:moveTo>
                <a:lnTo>
                  <a:pt x="4203701" y="0"/>
                </a:lnTo>
                <a:cubicBezTo>
                  <a:pt x="4259813" y="0"/>
                  <a:pt x="4305300" y="45487"/>
                  <a:pt x="4305300" y="101599"/>
                </a:cubicBezTo>
                <a:lnTo>
                  <a:pt x="4305300" y="812801"/>
                </a:lnTo>
                <a:cubicBezTo>
                  <a:pt x="4305300" y="868913"/>
                  <a:pt x="4259813" y="914400"/>
                  <a:pt x="42037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319914" y="436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3" name="Text 51"/>
          <p:cNvSpPr/>
          <p:nvPr/>
        </p:nvSpPr>
        <p:spPr>
          <a:xfrm>
            <a:off x="11650114" y="43180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安全优势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94514" y="46736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自主可控，无后门风险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42114" y="5232400"/>
            <a:ext cx="4305300" cy="914400"/>
          </a:xfrm>
          <a:custGeom>
            <a:avLst/>
            <a:gdLst/>
            <a:ahLst/>
            <a:cxnLst/>
            <a:rect l="l" t="t" r="r" b="b"/>
            <a:pathLst>
              <a:path w="4305300" h="914400">
                <a:moveTo>
                  <a:pt x="101599" y="0"/>
                </a:moveTo>
                <a:lnTo>
                  <a:pt x="4203701" y="0"/>
                </a:lnTo>
                <a:cubicBezTo>
                  <a:pt x="4259813" y="0"/>
                  <a:pt x="4305300" y="45487"/>
                  <a:pt x="4305300" y="101599"/>
                </a:cubicBezTo>
                <a:lnTo>
                  <a:pt x="4305300" y="812801"/>
                </a:lnTo>
                <a:cubicBezTo>
                  <a:pt x="4305300" y="868913"/>
                  <a:pt x="4259813" y="914400"/>
                  <a:pt x="42037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1294514" y="5435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7" name="Text 55"/>
          <p:cNvSpPr/>
          <p:nvPr/>
        </p:nvSpPr>
        <p:spPr>
          <a:xfrm>
            <a:off x="11650114" y="53848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技术优势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94514" y="57404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RISC-V原生支持，填补空白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142114" y="6299200"/>
            <a:ext cx="4305300" cy="914400"/>
          </a:xfrm>
          <a:custGeom>
            <a:avLst/>
            <a:gdLst/>
            <a:ahLst/>
            <a:cxnLst/>
            <a:rect l="l" t="t" r="r" b="b"/>
            <a:pathLst>
              <a:path w="4305300" h="914400">
                <a:moveTo>
                  <a:pt x="101599" y="0"/>
                </a:moveTo>
                <a:lnTo>
                  <a:pt x="4203701" y="0"/>
                </a:lnTo>
                <a:cubicBezTo>
                  <a:pt x="4259813" y="0"/>
                  <a:pt x="4305300" y="45487"/>
                  <a:pt x="4305300" y="101599"/>
                </a:cubicBezTo>
                <a:lnTo>
                  <a:pt x="4305300" y="812801"/>
                </a:lnTo>
                <a:cubicBezTo>
                  <a:pt x="4305300" y="868913"/>
                  <a:pt x="4259813" y="914400"/>
                  <a:pt x="4203701" y="914400"/>
                </a:cubicBezTo>
                <a:lnTo>
                  <a:pt x="101599" y="914400"/>
                </a:lnTo>
                <a:cubicBezTo>
                  <a:pt x="45487" y="914400"/>
                  <a:pt x="0" y="868913"/>
                  <a:pt x="0" y="812801"/>
                </a:cubicBezTo>
                <a:lnTo>
                  <a:pt x="0" y="101599"/>
                </a:lnTo>
                <a:cubicBezTo>
                  <a:pt x="0" y="45525"/>
                  <a:pt x="45525" y="0"/>
                  <a:pt x="101599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1294514" y="65024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1" name="Text 59"/>
          <p:cNvSpPr/>
          <p:nvPr/>
        </p:nvSpPr>
        <p:spPr>
          <a:xfrm>
            <a:off x="11650114" y="64516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服务优势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294514" y="6807200"/>
            <a:ext cx="4089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本土化技术支持团队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513862" y="7778262"/>
            <a:ext cx="15226323" cy="1307123"/>
          </a:xfrm>
          <a:custGeom>
            <a:avLst/>
            <a:gdLst/>
            <a:ahLst/>
            <a:cxnLst/>
            <a:rect l="l" t="t" r="r" b="b"/>
            <a:pathLst>
              <a:path w="15226323" h="1307123">
                <a:moveTo>
                  <a:pt x="152397" y="0"/>
                </a:moveTo>
                <a:lnTo>
                  <a:pt x="15073926" y="0"/>
                </a:lnTo>
                <a:cubicBezTo>
                  <a:pt x="15158092" y="0"/>
                  <a:pt x="15226323" y="68231"/>
                  <a:pt x="15226323" y="152397"/>
                </a:cubicBezTo>
                <a:lnTo>
                  <a:pt x="15226323" y="1154726"/>
                </a:lnTo>
                <a:cubicBezTo>
                  <a:pt x="15226323" y="1238892"/>
                  <a:pt x="15158092" y="1307123"/>
                  <a:pt x="15073926" y="1307123"/>
                </a:cubicBezTo>
                <a:lnTo>
                  <a:pt x="152397" y="1307123"/>
                </a:lnTo>
                <a:cubicBezTo>
                  <a:pt x="68231" y="1307123"/>
                  <a:pt x="0" y="1238892"/>
                  <a:pt x="0" y="1154726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72148" y="8241333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17959" y="285750"/>
                </a:moveTo>
                <a:cubicBezTo>
                  <a:pt x="223391" y="269156"/>
                  <a:pt x="234255" y="254124"/>
                  <a:pt x="246534" y="241176"/>
                </a:cubicBezTo>
                <a:cubicBezTo>
                  <a:pt x="270867" y="215578"/>
                  <a:pt x="285750" y="180975"/>
                  <a:pt x="285750" y="142875"/>
                </a:cubicBezTo>
                <a:cubicBezTo>
                  <a:pt x="285750" y="63996"/>
                  <a:pt x="221754" y="0"/>
                  <a:pt x="142875" y="0"/>
                </a:cubicBezTo>
                <a:cubicBezTo>
                  <a:pt x="63996" y="0"/>
                  <a:pt x="0" y="63996"/>
                  <a:pt x="0" y="142875"/>
                </a:cubicBezTo>
                <a:cubicBezTo>
                  <a:pt x="0" y="180975"/>
                  <a:pt x="14883" y="215578"/>
                  <a:pt x="39216" y="241176"/>
                </a:cubicBezTo>
                <a:cubicBezTo>
                  <a:pt x="51495" y="254124"/>
                  <a:pt x="62433" y="269156"/>
                  <a:pt x="67791" y="285750"/>
                </a:cubicBezTo>
                <a:lnTo>
                  <a:pt x="217884" y="285750"/>
                </a:lnTo>
                <a:close/>
                <a:moveTo>
                  <a:pt x="214313" y="321469"/>
                </a:moveTo>
                <a:lnTo>
                  <a:pt x="71438" y="321469"/>
                </a:lnTo>
                <a:lnTo>
                  <a:pt x="71438" y="333375"/>
                </a:lnTo>
                <a:cubicBezTo>
                  <a:pt x="71438" y="366266"/>
                  <a:pt x="98078" y="392906"/>
                  <a:pt x="130969" y="392906"/>
                </a:cubicBezTo>
                <a:lnTo>
                  <a:pt x="154781" y="392906"/>
                </a:lnTo>
                <a:cubicBezTo>
                  <a:pt x="187672" y="392906"/>
                  <a:pt x="214313" y="366266"/>
                  <a:pt x="214313" y="333375"/>
                </a:cubicBezTo>
                <a:lnTo>
                  <a:pt x="214313" y="321469"/>
                </a:lnTo>
                <a:close/>
                <a:moveTo>
                  <a:pt x="136922" y="83344"/>
                </a:moveTo>
                <a:cubicBezTo>
                  <a:pt x="107305" y="83344"/>
                  <a:pt x="83344" y="107305"/>
                  <a:pt x="83344" y="136922"/>
                </a:cubicBezTo>
                <a:cubicBezTo>
                  <a:pt x="83344" y="146819"/>
                  <a:pt x="75381" y="154781"/>
                  <a:pt x="65484" y="154781"/>
                </a:cubicBezTo>
                <a:cubicBezTo>
                  <a:pt x="55587" y="154781"/>
                  <a:pt x="47625" y="146819"/>
                  <a:pt x="47625" y="136922"/>
                </a:cubicBezTo>
                <a:cubicBezTo>
                  <a:pt x="47625" y="87585"/>
                  <a:pt x="87585" y="47625"/>
                  <a:pt x="136922" y="47625"/>
                </a:cubicBezTo>
                <a:cubicBezTo>
                  <a:pt x="146819" y="47625"/>
                  <a:pt x="154781" y="55587"/>
                  <a:pt x="154781" y="65484"/>
                </a:cubicBezTo>
                <a:cubicBezTo>
                  <a:pt x="154781" y="75381"/>
                  <a:pt x="146819" y="83344"/>
                  <a:pt x="136922" y="833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5" name="Text 63"/>
          <p:cNvSpPr/>
          <p:nvPr/>
        </p:nvSpPr>
        <p:spPr>
          <a:xfrm>
            <a:off x="1453173" y="8038133"/>
            <a:ext cx="141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核心竞争力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1453173" y="8495333"/>
            <a:ext cx="1413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轨芯安以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自主可控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成本优势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、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技术领先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三大核心竞争力，打破国外垄断，填补国内空白，成为轨道交通信号安全验证领域的国产替代首选方案。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APPLICATION SCENARIOS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7467600" cy="3276600"/>
          </a:xfrm>
          <a:custGeom>
            <a:avLst/>
            <a:gdLst/>
            <a:ahLst/>
            <a:cxnLst/>
            <a:rect l="l" t="t" r="r" b="b"/>
            <a:pathLst>
              <a:path w="7467600" h="3276600">
                <a:moveTo>
                  <a:pt x="50800" y="0"/>
                </a:moveTo>
                <a:lnTo>
                  <a:pt x="7315205" y="0"/>
                </a:lnTo>
                <a:cubicBezTo>
                  <a:pt x="7399371" y="0"/>
                  <a:pt x="7467600" y="68229"/>
                  <a:pt x="7467600" y="152395"/>
                </a:cubicBezTo>
                <a:lnTo>
                  <a:pt x="7467600" y="3124205"/>
                </a:lnTo>
                <a:cubicBezTo>
                  <a:pt x="7467600" y="3208371"/>
                  <a:pt x="7399371" y="3276600"/>
                  <a:pt x="7315205" y="3276600"/>
                </a:cubicBez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5080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04900" y="2336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57150"/>
                </a:moveTo>
                <a:cubicBezTo>
                  <a:pt x="0" y="25598"/>
                  <a:pt x="25598" y="0"/>
                  <a:pt x="57150" y="0"/>
                </a:cubicBezTo>
                <a:lnTo>
                  <a:pt x="171450" y="0"/>
                </a:lnTo>
                <a:cubicBezTo>
                  <a:pt x="203002" y="0"/>
                  <a:pt x="228600" y="25598"/>
                  <a:pt x="228600" y="57150"/>
                </a:cubicBezTo>
                <a:lnTo>
                  <a:pt x="228600" y="209550"/>
                </a:lnTo>
                <a:cubicBezTo>
                  <a:pt x="228600" y="233422"/>
                  <a:pt x="213955" y="253901"/>
                  <a:pt x="193179" y="262414"/>
                </a:cubicBezTo>
                <a:lnTo>
                  <a:pt x="225266" y="300335"/>
                </a:lnTo>
                <a:cubicBezTo>
                  <a:pt x="230386" y="306348"/>
                  <a:pt x="229612" y="315397"/>
                  <a:pt x="223599" y="320457"/>
                </a:cubicBezTo>
                <a:cubicBezTo>
                  <a:pt x="217587" y="325517"/>
                  <a:pt x="208538" y="324802"/>
                  <a:pt x="203478" y="318790"/>
                </a:cubicBezTo>
                <a:lnTo>
                  <a:pt x="159425" y="266700"/>
                </a:lnTo>
                <a:lnTo>
                  <a:pt x="69354" y="266700"/>
                </a:lnTo>
                <a:lnTo>
                  <a:pt x="25301" y="318790"/>
                </a:lnTo>
                <a:cubicBezTo>
                  <a:pt x="20181" y="324803"/>
                  <a:pt x="11192" y="325576"/>
                  <a:pt x="5179" y="320457"/>
                </a:cubicBezTo>
                <a:cubicBezTo>
                  <a:pt x="-833" y="315337"/>
                  <a:pt x="-1607" y="306348"/>
                  <a:pt x="3512" y="300335"/>
                </a:cubicBezTo>
                <a:lnTo>
                  <a:pt x="35600" y="262414"/>
                </a:lnTo>
                <a:cubicBezTo>
                  <a:pt x="14645" y="253901"/>
                  <a:pt x="0" y="233422"/>
                  <a:pt x="0" y="209550"/>
                </a:cubicBezTo>
                <a:lnTo>
                  <a:pt x="0" y="57150"/>
                </a:lnTo>
                <a:close/>
                <a:moveTo>
                  <a:pt x="38100" y="76200"/>
                </a:moveTo>
                <a:lnTo>
                  <a:pt x="38100" y="133350"/>
                </a:lnTo>
                <a:cubicBezTo>
                  <a:pt x="38100" y="143887"/>
                  <a:pt x="46613" y="152400"/>
                  <a:pt x="57150" y="152400"/>
                </a:cubicBezTo>
                <a:lnTo>
                  <a:pt x="100013" y="152400"/>
                </a:lnTo>
                <a:lnTo>
                  <a:pt x="100013" y="57150"/>
                </a:lnTo>
                <a:lnTo>
                  <a:pt x="57150" y="57150"/>
                </a:lnTo>
                <a:cubicBezTo>
                  <a:pt x="46613" y="57150"/>
                  <a:pt x="38100" y="65663"/>
                  <a:pt x="38100" y="76200"/>
                </a:cubicBezTo>
                <a:close/>
                <a:moveTo>
                  <a:pt x="128588" y="152400"/>
                </a:moveTo>
                <a:lnTo>
                  <a:pt x="171450" y="152400"/>
                </a:lnTo>
                <a:cubicBezTo>
                  <a:pt x="181987" y="152400"/>
                  <a:pt x="190500" y="143887"/>
                  <a:pt x="190500" y="133350"/>
                </a:cubicBezTo>
                <a:lnTo>
                  <a:pt x="190500" y="76200"/>
                </a:lnTo>
                <a:cubicBezTo>
                  <a:pt x="190500" y="65663"/>
                  <a:pt x="181987" y="57150"/>
                  <a:pt x="171450" y="57150"/>
                </a:cubicBezTo>
                <a:lnTo>
                  <a:pt x="128588" y="57150"/>
                </a:lnTo>
                <a:lnTo>
                  <a:pt x="128588" y="152400"/>
                </a:lnTo>
                <a:close/>
                <a:moveTo>
                  <a:pt x="57150" y="228600"/>
                </a:moveTo>
                <a:cubicBezTo>
                  <a:pt x="67664" y="228600"/>
                  <a:pt x="76200" y="220064"/>
                  <a:pt x="76200" y="209550"/>
                </a:cubicBezTo>
                <a:cubicBezTo>
                  <a:pt x="76200" y="199036"/>
                  <a:pt x="67664" y="190500"/>
                  <a:pt x="57150" y="190500"/>
                </a:cubicBezTo>
                <a:cubicBezTo>
                  <a:pt x="46636" y="190500"/>
                  <a:pt x="38100" y="199036"/>
                  <a:pt x="38100" y="209550"/>
                </a:cubicBezTo>
                <a:cubicBezTo>
                  <a:pt x="38100" y="220064"/>
                  <a:pt x="46636" y="228600"/>
                  <a:pt x="57150" y="228600"/>
                </a:cubicBezTo>
                <a:close/>
                <a:moveTo>
                  <a:pt x="190500" y="209550"/>
                </a:moveTo>
                <a:cubicBezTo>
                  <a:pt x="190500" y="199036"/>
                  <a:pt x="181964" y="190500"/>
                  <a:pt x="171450" y="190500"/>
                </a:cubicBezTo>
                <a:cubicBezTo>
                  <a:pt x="160936" y="190500"/>
                  <a:pt x="152400" y="199036"/>
                  <a:pt x="152400" y="209550"/>
                </a:cubicBezTo>
                <a:cubicBezTo>
                  <a:pt x="152400" y="220064"/>
                  <a:pt x="160936" y="228600"/>
                  <a:pt x="171450" y="228600"/>
                </a:cubicBezTo>
                <a:cubicBezTo>
                  <a:pt x="181964" y="228600"/>
                  <a:pt x="190500" y="220064"/>
                  <a:pt x="190500" y="2095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286000"/>
            <a:ext cx="2590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轨道交通信号系统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3048000"/>
            <a:ext cx="693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为地铁、高铁、城际铁路等轨道交通信号系统提供形式化验证服务，确保列车控制、信号联锁、调度指挥等关键系统的安全性。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4038600"/>
            <a:ext cx="6832600" cy="762000"/>
          </a:xfrm>
          <a:custGeom>
            <a:avLst/>
            <a:gdLst/>
            <a:ahLst/>
            <a:cxnLst/>
            <a:rect l="l" t="t" r="r" b="b"/>
            <a:pathLst>
              <a:path w="6832600" h="762000">
                <a:moveTo>
                  <a:pt x="101597" y="0"/>
                </a:moveTo>
                <a:lnTo>
                  <a:pt x="6731003" y="0"/>
                </a:lnTo>
                <a:cubicBezTo>
                  <a:pt x="6787113" y="0"/>
                  <a:pt x="6832600" y="45487"/>
                  <a:pt x="6832600" y="101597"/>
                </a:cubicBezTo>
                <a:lnTo>
                  <a:pt x="6832600" y="660403"/>
                </a:lnTo>
                <a:cubicBezTo>
                  <a:pt x="6832600" y="716513"/>
                  <a:pt x="6787113" y="762000"/>
                  <a:pt x="67310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66800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列车控制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184461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84461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信号联锁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02122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302122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调度指挥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19783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419783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道岔控制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80400" y="1828800"/>
            <a:ext cx="7467600" cy="3276600"/>
          </a:xfrm>
          <a:custGeom>
            <a:avLst/>
            <a:gdLst/>
            <a:ahLst/>
            <a:cxnLst/>
            <a:rect l="l" t="t" r="r" b="b"/>
            <a:pathLst>
              <a:path w="7467600" h="3276600">
                <a:moveTo>
                  <a:pt x="50800" y="0"/>
                </a:moveTo>
                <a:lnTo>
                  <a:pt x="7315205" y="0"/>
                </a:lnTo>
                <a:cubicBezTo>
                  <a:pt x="7399371" y="0"/>
                  <a:pt x="7467600" y="68229"/>
                  <a:pt x="7467600" y="152395"/>
                </a:cubicBezTo>
                <a:lnTo>
                  <a:pt x="7467600" y="3124205"/>
                </a:lnTo>
                <a:cubicBezTo>
                  <a:pt x="7467600" y="3208371"/>
                  <a:pt x="7399371" y="3276600"/>
                  <a:pt x="7315205" y="3276600"/>
                </a:cubicBez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0" name="Shape 18"/>
          <p:cNvSpPr/>
          <p:nvPr/>
        </p:nvSpPr>
        <p:spPr>
          <a:xfrm>
            <a:off x="8280400" y="18288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5080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Shape 19"/>
          <p:cNvSpPr/>
          <p:nvPr/>
        </p:nvSpPr>
        <p:spPr>
          <a:xfrm>
            <a:off x="8610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8138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9525000" y="2286000"/>
            <a:ext cx="303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国产RISC-V芯片认证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10600" y="3048000"/>
            <a:ext cx="693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为国产RISC-V架构芯片提供安全认证服务，验证芯片固件的正确性和安全性，支持国产芯片生态建设。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610600" y="4038600"/>
            <a:ext cx="6832600" cy="762000"/>
          </a:xfrm>
          <a:custGeom>
            <a:avLst/>
            <a:gdLst/>
            <a:ahLst/>
            <a:cxnLst/>
            <a:rect l="l" t="t" r="r" b="b"/>
            <a:pathLst>
              <a:path w="6832600" h="762000">
                <a:moveTo>
                  <a:pt x="101597" y="0"/>
                </a:moveTo>
                <a:lnTo>
                  <a:pt x="6731003" y="0"/>
                </a:lnTo>
                <a:cubicBezTo>
                  <a:pt x="6787113" y="0"/>
                  <a:pt x="6832600" y="45487"/>
                  <a:pt x="6832600" y="101597"/>
                </a:cubicBezTo>
                <a:lnTo>
                  <a:pt x="6832600" y="660403"/>
                </a:lnTo>
                <a:cubicBezTo>
                  <a:pt x="6832600" y="716513"/>
                  <a:pt x="6787113" y="762000"/>
                  <a:pt x="67310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813800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813800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固件验证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931461" y="4241800"/>
            <a:ext cx="1041400" cy="355600"/>
          </a:xfrm>
          <a:custGeom>
            <a:avLst/>
            <a:gdLst/>
            <a:ahLst/>
            <a:cxnLst/>
            <a:rect l="l" t="t" r="r" b="b"/>
            <a:pathLst>
              <a:path w="1041400" h="355600">
                <a:moveTo>
                  <a:pt x="177800" y="0"/>
                </a:moveTo>
                <a:lnTo>
                  <a:pt x="863600" y="0"/>
                </a:lnTo>
                <a:cubicBezTo>
                  <a:pt x="961730" y="0"/>
                  <a:pt x="1041400" y="79670"/>
                  <a:pt x="1041400" y="177800"/>
                </a:cubicBezTo>
                <a:lnTo>
                  <a:pt x="1041400" y="177800"/>
                </a:lnTo>
                <a:cubicBezTo>
                  <a:pt x="1041400" y="275930"/>
                  <a:pt x="961730" y="355600"/>
                  <a:pt x="8636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931461" y="4241800"/>
            <a:ext cx="11303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PMP检查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1071836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071836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安全启动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89497" y="42418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2189497" y="42418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指令模拟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33400" y="5359400"/>
            <a:ext cx="7467600" cy="3276600"/>
          </a:xfrm>
          <a:custGeom>
            <a:avLst/>
            <a:gdLst/>
            <a:ahLst/>
            <a:cxnLst/>
            <a:rect l="l" t="t" r="r" b="b"/>
            <a:pathLst>
              <a:path w="7467600" h="3276600">
                <a:moveTo>
                  <a:pt x="50800" y="0"/>
                </a:moveTo>
                <a:lnTo>
                  <a:pt x="7315205" y="0"/>
                </a:lnTo>
                <a:cubicBezTo>
                  <a:pt x="7399371" y="0"/>
                  <a:pt x="7467600" y="68229"/>
                  <a:pt x="7467600" y="152395"/>
                </a:cubicBezTo>
                <a:lnTo>
                  <a:pt x="7467600" y="3124205"/>
                </a:lnTo>
                <a:cubicBezTo>
                  <a:pt x="7467600" y="3208371"/>
                  <a:pt x="7399371" y="3276600"/>
                  <a:pt x="7315205" y="3276600"/>
                </a:cubicBez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533400" y="53594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5080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Shape 34"/>
          <p:cNvSpPr/>
          <p:nvPr/>
        </p:nvSpPr>
        <p:spPr>
          <a:xfrm>
            <a:off x="863600" y="5664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6800" y="5867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1778000" y="5816600"/>
            <a:ext cx="2895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安全协议设计与验证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63600" y="6578600"/>
            <a:ext cx="693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为工业控制、物联网、金融等领域的安全通信协议提供设计和验证服务，确保协议满足安全属性要求。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3600" y="7569200"/>
            <a:ext cx="6832600" cy="762000"/>
          </a:xfrm>
          <a:custGeom>
            <a:avLst/>
            <a:gdLst/>
            <a:ahLst/>
            <a:cxnLst/>
            <a:rect l="l" t="t" r="r" b="b"/>
            <a:pathLst>
              <a:path w="6832600" h="762000">
                <a:moveTo>
                  <a:pt x="101597" y="0"/>
                </a:moveTo>
                <a:lnTo>
                  <a:pt x="6731003" y="0"/>
                </a:lnTo>
                <a:cubicBezTo>
                  <a:pt x="6787113" y="0"/>
                  <a:pt x="6832600" y="45487"/>
                  <a:pt x="6832600" y="101597"/>
                </a:cubicBezTo>
                <a:lnTo>
                  <a:pt x="6832600" y="660403"/>
                </a:lnTo>
                <a:cubicBezTo>
                  <a:pt x="6832600" y="716513"/>
                  <a:pt x="6787113" y="762000"/>
                  <a:pt x="67310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66800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1066800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协议设计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184461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2184461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属性验证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302122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3302122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故障注入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419783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419783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安全评估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80400" y="5359400"/>
            <a:ext cx="7467600" cy="3276600"/>
          </a:xfrm>
          <a:custGeom>
            <a:avLst/>
            <a:gdLst/>
            <a:ahLst/>
            <a:cxnLst/>
            <a:rect l="l" t="t" r="r" b="b"/>
            <a:pathLst>
              <a:path w="7467600" h="3276600">
                <a:moveTo>
                  <a:pt x="50800" y="0"/>
                </a:moveTo>
                <a:lnTo>
                  <a:pt x="7315205" y="0"/>
                </a:lnTo>
                <a:cubicBezTo>
                  <a:pt x="7399371" y="0"/>
                  <a:pt x="7467600" y="68229"/>
                  <a:pt x="7467600" y="152395"/>
                </a:cubicBezTo>
                <a:lnTo>
                  <a:pt x="7467600" y="3124205"/>
                </a:lnTo>
                <a:cubicBezTo>
                  <a:pt x="7467600" y="3208371"/>
                  <a:pt x="7399371" y="3276600"/>
                  <a:pt x="7315205" y="3276600"/>
                </a:cubicBez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0" name="Shape 48"/>
          <p:cNvSpPr/>
          <p:nvPr/>
        </p:nvSpPr>
        <p:spPr>
          <a:xfrm>
            <a:off x="8280400" y="5359400"/>
            <a:ext cx="50800" cy="3276600"/>
          </a:xfrm>
          <a:custGeom>
            <a:avLst/>
            <a:gdLst/>
            <a:ahLst/>
            <a:cxnLst/>
            <a:rect l="l" t="t" r="r" b="b"/>
            <a:pathLst>
              <a:path w="50800" h="3276600">
                <a:moveTo>
                  <a:pt x="50800" y="0"/>
                </a:moveTo>
                <a:lnTo>
                  <a:pt x="50800" y="0"/>
                </a:lnTo>
                <a:lnTo>
                  <a:pt x="50800" y="3276600"/>
                </a:lnTo>
                <a:lnTo>
                  <a:pt x="50800" y="3276600"/>
                </a:lnTo>
                <a:cubicBezTo>
                  <a:pt x="22763" y="3276600"/>
                  <a:pt x="0" y="3253837"/>
                  <a:pt x="0" y="3225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1" name="Shape 49"/>
          <p:cNvSpPr/>
          <p:nvPr/>
        </p:nvSpPr>
        <p:spPr>
          <a:xfrm>
            <a:off x="8610600" y="56642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794750" y="5867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3" name="Text 51"/>
          <p:cNvSpPr/>
          <p:nvPr/>
        </p:nvSpPr>
        <p:spPr>
          <a:xfrm>
            <a:off x="9525000" y="5816600"/>
            <a:ext cx="2286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高校科研与教学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610600" y="6578600"/>
            <a:ext cx="6934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为高校和科研机构提供形式化验证教学和科研平台，培养安全关键系统领域专业人才。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610600" y="7569200"/>
            <a:ext cx="6832600" cy="762000"/>
          </a:xfrm>
          <a:custGeom>
            <a:avLst/>
            <a:gdLst/>
            <a:ahLst/>
            <a:cxnLst/>
            <a:rect l="l" t="t" r="r" b="b"/>
            <a:pathLst>
              <a:path w="6832600" h="762000">
                <a:moveTo>
                  <a:pt x="101597" y="0"/>
                </a:moveTo>
                <a:lnTo>
                  <a:pt x="6731003" y="0"/>
                </a:lnTo>
                <a:cubicBezTo>
                  <a:pt x="6787113" y="0"/>
                  <a:pt x="6832600" y="45487"/>
                  <a:pt x="6832600" y="101597"/>
                </a:cubicBezTo>
                <a:lnTo>
                  <a:pt x="6832600" y="660403"/>
                </a:lnTo>
                <a:cubicBezTo>
                  <a:pt x="6832600" y="716513"/>
                  <a:pt x="6787113" y="762000"/>
                  <a:pt x="6731003" y="762000"/>
                </a:cubicBezTo>
                <a:lnTo>
                  <a:pt x="101597" y="762000"/>
                </a:lnTo>
                <a:cubicBezTo>
                  <a:pt x="45487" y="762000"/>
                  <a:pt x="0" y="716513"/>
                  <a:pt x="0" y="660403"/>
                </a:cubicBezTo>
                <a:lnTo>
                  <a:pt x="0" y="101597"/>
                </a:lnTo>
                <a:cubicBezTo>
                  <a:pt x="0" y="45487"/>
                  <a:pt x="45487" y="0"/>
                  <a:pt x="101597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13800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813800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教学演示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31461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9" name="Text 57"/>
          <p:cNvSpPr/>
          <p:nvPr/>
        </p:nvSpPr>
        <p:spPr>
          <a:xfrm>
            <a:off x="9931461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科研平台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1049122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1049122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人才培养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2166784" y="77724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177800" y="0"/>
                </a:moveTo>
                <a:lnTo>
                  <a:pt x="838200" y="0"/>
                </a:lnTo>
                <a:cubicBezTo>
                  <a:pt x="936330" y="0"/>
                  <a:pt x="1016000" y="79670"/>
                  <a:pt x="1016000" y="177800"/>
                </a:cubicBezTo>
                <a:lnTo>
                  <a:pt x="1016000" y="177800"/>
                </a:lnTo>
                <a:cubicBezTo>
                  <a:pt x="1016000" y="275930"/>
                  <a:pt x="936330" y="355600"/>
                  <a:pt x="838200" y="355600"/>
                </a:cubicBezTo>
                <a:lnTo>
                  <a:pt x="177800" y="355600"/>
                </a:lnTo>
                <a:cubicBezTo>
                  <a:pt x="79670" y="355600"/>
                  <a:pt x="0" y="275930"/>
                  <a:pt x="0" y="177800"/>
                </a:cubicBezTo>
                <a:lnTo>
                  <a:pt x="0" y="177800"/>
                </a:lnTo>
                <a:cubicBezTo>
                  <a:pt x="0" y="79670"/>
                  <a:pt x="79670" y="0"/>
                  <a:pt x="177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12166784" y="7772400"/>
            <a:ext cx="1104900" cy="355600"/>
          </a:xfrm>
          <a:prstGeom prst="rect">
            <a:avLst/>
          </a:prstGeom>
          <a:noFill/>
          <a:ln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开源社区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MARKET OUTLOOK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市场前景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3862" y="1834662"/>
            <a:ext cx="2843823" cy="2170723"/>
          </a:xfrm>
          <a:custGeom>
            <a:avLst/>
            <a:gdLst/>
            <a:ahLst/>
            <a:cxnLst/>
            <a:rect l="l" t="t" r="r" b="b"/>
            <a:pathLst>
              <a:path w="2843823" h="2170723">
                <a:moveTo>
                  <a:pt x="152406" y="0"/>
                </a:moveTo>
                <a:lnTo>
                  <a:pt x="2691417" y="0"/>
                </a:lnTo>
                <a:cubicBezTo>
                  <a:pt x="2775588" y="0"/>
                  <a:pt x="2843823" y="68235"/>
                  <a:pt x="2843823" y="152406"/>
                </a:cubicBezTo>
                <a:lnTo>
                  <a:pt x="2843823" y="2018317"/>
                </a:lnTo>
                <a:cubicBezTo>
                  <a:pt x="2843823" y="2102488"/>
                  <a:pt x="2775588" y="2170723"/>
                  <a:pt x="2691417" y="2170723"/>
                </a:cubicBezTo>
                <a:lnTo>
                  <a:pt x="152406" y="2170723"/>
                </a:lnTo>
                <a:cubicBezTo>
                  <a:pt x="68235" y="2170723"/>
                  <a:pt x="0" y="2102488"/>
                  <a:pt x="0" y="2018317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94058" y="2094533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71438"/>
                </a:moveTo>
                <a:cubicBezTo>
                  <a:pt x="0" y="31998"/>
                  <a:pt x="31998" y="0"/>
                  <a:pt x="71438" y="0"/>
                </a:cubicBezTo>
                <a:lnTo>
                  <a:pt x="214313" y="0"/>
                </a:lnTo>
                <a:cubicBezTo>
                  <a:pt x="253752" y="0"/>
                  <a:pt x="285750" y="31998"/>
                  <a:pt x="285750" y="71438"/>
                </a:cubicBezTo>
                <a:lnTo>
                  <a:pt x="285750" y="261938"/>
                </a:lnTo>
                <a:cubicBezTo>
                  <a:pt x="285750" y="291778"/>
                  <a:pt x="267444" y="317376"/>
                  <a:pt x="241474" y="328017"/>
                </a:cubicBezTo>
                <a:lnTo>
                  <a:pt x="281583" y="375419"/>
                </a:lnTo>
                <a:cubicBezTo>
                  <a:pt x="287982" y="382935"/>
                  <a:pt x="287015" y="394246"/>
                  <a:pt x="279499" y="400571"/>
                </a:cubicBezTo>
                <a:cubicBezTo>
                  <a:pt x="271983" y="406896"/>
                  <a:pt x="260672" y="406003"/>
                  <a:pt x="254347" y="398487"/>
                </a:cubicBezTo>
                <a:lnTo>
                  <a:pt x="199281" y="333375"/>
                </a:lnTo>
                <a:lnTo>
                  <a:pt x="86692" y="333375"/>
                </a:lnTo>
                <a:lnTo>
                  <a:pt x="31626" y="398487"/>
                </a:lnTo>
                <a:cubicBezTo>
                  <a:pt x="25226" y="406003"/>
                  <a:pt x="13990" y="406971"/>
                  <a:pt x="6474" y="400571"/>
                </a:cubicBezTo>
                <a:cubicBezTo>
                  <a:pt x="-1042" y="394171"/>
                  <a:pt x="-2009" y="382935"/>
                  <a:pt x="4390" y="375419"/>
                </a:cubicBezTo>
                <a:lnTo>
                  <a:pt x="44500" y="328017"/>
                </a:lnTo>
                <a:cubicBezTo>
                  <a:pt x="18306" y="317376"/>
                  <a:pt x="0" y="291778"/>
                  <a:pt x="0" y="261938"/>
                </a:cubicBezTo>
                <a:lnTo>
                  <a:pt x="0" y="71438"/>
                </a:lnTo>
                <a:close/>
                <a:moveTo>
                  <a:pt x="47625" y="95250"/>
                </a:moveTo>
                <a:lnTo>
                  <a:pt x="47625" y="166688"/>
                </a:lnTo>
                <a:cubicBezTo>
                  <a:pt x="47625" y="179859"/>
                  <a:pt x="58266" y="190500"/>
                  <a:pt x="71438" y="190500"/>
                </a:cubicBezTo>
                <a:lnTo>
                  <a:pt x="125016" y="190500"/>
                </a:lnTo>
                <a:lnTo>
                  <a:pt x="125016" y="71438"/>
                </a:lnTo>
                <a:lnTo>
                  <a:pt x="71438" y="71438"/>
                </a:lnTo>
                <a:cubicBezTo>
                  <a:pt x="58266" y="71438"/>
                  <a:pt x="47625" y="82079"/>
                  <a:pt x="47625" y="95250"/>
                </a:cubicBezTo>
                <a:close/>
                <a:moveTo>
                  <a:pt x="160734" y="190500"/>
                </a:moveTo>
                <a:lnTo>
                  <a:pt x="214313" y="190500"/>
                </a:lnTo>
                <a:cubicBezTo>
                  <a:pt x="227484" y="190500"/>
                  <a:pt x="238125" y="179859"/>
                  <a:pt x="238125" y="166688"/>
                </a:cubicBezTo>
                <a:lnTo>
                  <a:pt x="238125" y="95250"/>
                </a:lnTo>
                <a:cubicBezTo>
                  <a:pt x="238125" y="82079"/>
                  <a:pt x="227484" y="71438"/>
                  <a:pt x="214313" y="71438"/>
                </a:cubicBezTo>
                <a:lnTo>
                  <a:pt x="160734" y="71438"/>
                </a:lnTo>
                <a:lnTo>
                  <a:pt x="160734" y="190500"/>
                </a:lnTo>
                <a:close/>
                <a:moveTo>
                  <a:pt x="71438" y="285750"/>
                </a:moveTo>
                <a:cubicBezTo>
                  <a:pt x="84580" y="285750"/>
                  <a:pt x="95250" y="275080"/>
                  <a:pt x="95250" y="261938"/>
                </a:cubicBezTo>
                <a:cubicBezTo>
                  <a:pt x="95250" y="248795"/>
                  <a:pt x="84580" y="238125"/>
                  <a:pt x="71438" y="238125"/>
                </a:cubicBezTo>
                <a:cubicBezTo>
                  <a:pt x="58295" y="238125"/>
                  <a:pt x="47625" y="248795"/>
                  <a:pt x="47625" y="261938"/>
                </a:cubicBezTo>
                <a:cubicBezTo>
                  <a:pt x="47625" y="275080"/>
                  <a:pt x="58295" y="285750"/>
                  <a:pt x="71438" y="285750"/>
                </a:cubicBezTo>
                <a:close/>
                <a:moveTo>
                  <a:pt x="238125" y="261938"/>
                </a:moveTo>
                <a:cubicBezTo>
                  <a:pt x="238125" y="248795"/>
                  <a:pt x="227455" y="238125"/>
                  <a:pt x="214313" y="238125"/>
                </a:cubicBezTo>
                <a:cubicBezTo>
                  <a:pt x="201170" y="238125"/>
                  <a:pt x="190500" y="248795"/>
                  <a:pt x="190500" y="261938"/>
                </a:cubicBezTo>
                <a:cubicBezTo>
                  <a:pt x="190500" y="275080"/>
                  <a:pt x="201170" y="285750"/>
                  <a:pt x="214313" y="285750"/>
                </a:cubicBezTo>
                <a:cubicBezTo>
                  <a:pt x="227455" y="285750"/>
                  <a:pt x="238125" y="275080"/>
                  <a:pt x="238125" y="2619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4"/>
          <p:cNvSpPr/>
          <p:nvPr/>
        </p:nvSpPr>
        <p:spPr>
          <a:xfrm>
            <a:off x="659423" y="2627933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5000亿+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9273" y="3237533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轨道交通市场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5623" y="3542333"/>
            <a:ext cx="240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中国年市场规模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68639" y="1834662"/>
            <a:ext cx="2843823" cy="2170723"/>
          </a:xfrm>
          <a:custGeom>
            <a:avLst/>
            <a:gdLst/>
            <a:ahLst/>
            <a:cxnLst/>
            <a:rect l="l" t="t" r="r" b="b"/>
            <a:pathLst>
              <a:path w="2843823" h="2170723">
                <a:moveTo>
                  <a:pt x="152406" y="0"/>
                </a:moveTo>
                <a:lnTo>
                  <a:pt x="2691417" y="0"/>
                </a:lnTo>
                <a:cubicBezTo>
                  <a:pt x="2775588" y="0"/>
                  <a:pt x="2843823" y="68235"/>
                  <a:pt x="2843823" y="152406"/>
                </a:cubicBezTo>
                <a:lnTo>
                  <a:pt x="2843823" y="2018317"/>
                </a:lnTo>
                <a:cubicBezTo>
                  <a:pt x="2843823" y="2102488"/>
                  <a:pt x="2775588" y="2170723"/>
                  <a:pt x="2691417" y="2170723"/>
                </a:cubicBezTo>
                <a:lnTo>
                  <a:pt x="152406" y="2170723"/>
                </a:lnTo>
                <a:cubicBezTo>
                  <a:pt x="68235" y="2170723"/>
                  <a:pt x="0" y="2102488"/>
                  <a:pt x="0" y="2018317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1211" y="20945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30969" y="17859"/>
                </a:moveTo>
                <a:cubicBezTo>
                  <a:pt x="130969" y="7962"/>
                  <a:pt x="123006" y="0"/>
                  <a:pt x="113109" y="0"/>
                </a:cubicBezTo>
                <a:cubicBezTo>
                  <a:pt x="103212" y="0"/>
                  <a:pt x="95250" y="7962"/>
                  <a:pt x="95250" y="17859"/>
                </a:cubicBezTo>
                <a:lnTo>
                  <a:pt x="95250" y="47625"/>
                </a:lnTo>
                <a:cubicBezTo>
                  <a:pt x="68982" y="47625"/>
                  <a:pt x="47625" y="68982"/>
                  <a:pt x="47625" y="95250"/>
                </a:cubicBezTo>
                <a:lnTo>
                  <a:pt x="17859" y="95250"/>
                </a:lnTo>
                <a:cubicBezTo>
                  <a:pt x="7962" y="95250"/>
                  <a:pt x="0" y="103212"/>
                  <a:pt x="0" y="113109"/>
                </a:cubicBezTo>
                <a:cubicBezTo>
                  <a:pt x="0" y="123006"/>
                  <a:pt x="7962" y="130969"/>
                  <a:pt x="17859" y="130969"/>
                </a:cubicBezTo>
                <a:lnTo>
                  <a:pt x="47625" y="130969"/>
                </a:lnTo>
                <a:lnTo>
                  <a:pt x="47625" y="172641"/>
                </a:lnTo>
                <a:lnTo>
                  <a:pt x="17859" y="172641"/>
                </a:lnTo>
                <a:cubicBezTo>
                  <a:pt x="7962" y="172641"/>
                  <a:pt x="0" y="180603"/>
                  <a:pt x="0" y="190500"/>
                </a:cubicBezTo>
                <a:cubicBezTo>
                  <a:pt x="0" y="200397"/>
                  <a:pt x="7962" y="208359"/>
                  <a:pt x="17859" y="208359"/>
                </a:cubicBezTo>
                <a:lnTo>
                  <a:pt x="47625" y="208359"/>
                </a:lnTo>
                <a:lnTo>
                  <a:pt x="47625" y="250031"/>
                </a:lnTo>
                <a:lnTo>
                  <a:pt x="17859" y="250031"/>
                </a:lnTo>
                <a:cubicBezTo>
                  <a:pt x="7962" y="250031"/>
                  <a:pt x="0" y="257994"/>
                  <a:pt x="0" y="267891"/>
                </a:cubicBezTo>
                <a:cubicBezTo>
                  <a:pt x="0" y="277788"/>
                  <a:pt x="7962" y="285750"/>
                  <a:pt x="17859" y="285750"/>
                </a:cubicBezTo>
                <a:lnTo>
                  <a:pt x="47625" y="285750"/>
                </a:lnTo>
                <a:cubicBezTo>
                  <a:pt x="47625" y="312018"/>
                  <a:pt x="68982" y="333375"/>
                  <a:pt x="95250" y="333375"/>
                </a:cubicBezTo>
                <a:lnTo>
                  <a:pt x="95250" y="363141"/>
                </a:lnTo>
                <a:cubicBezTo>
                  <a:pt x="95250" y="373038"/>
                  <a:pt x="103212" y="381000"/>
                  <a:pt x="113109" y="381000"/>
                </a:cubicBezTo>
                <a:cubicBezTo>
                  <a:pt x="123006" y="381000"/>
                  <a:pt x="130969" y="373038"/>
                  <a:pt x="130969" y="363141"/>
                </a:cubicBezTo>
                <a:lnTo>
                  <a:pt x="130969" y="333375"/>
                </a:lnTo>
                <a:lnTo>
                  <a:pt x="172641" y="333375"/>
                </a:lnTo>
                <a:lnTo>
                  <a:pt x="172641" y="363141"/>
                </a:lnTo>
                <a:cubicBezTo>
                  <a:pt x="172641" y="373038"/>
                  <a:pt x="180603" y="381000"/>
                  <a:pt x="190500" y="381000"/>
                </a:cubicBezTo>
                <a:cubicBezTo>
                  <a:pt x="200397" y="381000"/>
                  <a:pt x="208359" y="373038"/>
                  <a:pt x="208359" y="363141"/>
                </a:cubicBezTo>
                <a:lnTo>
                  <a:pt x="208359" y="333375"/>
                </a:lnTo>
                <a:lnTo>
                  <a:pt x="250031" y="333375"/>
                </a:lnTo>
                <a:lnTo>
                  <a:pt x="250031" y="363141"/>
                </a:lnTo>
                <a:cubicBezTo>
                  <a:pt x="250031" y="373038"/>
                  <a:pt x="257994" y="381000"/>
                  <a:pt x="267891" y="381000"/>
                </a:cubicBezTo>
                <a:cubicBezTo>
                  <a:pt x="277788" y="381000"/>
                  <a:pt x="285750" y="373038"/>
                  <a:pt x="285750" y="363141"/>
                </a:cubicBezTo>
                <a:lnTo>
                  <a:pt x="285750" y="333375"/>
                </a:lnTo>
                <a:cubicBezTo>
                  <a:pt x="312018" y="333375"/>
                  <a:pt x="333375" y="312018"/>
                  <a:pt x="333375" y="285750"/>
                </a:cubicBezTo>
                <a:lnTo>
                  <a:pt x="363141" y="285750"/>
                </a:lnTo>
                <a:cubicBezTo>
                  <a:pt x="373038" y="285750"/>
                  <a:pt x="381000" y="277788"/>
                  <a:pt x="381000" y="267891"/>
                </a:cubicBezTo>
                <a:cubicBezTo>
                  <a:pt x="381000" y="257994"/>
                  <a:pt x="373038" y="250031"/>
                  <a:pt x="363141" y="250031"/>
                </a:cubicBezTo>
                <a:lnTo>
                  <a:pt x="333375" y="250031"/>
                </a:lnTo>
                <a:lnTo>
                  <a:pt x="333375" y="208359"/>
                </a:lnTo>
                <a:lnTo>
                  <a:pt x="363141" y="208359"/>
                </a:lnTo>
                <a:cubicBezTo>
                  <a:pt x="373038" y="208359"/>
                  <a:pt x="381000" y="200397"/>
                  <a:pt x="381000" y="190500"/>
                </a:cubicBezTo>
                <a:cubicBezTo>
                  <a:pt x="381000" y="180603"/>
                  <a:pt x="373038" y="172641"/>
                  <a:pt x="363141" y="172641"/>
                </a:cubicBezTo>
                <a:lnTo>
                  <a:pt x="333375" y="172641"/>
                </a:lnTo>
                <a:lnTo>
                  <a:pt x="333375" y="130969"/>
                </a:lnTo>
                <a:lnTo>
                  <a:pt x="363141" y="130969"/>
                </a:lnTo>
                <a:cubicBezTo>
                  <a:pt x="373038" y="130969"/>
                  <a:pt x="381000" y="123006"/>
                  <a:pt x="381000" y="113109"/>
                </a:cubicBezTo>
                <a:cubicBezTo>
                  <a:pt x="381000" y="103212"/>
                  <a:pt x="373038" y="95250"/>
                  <a:pt x="363141" y="95250"/>
                </a:cubicBezTo>
                <a:lnTo>
                  <a:pt x="333375" y="95250"/>
                </a:lnTo>
                <a:cubicBezTo>
                  <a:pt x="333375" y="68982"/>
                  <a:pt x="312018" y="47625"/>
                  <a:pt x="285750" y="47625"/>
                </a:cubicBezTo>
                <a:lnTo>
                  <a:pt x="285750" y="17859"/>
                </a:lnTo>
                <a:cubicBezTo>
                  <a:pt x="285750" y="7962"/>
                  <a:pt x="277788" y="0"/>
                  <a:pt x="267891" y="0"/>
                </a:cubicBezTo>
                <a:cubicBezTo>
                  <a:pt x="257994" y="0"/>
                  <a:pt x="250031" y="7962"/>
                  <a:pt x="250031" y="17859"/>
                </a:cubicBezTo>
                <a:lnTo>
                  <a:pt x="250031" y="47625"/>
                </a:lnTo>
                <a:lnTo>
                  <a:pt x="208359" y="47625"/>
                </a:lnTo>
                <a:lnTo>
                  <a:pt x="208359" y="17859"/>
                </a:lnTo>
                <a:cubicBezTo>
                  <a:pt x="208359" y="7962"/>
                  <a:pt x="200397" y="0"/>
                  <a:pt x="190500" y="0"/>
                </a:cubicBezTo>
                <a:cubicBezTo>
                  <a:pt x="180603" y="0"/>
                  <a:pt x="172641" y="7962"/>
                  <a:pt x="172641" y="17859"/>
                </a:cubicBezTo>
                <a:lnTo>
                  <a:pt x="172641" y="47625"/>
                </a:lnTo>
                <a:lnTo>
                  <a:pt x="130969" y="47625"/>
                </a:lnTo>
                <a:lnTo>
                  <a:pt x="130969" y="17859"/>
                </a:lnTo>
                <a:close/>
                <a:moveTo>
                  <a:pt x="119063" y="95250"/>
                </a:moveTo>
                <a:lnTo>
                  <a:pt x="261938" y="95250"/>
                </a:lnTo>
                <a:cubicBezTo>
                  <a:pt x="275109" y="95250"/>
                  <a:pt x="285750" y="105891"/>
                  <a:pt x="285750" y="119063"/>
                </a:cubicBezTo>
                <a:lnTo>
                  <a:pt x="285750" y="261938"/>
                </a:lnTo>
                <a:cubicBezTo>
                  <a:pt x="285750" y="275109"/>
                  <a:pt x="275109" y="285750"/>
                  <a:pt x="261938" y="285750"/>
                </a:cubicBezTo>
                <a:lnTo>
                  <a:pt x="119063" y="285750"/>
                </a:lnTo>
                <a:cubicBezTo>
                  <a:pt x="105891" y="285750"/>
                  <a:pt x="95250" y="275109"/>
                  <a:pt x="95250" y="261938"/>
                </a:cubicBezTo>
                <a:lnTo>
                  <a:pt x="95250" y="119063"/>
                </a:lnTo>
                <a:cubicBezTo>
                  <a:pt x="95250" y="105891"/>
                  <a:pt x="105891" y="95250"/>
                  <a:pt x="119063" y="95250"/>
                </a:cubicBezTo>
                <a:close/>
                <a:moveTo>
                  <a:pt x="130969" y="130969"/>
                </a:moveTo>
                <a:lnTo>
                  <a:pt x="130969" y="250031"/>
                </a:lnTo>
                <a:lnTo>
                  <a:pt x="250031" y="250031"/>
                </a:lnTo>
                <a:lnTo>
                  <a:pt x="250031" y="130969"/>
                </a:lnTo>
                <a:lnTo>
                  <a:pt x="130969" y="13096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3714201" y="2627933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40%+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84051" y="3237533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RISC-V增长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90401" y="3542333"/>
            <a:ext cx="240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年复合增长率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23417" y="1834662"/>
            <a:ext cx="2843823" cy="2170723"/>
          </a:xfrm>
          <a:custGeom>
            <a:avLst/>
            <a:gdLst/>
            <a:ahLst/>
            <a:cxnLst/>
            <a:rect l="l" t="t" r="r" b="b"/>
            <a:pathLst>
              <a:path w="2843823" h="2170723">
                <a:moveTo>
                  <a:pt x="152406" y="0"/>
                </a:moveTo>
                <a:lnTo>
                  <a:pt x="2691417" y="0"/>
                </a:lnTo>
                <a:cubicBezTo>
                  <a:pt x="2775588" y="0"/>
                  <a:pt x="2843823" y="68235"/>
                  <a:pt x="2843823" y="152406"/>
                </a:cubicBezTo>
                <a:lnTo>
                  <a:pt x="2843823" y="2018317"/>
                </a:lnTo>
                <a:cubicBezTo>
                  <a:pt x="2843823" y="2102488"/>
                  <a:pt x="2775588" y="2170723"/>
                  <a:pt x="2691417" y="2170723"/>
                </a:cubicBezTo>
                <a:lnTo>
                  <a:pt x="152406" y="2170723"/>
                </a:lnTo>
                <a:cubicBezTo>
                  <a:pt x="68235" y="2170723"/>
                  <a:pt x="0" y="2102488"/>
                  <a:pt x="0" y="2018317"/>
                </a:cubicBezTo>
                <a:lnTo>
                  <a:pt x="0" y="152406"/>
                </a:lnTo>
                <a:cubicBezTo>
                  <a:pt x="0" y="68235"/>
                  <a:pt x="68235" y="0"/>
                  <a:pt x="15240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79800" y="209453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42875" y="95250"/>
                </a:moveTo>
                <a:cubicBezTo>
                  <a:pt x="142875" y="55823"/>
                  <a:pt x="110865" y="23812"/>
                  <a:pt x="71438" y="23812"/>
                </a:cubicBezTo>
                <a:cubicBezTo>
                  <a:pt x="32010" y="23812"/>
                  <a:pt x="0" y="55823"/>
                  <a:pt x="0" y="95250"/>
                </a:cubicBezTo>
                <a:cubicBezTo>
                  <a:pt x="0" y="134677"/>
                  <a:pt x="32010" y="166688"/>
                  <a:pt x="71437" y="166688"/>
                </a:cubicBezTo>
                <a:cubicBezTo>
                  <a:pt x="110865" y="166688"/>
                  <a:pt x="142875" y="134677"/>
                  <a:pt x="142875" y="95250"/>
                </a:cubicBezTo>
                <a:close/>
                <a:moveTo>
                  <a:pt x="333375" y="285750"/>
                </a:moveTo>
                <a:cubicBezTo>
                  <a:pt x="333375" y="246323"/>
                  <a:pt x="301365" y="214313"/>
                  <a:pt x="261938" y="214313"/>
                </a:cubicBezTo>
                <a:cubicBezTo>
                  <a:pt x="222510" y="214313"/>
                  <a:pt x="190500" y="246323"/>
                  <a:pt x="190500" y="285750"/>
                </a:cubicBezTo>
                <a:cubicBezTo>
                  <a:pt x="190500" y="325177"/>
                  <a:pt x="222510" y="357188"/>
                  <a:pt x="261938" y="357188"/>
                </a:cubicBezTo>
                <a:cubicBezTo>
                  <a:pt x="301365" y="357188"/>
                  <a:pt x="333375" y="325177"/>
                  <a:pt x="333375" y="285750"/>
                </a:cubicBezTo>
                <a:close/>
                <a:moveTo>
                  <a:pt x="326380" y="64443"/>
                </a:moveTo>
                <a:cubicBezTo>
                  <a:pt x="335682" y="55141"/>
                  <a:pt x="335682" y="40035"/>
                  <a:pt x="326380" y="30733"/>
                </a:cubicBezTo>
                <a:cubicBezTo>
                  <a:pt x="317078" y="21431"/>
                  <a:pt x="301972" y="21431"/>
                  <a:pt x="292671" y="30733"/>
                </a:cubicBezTo>
                <a:lnTo>
                  <a:pt x="6921" y="316483"/>
                </a:lnTo>
                <a:cubicBezTo>
                  <a:pt x="-2381" y="325785"/>
                  <a:pt x="-2381" y="340891"/>
                  <a:pt x="6921" y="350193"/>
                </a:cubicBezTo>
                <a:cubicBezTo>
                  <a:pt x="16222" y="359494"/>
                  <a:pt x="31328" y="359494"/>
                  <a:pt x="40630" y="350193"/>
                </a:cubicBezTo>
                <a:lnTo>
                  <a:pt x="326380" y="6444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6768978" y="2627933"/>
            <a:ext cx="2552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8828" y="3237533"/>
            <a:ext cx="2413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目标份额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45178" y="3542333"/>
            <a:ext cx="24003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3年内市场份额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4265253"/>
            <a:ext cx="8966200" cy="5867400"/>
          </a:xfrm>
          <a:custGeom>
            <a:avLst/>
            <a:gdLst/>
            <a:ahLst/>
            <a:cxnLst/>
            <a:rect l="l" t="t" r="r" b="b"/>
            <a:pathLst>
              <a:path w="8966200" h="5867400">
                <a:moveTo>
                  <a:pt x="152376" y="0"/>
                </a:moveTo>
                <a:lnTo>
                  <a:pt x="8813824" y="0"/>
                </a:lnTo>
                <a:cubicBezTo>
                  <a:pt x="8897979" y="0"/>
                  <a:pt x="8966200" y="68221"/>
                  <a:pt x="8966200" y="152376"/>
                </a:cubicBezTo>
                <a:lnTo>
                  <a:pt x="8966200" y="5715024"/>
                </a:lnTo>
                <a:cubicBezTo>
                  <a:pt x="8966200" y="5799179"/>
                  <a:pt x="8897979" y="5867400"/>
                  <a:pt x="8813824" y="5867400"/>
                </a:cubicBezTo>
                <a:lnTo>
                  <a:pt x="152376" y="5867400"/>
                </a:lnTo>
                <a:cubicBezTo>
                  <a:pt x="68221" y="5867400"/>
                  <a:pt x="0" y="5799179"/>
                  <a:pt x="0" y="5715024"/>
                </a:cubicBezTo>
                <a:lnTo>
                  <a:pt x="0" y="152376"/>
                </a:lnTo>
                <a:cubicBezTo>
                  <a:pt x="0" y="68278"/>
                  <a:pt x="68278" y="0"/>
                  <a:pt x="15237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12800" y="4570053"/>
            <a:ext cx="848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市场分析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2800" y="512885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021678" y="5230453"/>
            <a:ext cx="190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24000" y="5128853"/>
            <a:ext cx="774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轨道交通信号系统市场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" y="5484453"/>
            <a:ext cx="7734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中国轨道交通市场规模超过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5000亿元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，信号系统占比约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15%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，即750亿元。每套信号系统都需要形式化验证工具支持。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2800" y="626550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6841" y="6367103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" y="6265503"/>
            <a:ext cx="774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国产RISC-V芯片市场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24000" y="6621103"/>
            <a:ext cx="7734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国产RISC-V芯片市场年增长率超过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40%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，预计2025年市场规模将达到100亿元。目前缺乏配套的安全验证工具链。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2800" y="7402153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04887" y="7503753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24000" y="7402153"/>
            <a:ext cx="7747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国产替代需求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24000" y="7757753"/>
            <a:ext cx="7734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国家"十四五"规划要求轨道交通信号系统国产化率达到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以上，急需配套的国产形式化验证工具。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779794" y="1834662"/>
            <a:ext cx="5968023" cy="5904523"/>
          </a:xfrm>
          <a:custGeom>
            <a:avLst/>
            <a:gdLst/>
            <a:ahLst/>
            <a:cxnLst/>
            <a:rect l="l" t="t" r="r" b="b"/>
            <a:pathLst>
              <a:path w="5968023" h="5904523">
                <a:moveTo>
                  <a:pt x="152396" y="0"/>
                </a:moveTo>
                <a:lnTo>
                  <a:pt x="5815627" y="0"/>
                </a:lnTo>
                <a:cubicBezTo>
                  <a:pt x="5899793" y="0"/>
                  <a:pt x="5968023" y="68230"/>
                  <a:pt x="5968023" y="152396"/>
                </a:cubicBezTo>
                <a:lnTo>
                  <a:pt x="5968023" y="5752127"/>
                </a:lnTo>
                <a:cubicBezTo>
                  <a:pt x="5968023" y="5836293"/>
                  <a:pt x="5899793" y="5904523"/>
                  <a:pt x="5815627" y="5904523"/>
                </a:cubicBezTo>
                <a:lnTo>
                  <a:pt x="152396" y="5904523"/>
                </a:lnTo>
                <a:cubicBezTo>
                  <a:pt x="68230" y="5904523"/>
                  <a:pt x="0" y="5836293"/>
                  <a:pt x="0" y="5752127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90455" y="2145333"/>
            <a:ext cx="5473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商业模式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090455" y="2704133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344455" y="2958133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25400" y="0"/>
                </a:moveTo>
                <a:cubicBezTo>
                  <a:pt x="11390" y="0"/>
                  <a:pt x="0" y="11390"/>
                  <a:pt x="0" y="25400"/>
                </a:cubicBezTo>
                <a:lnTo>
                  <a:pt x="0" y="177800"/>
                </a:lnTo>
                <a:cubicBezTo>
                  <a:pt x="0" y="191810"/>
                  <a:pt x="11390" y="203200"/>
                  <a:pt x="25400" y="203200"/>
                </a:cubicBezTo>
                <a:lnTo>
                  <a:pt x="127000" y="203200"/>
                </a:lnTo>
                <a:cubicBezTo>
                  <a:pt x="141010" y="203200"/>
                  <a:pt x="152400" y="191810"/>
                  <a:pt x="152400" y="177800"/>
                </a:cubicBezTo>
                <a:lnTo>
                  <a:pt x="152400" y="25400"/>
                </a:lnTo>
                <a:cubicBezTo>
                  <a:pt x="152400" y="11390"/>
                  <a:pt x="141010" y="0"/>
                  <a:pt x="127000" y="0"/>
                </a:cubicBezTo>
                <a:lnTo>
                  <a:pt x="25400" y="0"/>
                </a:lnTo>
                <a:close/>
                <a:moveTo>
                  <a:pt x="69850" y="139700"/>
                </a:moveTo>
                <a:lnTo>
                  <a:pt x="82550" y="139700"/>
                </a:lnTo>
                <a:cubicBezTo>
                  <a:pt x="89575" y="139700"/>
                  <a:pt x="95250" y="145375"/>
                  <a:pt x="95250" y="152400"/>
                </a:cubicBezTo>
                <a:lnTo>
                  <a:pt x="95250" y="184150"/>
                </a:lnTo>
                <a:lnTo>
                  <a:pt x="57150" y="184150"/>
                </a:lnTo>
                <a:lnTo>
                  <a:pt x="57150" y="152400"/>
                </a:lnTo>
                <a:cubicBezTo>
                  <a:pt x="57150" y="145375"/>
                  <a:pt x="62825" y="139700"/>
                  <a:pt x="69850" y="139700"/>
                </a:cubicBezTo>
                <a:close/>
                <a:moveTo>
                  <a:pt x="38100" y="44450"/>
                </a:moveTo>
                <a:cubicBezTo>
                  <a:pt x="38100" y="40958"/>
                  <a:pt x="40958" y="38100"/>
                  <a:pt x="44450" y="38100"/>
                </a:cubicBezTo>
                <a:lnTo>
                  <a:pt x="57150" y="38100"/>
                </a:lnTo>
                <a:cubicBezTo>
                  <a:pt x="60643" y="38100"/>
                  <a:pt x="63500" y="40958"/>
                  <a:pt x="63500" y="44450"/>
                </a:cubicBezTo>
                <a:lnTo>
                  <a:pt x="63500" y="57150"/>
                </a:lnTo>
                <a:cubicBezTo>
                  <a:pt x="63500" y="60643"/>
                  <a:pt x="60643" y="63500"/>
                  <a:pt x="57150" y="63500"/>
                </a:cubicBezTo>
                <a:lnTo>
                  <a:pt x="44450" y="63500"/>
                </a:lnTo>
                <a:cubicBezTo>
                  <a:pt x="40958" y="63500"/>
                  <a:pt x="38100" y="60643"/>
                  <a:pt x="38100" y="57150"/>
                </a:cubicBezTo>
                <a:lnTo>
                  <a:pt x="38100" y="44450"/>
                </a:lnTo>
                <a:close/>
                <a:moveTo>
                  <a:pt x="95250" y="38100"/>
                </a:moveTo>
                <a:lnTo>
                  <a:pt x="107950" y="38100"/>
                </a:lnTo>
                <a:cubicBezTo>
                  <a:pt x="111443" y="38100"/>
                  <a:pt x="114300" y="40958"/>
                  <a:pt x="114300" y="44450"/>
                </a:cubicBezTo>
                <a:lnTo>
                  <a:pt x="114300" y="57150"/>
                </a:lnTo>
                <a:cubicBezTo>
                  <a:pt x="114300" y="60643"/>
                  <a:pt x="111443" y="63500"/>
                  <a:pt x="107950" y="63500"/>
                </a:cubicBezTo>
                <a:lnTo>
                  <a:pt x="95250" y="63500"/>
                </a:lnTo>
                <a:cubicBezTo>
                  <a:pt x="91757" y="63500"/>
                  <a:pt x="88900" y="60643"/>
                  <a:pt x="88900" y="57150"/>
                </a:cubicBezTo>
                <a:lnTo>
                  <a:pt x="88900" y="44450"/>
                </a:lnTo>
                <a:cubicBezTo>
                  <a:pt x="88900" y="40958"/>
                  <a:pt x="91757" y="38100"/>
                  <a:pt x="95250" y="38100"/>
                </a:cubicBezTo>
                <a:close/>
                <a:moveTo>
                  <a:pt x="38100" y="95250"/>
                </a:moveTo>
                <a:cubicBezTo>
                  <a:pt x="38100" y="91757"/>
                  <a:pt x="40958" y="88900"/>
                  <a:pt x="44450" y="88900"/>
                </a:cubicBezTo>
                <a:lnTo>
                  <a:pt x="57150" y="88900"/>
                </a:lnTo>
                <a:cubicBezTo>
                  <a:pt x="60643" y="88900"/>
                  <a:pt x="63500" y="91757"/>
                  <a:pt x="63500" y="95250"/>
                </a:cubicBezTo>
                <a:lnTo>
                  <a:pt x="63500" y="107950"/>
                </a:lnTo>
                <a:cubicBezTo>
                  <a:pt x="63500" y="111443"/>
                  <a:pt x="60643" y="114300"/>
                  <a:pt x="57150" y="114300"/>
                </a:cubicBezTo>
                <a:lnTo>
                  <a:pt x="44450" y="114300"/>
                </a:lnTo>
                <a:cubicBezTo>
                  <a:pt x="40958" y="114300"/>
                  <a:pt x="38100" y="111443"/>
                  <a:pt x="38100" y="107950"/>
                </a:cubicBezTo>
                <a:lnTo>
                  <a:pt x="38100" y="95250"/>
                </a:lnTo>
                <a:close/>
                <a:moveTo>
                  <a:pt x="95250" y="88900"/>
                </a:moveTo>
                <a:lnTo>
                  <a:pt x="107950" y="88900"/>
                </a:lnTo>
                <a:cubicBezTo>
                  <a:pt x="111443" y="88900"/>
                  <a:pt x="114300" y="91757"/>
                  <a:pt x="114300" y="95250"/>
                </a:cubicBezTo>
                <a:lnTo>
                  <a:pt x="114300" y="107950"/>
                </a:lnTo>
                <a:cubicBezTo>
                  <a:pt x="114300" y="111443"/>
                  <a:pt x="111443" y="114300"/>
                  <a:pt x="107950" y="114300"/>
                </a:cubicBezTo>
                <a:lnTo>
                  <a:pt x="95250" y="114300"/>
                </a:lnTo>
                <a:cubicBezTo>
                  <a:pt x="91757" y="114300"/>
                  <a:pt x="88900" y="111443"/>
                  <a:pt x="88900" y="107950"/>
                </a:cubicBezTo>
                <a:lnTo>
                  <a:pt x="88900" y="95250"/>
                </a:lnTo>
                <a:cubicBezTo>
                  <a:pt x="88900" y="91757"/>
                  <a:pt x="91757" y="88900"/>
                  <a:pt x="95250" y="889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Text 35"/>
          <p:cNvSpPr/>
          <p:nvPr/>
        </p:nvSpPr>
        <p:spPr>
          <a:xfrm>
            <a:off x="10700055" y="2907333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企业版授权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293655" y="33137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面向轨道交通企业、芯片厂商提供商业授权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090455" y="3923333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293655" y="4177333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10700055" y="4126533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技术服务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293655" y="45329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提供验证咨询、定制开发、培训服务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90455" y="5142533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306355" y="539653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9050" y="77708"/>
                </a:moveTo>
                <a:lnTo>
                  <a:pt x="102076" y="111879"/>
                </a:lnTo>
                <a:cubicBezTo>
                  <a:pt x="105966" y="113467"/>
                  <a:pt x="110093" y="114300"/>
                  <a:pt x="114300" y="114300"/>
                </a:cubicBezTo>
                <a:cubicBezTo>
                  <a:pt x="118507" y="114300"/>
                  <a:pt x="122634" y="113467"/>
                  <a:pt x="126524" y="111879"/>
                </a:cubicBezTo>
                <a:lnTo>
                  <a:pt x="222726" y="72271"/>
                </a:lnTo>
                <a:cubicBezTo>
                  <a:pt x="226298" y="70802"/>
                  <a:pt x="228600" y="67350"/>
                  <a:pt x="228600" y="63500"/>
                </a:cubicBezTo>
                <a:cubicBezTo>
                  <a:pt x="228600" y="59650"/>
                  <a:pt x="226298" y="56197"/>
                  <a:pt x="222726" y="54729"/>
                </a:cubicBezTo>
                <a:lnTo>
                  <a:pt x="126524" y="15121"/>
                </a:lnTo>
                <a:cubicBezTo>
                  <a:pt x="122634" y="13533"/>
                  <a:pt x="118507" y="12700"/>
                  <a:pt x="114300" y="12700"/>
                </a:cubicBezTo>
                <a:cubicBezTo>
                  <a:pt x="110093" y="12700"/>
                  <a:pt x="105966" y="13533"/>
                  <a:pt x="102076" y="15121"/>
                </a:cubicBezTo>
                <a:lnTo>
                  <a:pt x="5874" y="54729"/>
                </a:lnTo>
                <a:cubicBezTo>
                  <a:pt x="2302" y="56198"/>
                  <a:pt x="0" y="59650"/>
                  <a:pt x="0" y="63500"/>
                </a:cubicBezTo>
                <a:lnTo>
                  <a:pt x="0" y="180975"/>
                </a:lnTo>
                <a:cubicBezTo>
                  <a:pt x="0" y="186253"/>
                  <a:pt x="4247" y="190500"/>
                  <a:pt x="9525" y="190500"/>
                </a:cubicBezTo>
                <a:cubicBezTo>
                  <a:pt x="14803" y="190500"/>
                  <a:pt x="19050" y="186253"/>
                  <a:pt x="19050" y="180975"/>
                </a:cubicBezTo>
                <a:lnTo>
                  <a:pt x="19050" y="77708"/>
                </a:lnTo>
                <a:close/>
                <a:moveTo>
                  <a:pt x="38100" y="106164"/>
                </a:moveTo>
                <a:lnTo>
                  <a:pt x="38100" y="152400"/>
                </a:lnTo>
                <a:cubicBezTo>
                  <a:pt x="38100" y="173434"/>
                  <a:pt x="72231" y="190500"/>
                  <a:pt x="114300" y="190500"/>
                </a:cubicBezTo>
                <a:cubicBezTo>
                  <a:pt x="156369" y="190500"/>
                  <a:pt x="190500" y="173434"/>
                  <a:pt x="190500" y="152400"/>
                </a:cubicBezTo>
                <a:lnTo>
                  <a:pt x="190500" y="106124"/>
                </a:lnTo>
                <a:lnTo>
                  <a:pt x="133787" y="129500"/>
                </a:lnTo>
                <a:cubicBezTo>
                  <a:pt x="127595" y="132040"/>
                  <a:pt x="121007" y="133350"/>
                  <a:pt x="114300" y="133350"/>
                </a:cubicBezTo>
                <a:cubicBezTo>
                  <a:pt x="107593" y="133350"/>
                  <a:pt x="101005" y="132040"/>
                  <a:pt x="94813" y="129500"/>
                </a:cubicBezTo>
                <a:lnTo>
                  <a:pt x="38100" y="10612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10700055" y="5345733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教育版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293655" y="57521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面向高校提供免费教育版，培养人才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090455" y="6361733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0306355" y="6615733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133350"/>
                </a:moveTo>
                <a:cubicBezTo>
                  <a:pt x="0" y="164902"/>
                  <a:pt x="25598" y="190500"/>
                  <a:pt x="57150" y="190500"/>
                </a:cubicBezTo>
                <a:lnTo>
                  <a:pt x="177800" y="190500"/>
                </a:lnTo>
                <a:cubicBezTo>
                  <a:pt x="205859" y="190500"/>
                  <a:pt x="228600" y="167759"/>
                  <a:pt x="228600" y="139700"/>
                </a:cubicBezTo>
                <a:cubicBezTo>
                  <a:pt x="228600" y="119221"/>
                  <a:pt x="216495" y="101560"/>
                  <a:pt x="199033" y="93543"/>
                </a:cubicBezTo>
                <a:cubicBezTo>
                  <a:pt x="201692" y="88344"/>
                  <a:pt x="203200" y="82431"/>
                  <a:pt x="203200" y="76200"/>
                </a:cubicBezTo>
                <a:cubicBezTo>
                  <a:pt x="203200" y="55166"/>
                  <a:pt x="186134" y="38100"/>
                  <a:pt x="165100" y="38100"/>
                </a:cubicBezTo>
                <a:cubicBezTo>
                  <a:pt x="158075" y="38100"/>
                  <a:pt x="151527" y="40005"/>
                  <a:pt x="145891" y="43299"/>
                </a:cubicBezTo>
                <a:cubicBezTo>
                  <a:pt x="136327" y="25122"/>
                  <a:pt x="117237" y="12700"/>
                  <a:pt x="95250" y="12700"/>
                </a:cubicBezTo>
                <a:cubicBezTo>
                  <a:pt x="63698" y="12700"/>
                  <a:pt x="38100" y="38298"/>
                  <a:pt x="38100" y="69850"/>
                </a:cubicBezTo>
                <a:cubicBezTo>
                  <a:pt x="38100" y="73025"/>
                  <a:pt x="38378" y="76160"/>
                  <a:pt x="38854" y="79177"/>
                </a:cubicBezTo>
                <a:cubicBezTo>
                  <a:pt x="16272" y="86797"/>
                  <a:pt x="0" y="108188"/>
                  <a:pt x="0" y="1333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9" name="Text 47"/>
          <p:cNvSpPr/>
          <p:nvPr/>
        </p:nvSpPr>
        <p:spPr>
          <a:xfrm>
            <a:off x="10700055" y="6564933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云服务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293655" y="6971333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提供在线验证服务，按需付费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773933" y="7999053"/>
            <a:ext cx="5969000" cy="2133600"/>
          </a:xfrm>
          <a:custGeom>
            <a:avLst/>
            <a:gdLst/>
            <a:ahLst/>
            <a:cxnLst/>
            <a:rect l="l" t="t" r="r" b="b"/>
            <a:pathLst>
              <a:path w="5969000" h="2133600">
                <a:moveTo>
                  <a:pt x="152403" y="0"/>
                </a:moveTo>
                <a:lnTo>
                  <a:pt x="5816597" y="0"/>
                </a:lnTo>
                <a:cubicBezTo>
                  <a:pt x="5900767" y="0"/>
                  <a:pt x="5969000" y="68233"/>
                  <a:pt x="5969000" y="152403"/>
                </a:cubicBezTo>
                <a:lnTo>
                  <a:pt x="5969000" y="1981197"/>
                </a:lnTo>
                <a:cubicBezTo>
                  <a:pt x="5969000" y="2065367"/>
                  <a:pt x="5900767" y="2133600"/>
                  <a:pt x="5816597" y="2133600"/>
                </a:cubicBezTo>
                <a:lnTo>
                  <a:pt x="152403" y="2133600"/>
                </a:lnTo>
                <a:cubicBezTo>
                  <a:pt x="68233" y="2133600"/>
                  <a:pt x="0" y="2065367"/>
                  <a:pt x="0" y="19811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10027933" y="8253053"/>
            <a:ext cx="557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收入预测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027933" y="8761053"/>
            <a:ext cx="58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第1年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4902230" y="8761053"/>
            <a:ext cx="69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500万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0027933" y="9167453"/>
            <a:ext cx="62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第2年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812048" y="9167453"/>
            <a:ext cx="78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1500万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027933" y="9573853"/>
            <a:ext cx="62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第3年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4770162" y="9573853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3000万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SOCIAL VALUE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社会价值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7467600" cy="3505200"/>
          </a:xfrm>
          <a:custGeom>
            <a:avLst/>
            <a:gdLst/>
            <a:ahLst/>
            <a:cxnLst/>
            <a:rect l="l" t="t" r="r" b="b"/>
            <a:pathLst>
              <a:path w="7467600" h="3505200">
                <a:moveTo>
                  <a:pt x="50800" y="0"/>
                </a:moveTo>
                <a:lnTo>
                  <a:pt x="7315194" y="0"/>
                </a:lnTo>
                <a:cubicBezTo>
                  <a:pt x="7399365" y="0"/>
                  <a:pt x="7467600" y="68235"/>
                  <a:pt x="7467600" y="152406"/>
                </a:cubicBezTo>
                <a:lnTo>
                  <a:pt x="7467600" y="3352794"/>
                </a:lnTo>
                <a:cubicBezTo>
                  <a:pt x="7467600" y="3436965"/>
                  <a:pt x="7399365" y="3505200"/>
                  <a:pt x="73151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66800" y="2336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3470" y="51852"/>
                </a:moveTo>
                <a:lnTo>
                  <a:pt x="152400" y="64175"/>
                </a:lnTo>
                <a:lnTo>
                  <a:pt x="161330" y="51852"/>
                </a:lnTo>
                <a:cubicBezTo>
                  <a:pt x="176212" y="31254"/>
                  <a:pt x="200144" y="19050"/>
                  <a:pt x="225564" y="19050"/>
                </a:cubicBezTo>
                <a:cubicBezTo>
                  <a:pt x="269319" y="19050"/>
                  <a:pt x="304800" y="54531"/>
                  <a:pt x="304800" y="98286"/>
                </a:cubicBezTo>
                <a:lnTo>
                  <a:pt x="304800" y="99834"/>
                </a:lnTo>
                <a:cubicBezTo>
                  <a:pt x="304800" y="166628"/>
                  <a:pt x="221516" y="244197"/>
                  <a:pt x="178058" y="277356"/>
                </a:cubicBezTo>
                <a:cubicBezTo>
                  <a:pt x="170676" y="282952"/>
                  <a:pt x="161627" y="285750"/>
                  <a:pt x="152400" y="285750"/>
                </a:cubicBezTo>
                <a:cubicBezTo>
                  <a:pt x="143173" y="285750"/>
                  <a:pt x="134064" y="283012"/>
                  <a:pt x="126742" y="277356"/>
                </a:cubicBezTo>
                <a:cubicBezTo>
                  <a:pt x="83284" y="244197"/>
                  <a:pt x="0" y="166628"/>
                  <a:pt x="0" y="99834"/>
                </a:cubicBezTo>
                <a:lnTo>
                  <a:pt x="0" y="98286"/>
                </a:lnTo>
                <a:cubicBezTo>
                  <a:pt x="0" y="54531"/>
                  <a:pt x="35481" y="19050"/>
                  <a:pt x="79236" y="19050"/>
                </a:cubicBezTo>
                <a:cubicBezTo>
                  <a:pt x="104656" y="19050"/>
                  <a:pt x="128588" y="31254"/>
                  <a:pt x="143470" y="5185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22860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守护生命安全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3600" y="30480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以数学证明的方式确保轨道交通信号系统100%正确，守护千万乘客的生命安全。每年中国轨道交通载客量超过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200亿人次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，安全责任重于泰山。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3911600"/>
            <a:ext cx="6832600" cy="1117600"/>
          </a:xfrm>
          <a:custGeom>
            <a:avLst/>
            <a:gdLst/>
            <a:ahLst/>
            <a:cxnLst/>
            <a:rect l="l" t="t" r="r" b="b"/>
            <a:pathLst>
              <a:path w="6832600" h="1117600">
                <a:moveTo>
                  <a:pt x="101601" y="0"/>
                </a:moveTo>
                <a:lnTo>
                  <a:pt x="6730999" y="0"/>
                </a:lnTo>
                <a:cubicBezTo>
                  <a:pt x="6787112" y="0"/>
                  <a:pt x="6832600" y="45488"/>
                  <a:pt x="6832600" y="101601"/>
                </a:cubicBezTo>
                <a:lnTo>
                  <a:pt x="6832600" y="1015999"/>
                </a:lnTo>
                <a:cubicBezTo>
                  <a:pt x="6832600" y="1072112"/>
                  <a:pt x="6787112" y="1117600"/>
                  <a:pt x="6730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71550" y="41148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200亿+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2350" y="45720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年载客量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60850" y="41148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311650" y="45720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安全保障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80400" y="1828800"/>
            <a:ext cx="7467600" cy="3505200"/>
          </a:xfrm>
          <a:custGeom>
            <a:avLst/>
            <a:gdLst/>
            <a:ahLst/>
            <a:cxnLst/>
            <a:rect l="l" t="t" r="r" b="b"/>
            <a:pathLst>
              <a:path w="7467600" h="3505200">
                <a:moveTo>
                  <a:pt x="50800" y="0"/>
                </a:moveTo>
                <a:lnTo>
                  <a:pt x="7315194" y="0"/>
                </a:lnTo>
                <a:cubicBezTo>
                  <a:pt x="7399365" y="0"/>
                  <a:pt x="7467600" y="68235"/>
                  <a:pt x="7467600" y="152406"/>
                </a:cubicBezTo>
                <a:lnTo>
                  <a:pt x="7467600" y="3352794"/>
                </a:lnTo>
                <a:cubicBezTo>
                  <a:pt x="7467600" y="3436965"/>
                  <a:pt x="7399365" y="3505200"/>
                  <a:pt x="73151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8280400" y="18288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Shape 15"/>
          <p:cNvSpPr/>
          <p:nvPr/>
        </p:nvSpPr>
        <p:spPr>
          <a:xfrm>
            <a:off x="8610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832850" y="2336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0" y="22860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打破技术垄断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10600" y="30480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打破国外形式化验证工具的技术垄断，实现自主可控，保障国家基础设施安全。避免关键技术受制于人的风险。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10600" y="3911600"/>
            <a:ext cx="6832600" cy="1117600"/>
          </a:xfrm>
          <a:custGeom>
            <a:avLst/>
            <a:gdLst/>
            <a:ahLst/>
            <a:cxnLst/>
            <a:rect l="l" t="t" r="r" b="b"/>
            <a:pathLst>
              <a:path w="6832600" h="1117600">
                <a:moveTo>
                  <a:pt x="101601" y="0"/>
                </a:moveTo>
                <a:lnTo>
                  <a:pt x="6730999" y="0"/>
                </a:lnTo>
                <a:cubicBezTo>
                  <a:pt x="6787112" y="0"/>
                  <a:pt x="6832600" y="45488"/>
                  <a:pt x="6832600" y="101601"/>
                </a:cubicBezTo>
                <a:lnTo>
                  <a:pt x="6832600" y="1015999"/>
                </a:lnTo>
                <a:cubicBezTo>
                  <a:pt x="6832600" y="1072112"/>
                  <a:pt x="6787112" y="1117600"/>
                  <a:pt x="6730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18550" y="41148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80%+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9350" y="45720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成本降低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07851" y="41148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058651" y="45720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自主可控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5588000"/>
            <a:ext cx="7467600" cy="3505200"/>
          </a:xfrm>
          <a:custGeom>
            <a:avLst/>
            <a:gdLst/>
            <a:ahLst/>
            <a:cxnLst/>
            <a:rect l="l" t="t" r="r" b="b"/>
            <a:pathLst>
              <a:path w="7467600" h="3505200">
                <a:moveTo>
                  <a:pt x="50800" y="0"/>
                </a:moveTo>
                <a:lnTo>
                  <a:pt x="7315194" y="0"/>
                </a:lnTo>
                <a:cubicBezTo>
                  <a:pt x="7399365" y="0"/>
                  <a:pt x="7467600" y="68235"/>
                  <a:pt x="7467600" y="152406"/>
                </a:cubicBezTo>
                <a:lnTo>
                  <a:pt x="7467600" y="3352794"/>
                </a:lnTo>
                <a:cubicBezTo>
                  <a:pt x="7467600" y="3436965"/>
                  <a:pt x="7399365" y="3505200"/>
                  <a:pt x="73151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33400" y="55880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" y="589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66800" y="6096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8"/>
          <p:cNvSpPr/>
          <p:nvPr/>
        </p:nvSpPr>
        <p:spPr>
          <a:xfrm>
            <a:off x="1778000" y="60452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推动产业升级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3600" y="68072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降低信号系统开发成本，推动轨道交通行业技术升级。帮助企业节省验证成本，提高开发效率，加速产品上市。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600" y="7670800"/>
            <a:ext cx="6832600" cy="1117600"/>
          </a:xfrm>
          <a:custGeom>
            <a:avLst/>
            <a:gdLst/>
            <a:ahLst/>
            <a:cxnLst/>
            <a:rect l="l" t="t" r="r" b="b"/>
            <a:pathLst>
              <a:path w="6832600" h="1117600">
                <a:moveTo>
                  <a:pt x="101601" y="0"/>
                </a:moveTo>
                <a:lnTo>
                  <a:pt x="6730999" y="0"/>
                </a:lnTo>
                <a:cubicBezTo>
                  <a:pt x="6787112" y="0"/>
                  <a:pt x="6832600" y="45488"/>
                  <a:pt x="6832600" y="101601"/>
                </a:cubicBezTo>
                <a:lnTo>
                  <a:pt x="6832600" y="1015999"/>
                </a:lnTo>
                <a:cubicBezTo>
                  <a:pt x="6832600" y="1072112"/>
                  <a:pt x="6787112" y="1117600"/>
                  <a:pt x="6730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71550" y="78740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60%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22350" y="83312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60850" y="78740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50%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311650" y="83312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成本节省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80400" y="5588000"/>
            <a:ext cx="7467600" cy="3505200"/>
          </a:xfrm>
          <a:custGeom>
            <a:avLst/>
            <a:gdLst/>
            <a:ahLst/>
            <a:cxnLst/>
            <a:rect l="l" t="t" r="r" b="b"/>
            <a:pathLst>
              <a:path w="7467600" h="3505200">
                <a:moveTo>
                  <a:pt x="50800" y="0"/>
                </a:moveTo>
                <a:lnTo>
                  <a:pt x="7315194" y="0"/>
                </a:lnTo>
                <a:cubicBezTo>
                  <a:pt x="7399365" y="0"/>
                  <a:pt x="7467600" y="68235"/>
                  <a:pt x="7467600" y="152406"/>
                </a:cubicBezTo>
                <a:lnTo>
                  <a:pt x="7467600" y="3352794"/>
                </a:lnTo>
                <a:cubicBezTo>
                  <a:pt x="7467600" y="3436965"/>
                  <a:pt x="7399365" y="3505200"/>
                  <a:pt x="7315194" y="3505200"/>
                </a:cubicBez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38" name="Shape 36"/>
          <p:cNvSpPr/>
          <p:nvPr/>
        </p:nvSpPr>
        <p:spPr>
          <a:xfrm>
            <a:off x="8280400" y="5588000"/>
            <a:ext cx="50800" cy="3505200"/>
          </a:xfrm>
          <a:custGeom>
            <a:avLst/>
            <a:gdLst/>
            <a:ahLst/>
            <a:cxnLst/>
            <a:rect l="l" t="t" r="r" b="b"/>
            <a:pathLst>
              <a:path w="50800" h="3505200">
                <a:moveTo>
                  <a:pt x="50800" y="0"/>
                </a:moveTo>
                <a:lnTo>
                  <a:pt x="50800" y="0"/>
                </a:lnTo>
                <a:lnTo>
                  <a:pt x="50800" y="3505200"/>
                </a:lnTo>
                <a:lnTo>
                  <a:pt x="50800" y="3505200"/>
                </a:lnTo>
                <a:cubicBezTo>
                  <a:pt x="22763" y="3505200"/>
                  <a:pt x="0" y="3482437"/>
                  <a:pt x="0" y="3454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Shape 37"/>
          <p:cNvSpPr/>
          <p:nvPr/>
        </p:nvSpPr>
        <p:spPr>
          <a:xfrm>
            <a:off x="8610600" y="58928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775700" y="60960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190500" y="9525"/>
                </a:moveTo>
                <a:cubicBezTo>
                  <a:pt x="224670" y="9525"/>
                  <a:pt x="252413" y="37267"/>
                  <a:pt x="252413" y="71438"/>
                </a:cubicBezTo>
                <a:cubicBezTo>
                  <a:pt x="252413" y="105608"/>
                  <a:pt x="224670" y="133350"/>
                  <a:pt x="190500" y="133350"/>
                </a:cubicBezTo>
                <a:cubicBezTo>
                  <a:pt x="156330" y="133350"/>
                  <a:pt x="128588" y="105608"/>
                  <a:pt x="128588" y="71438"/>
                </a:cubicBezTo>
                <a:cubicBezTo>
                  <a:pt x="128588" y="37267"/>
                  <a:pt x="156330" y="9525"/>
                  <a:pt x="190500" y="9525"/>
                </a:cubicBezTo>
                <a:close/>
                <a:moveTo>
                  <a:pt x="57150" y="52388"/>
                </a:moveTo>
                <a:cubicBezTo>
                  <a:pt x="80806" y="52388"/>
                  <a:pt x="100013" y="71594"/>
                  <a:pt x="100013" y="95250"/>
                </a:cubicBezTo>
                <a:cubicBezTo>
                  <a:pt x="100013" y="118906"/>
                  <a:pt x="80806" y="138113"/>
                  <a:pt x="57150" y="138113"/>
                </a:cubicBezTo>
                <a:cubicBezTo>
                  <a:pt x="33494" y="138113"/>
                  <a:pt x="14288" y="118906"/>
                  <a:pt x="14288" y="95250"/>
                </a:cubicBezTo>
                <a:cubicBezTo>
                  <a:pt x="14288" y="71594"/>
                  <a:pt x="33494" y="52388"/>
                  <a:pt x="57150" y="52388"/>
                </a:cubicBezTo>
                <a:close/>
                <a:moveTo>
                  <a:pt x="0" y="247650"/>
                </a:moveTo>
                <a:cubicBezTo>
                  <a:pt x="0" y="205561"/>
                  <a:pt x="34111" y="171450"/>
                  <a:pt x="76200" y="171450"/>
                </a:cubicBezTo>
                <a:cubicBezTo>
                  <a:pt x="83820" y="171450"/>
                  <a:pt x="91202" y="172581"/>
                  <a:pt x="98167" y="174665"/>
                </a:cubicBezTo>
                <a:cubicBezTo>
                  <a:pt x="78581" y="196572"/>
                  <a:pt x="66675" y="225504"/>
                  <a:pt x="66675" y="257175"/>
                </a:cubicBezTo>
                <a:lnTo>
                  <a:pt x="66675" y="266700"/>
                </a:lnTo>
                <a:cubicBezTo>
                  <a:pt x="66675" y="273487"/>
                  <a:pt x="68104" y="279916"/>
                  <a:pt x="70664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47650"/>
                </a:lnTo>
                <a:close/>
                <a:moveTo>
                  <a:pt x="310336" y="285750"/>
                </a:moveTo>
                <a:cubicBezTo>
                  <a:pt x="312896" y="279916"/>
                  <a:pt x="314325" y="273487"/>
                  <a:pt x="314325" y="266700"/>
                </a:cubicBezTo>
                <a:lnTo>
                  <a:pt x="314325" y="257175"/>
                </a:lnTo>
                <a:cubicBezTo>
                  <a:pt x="314325" y="225504"/>
                  <a:pt x="302419" y="196572"/>
                  <a:pt x="282833" y="174665"/>
                </a:cubicBezTo>
                <a:cubicBezTo>
                  <a:pt x="289798" y="172581"/>
                  <a:pt x="297180" y="171450"/>
                  <a:pt x="304800" y="171450"/>
                </a:cubicBezTo>
                <a:cubicBezTo>
                  <a:pt x="346889" y="171450"/>
                  <a:pt x="381000" y="205561"/>
                  <a:pt x="381000" y="247650"/>
                </a:cubicBezTo>
                <a:lnTo>
                  <a:pt x="381000" y="266700"/>
                </a:lnTo>
                <a:cubicBezTo>
                  <a:pt x="381000" y="277237"/>
                  <a:pt x="372487" y="285750"/>
                  <a:pt x="361950" y="285750"/>
                </a:cubicBezTo>
                <a:lnTo>
                  <a:pt x="310336" y="285750"/>
                </a:lnTo>
                <a:close/>
                <a:moveTo>
                  <a:pt x="280987" y="95250"/>
                </a:moveTo>
                <a:cubicBezTo>
                  <a:pt x="280987" y="71594"/>
                  <a:pt x="300194" y="52388"/>
                  <a:pt x="323850" y="52388"/>
                </a:cubicBezTo>
                <a:cubicBezTo>
                  <a:pt x="347506" y="52388"/>
                  <a:pt x="366712" y="71594"/>
                  <a:pt x="366712" y="95250"/>
                </a:cubicBezTo>
                <a:cubicBezTo>
                  <a:pt x="366712" y="118906"/>
                  <a:pt x="347506" y="138113"/>
                  <a:pt x="323850" y="138113"/>
                </a:cubicBezTo>
                <a:cubicBezTo>
                  <a:pt x="300194" y="138113"/>
                  <a:pt x="280987" y="118906"/>
                  <a:pt x="280987" y="95250"/>
                </a:cubicBezTo>
                <a:close/>
                <a:moveTo>
                  <a:pt x="95250" y="257175"/>
                </a:moveTo>
                <a:cubicBezTo>
                  <a:pt x="95250" y="204549"/>
                  <a:pt x="137874" y="161925"/>
                  <a:pt x="190500" y="161925"/>
                </a:cubicBezTo>
                <a:cubicBezTo>
                  <a:pt x="243126" y="161925"/>
                  <a:pt x="285750" y="204549"/>
                  <a:pt x="285750" y="257175"/>
                </a:cubicBezTo>
                <a:lnTo>
                  <a:pt x="285750" y="266700"/>
                </a:lnTo>
                <a:cubicBezTo>
                  <a:pt x="285750" y="277237"/>
                  <a:pt x="277237" y="285750"/>
                  <a:pt x="266700" y="285750"/>
                </a:cubicBezTo>
                <a:lnTo>
                  <a:pt x="114300" y="285750"/>
                </a:lnTo>
                <a:cubicBezTo>
                  <a:pt x="103763" y="285750"/>
                  <a:pt x="95250" y="277237"/>
                  <a:pt x="95250" y="266700"/>
                </a:cubicBezTo>
                <a:lnTo>
                  <a:pt x="95250" y="2571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1" name="Text 39"/>
          <p:cNvSpPr/>
          <p:nvPr/>
        </p:nvSpPr>
        <p:spPr>
          <a:xfrm>
            <a:off x="9525000" y="6045200"/>
            <a:ext cx="1981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培养专业人才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10600" y="6807200"/>
            <a:ext cx="6934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为高校和科研机构提供形式化验证教学和科研平台，培养安全关键系统领域专业人才，提升国内技术水平。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610600" y="7670800"/>
            <a:ext cx="6832600" cy="1117600"/>
          </a:xfrm>
          <a:custGeom>
            <a:avLst/>
            <a:gdLst/>
            <a:ahLst/>
            <a:cxnLst/>
            <a:rect l="l" t="t" r="r" b="b"/>
            <a:pathLst>
              <a:path w="6832600" h="1117600">
                <a:moveTo>
                  <a:pt x="101601" y="0"/>
                </a:moveTo>
                <a:lnTo>
                  <a:pt x="6730999" y="0"/>
                </a:lnTo>
                <a:cubicBezTo>
                  <a:pt x="6787112" y="0"/>
                  <a:pt x="6832600" y="45488"/>
                  <a:pt x="6832600" y="101601"/>
                </a:cubicBezTo>
                <a:lnTo>
                  <a:pt x="6832600" y="1015999"/>
                </a:lnTo>
                <a:cubicBezTo>
                  <a:pt x="6832600" y="1072112"/>
                  <a:pt x="6787112" y="1117600"/>
                  <a:pt x="6730999" y="1117600"/>
                </a:cubicBezTo>
                <a:lnTo>
                  <a:pt x="101601" y="1117600"/>
                </a:lnTo>
                <a:cubicBezTo>
                  <a:pt x="45488" y="1117600"/>
                  <a:pt x="0" y="1072112"/>
                  <a:pt x="0" y="1015999"/>
                </a:cubicBezTo>
                <a:lnTo>
                  <a:pt x="0" y="101601"/>
                </a:lnTo>
                <a:cubicBezTo>
                  <a:pt x="0" y="45526"/>
                  <a:pt x="45526" y="0"/>
                  <a:pt x="101601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718550" y="78740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100+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69350" y="83312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高校合作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007851" y="7874000"/>
            <a:ext cx="332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1000+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058651" y="8331200"/>
            <a:ext cx="322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人才培养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项目成果总结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3862" y="1834662"/>
            <a:ext cx="2869223" cy="1916723"/>
          </a:xfrm>
          <a:custGeom>
            <a:avLst/>
            <a:gdLst/>
            <a:ahLst/>
            <a:cxnLst/>
            <a:rect l="l" t="t" r="r" b="b"/>
            <a:pathLst>
              <a:path w="2869223" h="1916723">
                <a:moveTo>
                  <a:pt x="152399" y="0"/>
                </a:moveTo>
                <a:lnTo>
                  <a:pt x="2716824" y="0"/>
                </a:lnTo>
                <a:cubicBezTo>
                  <a:pt x="2800992" y="0"/>
                  <a:pt x="2869223" y="68231"/>
                  <a:pt x="2869223" y="152399"/>
                </a:cubicBezTo>
                <a:lnTo>
                  <a:pt x="2869223" y="1764324"/>
                </a:lnTo>
                <a:cubicBezTo>
                  <a:pt x="2869223" y="1848492"/>
                  <a:pt x="2800992" y="1916723"/>
                  <a:pt x="2716824" y="1916723"/>
                </a:cubicBezTo>
                <a:lnTo>
                  <a:pt x="152399" y="1916723"/>
                </a:lnTo>
                <a:cubicBezTo>
                  <a:pt x="68231" y="1916723"/>
                  <a:pt x="0" y="1848492"/>
                  <a:pt x="0" y="1764324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10971" y="2094533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0" y="47625"/>
                </a:moveTo>
                <a:cubicBezTo>
                  <a:pt x="0" y="21357"/>
                  <a:pt x="21357" y="0"/>
                  <a:pt x="47625" y="0"/>
                </a:cubicBezTo>
                <a:lnTo>
                  <a:pt x="158874" y="0"/>
                </a:lnTo>
                <a:cubicBezTo>
                  <a:pt x="171524" y="0"/>
                  <a:pt x="183654" y="4986"/>
                  <a:pt x="192584" y="13915"/>
                </a:cubicBezTo>
                <a:lnTo>
                  <a:pt x="271835" y="93241"/>
                </a:lnTo>
                <a:cubicBezTo>
                  <a:pt x="280764" y="102171"/>
                  <a:pt x="285750" y="114300"/>
                  <a:pt x="285750" y="126950"/>
                </a:cubicBezTo>
                <a:lnTo>
                  <a:pt x="285750" y="333375"/>
                </a:lnTo>
                <a:cubicBezTo>
                  <a:pt x="285750" y="359643"/>
                  <a:pt x="264393" y="381000"/>
                  <a:pt x="238125" y="381000"/>
                </a:cubicBezTo>
                <a:lnTo>
                  <a:pt x="47625" y="381000"/>
                </a:lnTo>
                <a:cubicBezTo>
                  <a:pt x="21357" y="381000"/>
                  <a:pt x="0" y="359643"/>
                  <a:pt x="0" y="333375"/>
                </a:cubicBezTo>
                <a:lnTo>
                  <a:pt x="0" y="47625"/>
                </a:lnTo>
                <a:close/>
                <a:moveTo>
                  <a:pt x="154781" y="43532"/>
                </a:moveTo>
                <a:lnTo>
                  <a:pt x="154781" y="113109"/>
                </a:lnTo>
                <a:cubicBezTo>
                  <a:pt x="154781" y="123006"/>
                  <a:pt x="162744" y="130969"/>
                  <a:pt x="172641" y="130969"/>
                </a:cubicBezTo>
                <a:lnTo>
                  <a:pt x="242218" y="130969"/>
                </a:lnTo>
                <a:lnTo>
                  <a:pt x="154781" y="43532"/>
                </a:lnTo>
                <a:close/>
                <a:moveTo>
                  <a:pt x="114746" y="219968"/>
                </a:moveTo>
                <a:cubicBezTo>
                  <a:pt x="121146" y="212452"/>
                  <a:pt x="120328" y="201216"/>
                  <a:pt x="112812" y="194816"/>
                </a:cubicBezTo>
                <a:cubicBezTo>
                  <a:pt x="105296" y="188416"/>
                  <a:pt x="94059" y="189235"/>
                  <a:pt x="87660" y="196751"/>
                </a:cubicBezTo>
                <a:lnTo>
                  <a:pt x="51941" y="238423"/>
                </a:lnTo>
                <a:cubicBezTo>
                  <a:pt x="46211" y="245120"/>
                  <a:pt x="46211" y="254943"/>
                  <a:pt x="51941" y="261640"/>
                </a:cubicBezTo>
                <a:lnTo>
                  <a:pt x="87660" y="303312"/>
                </a:lnTo>
                <a:cubicBezTo>
                  <a:pt x="94059" y="310828"/>
                  <a:pt x="105370" y="311646"/>
                  <a:pt x="112812" y="305246"/>
                </a:cubicBezTo>
                <a:cubicBezTo>
                  <a:pt x="120253" y="298847"/>
                  <a:pt x="121146" y="287536"/>
                  <a:pt x="114746" y="280095"/>
                </a:cubicBezTo>
                <a:lnTo>
                  <a:pt x="88999" y="250031"/>
                </a:lnTo>
                <a:lnTo>
                  <a:pt x="114746" y="219968"/>
                </a:lnTo>
                <a:close/>
                <a:moveTo>
                  <a:pt x="198090" y="196751"/>
                </a:moveTo>
                <a:cubicBezTo>
                  <a:pt x="191691" y="189235"/>
                  <a:pt x="180380" y="188416"/>
                  <a:pt x="172938" y="194816"/>
                </a:cubicBezTo>
                <a:cubicBezTo>
                  <a:pt x="165497" y="201216"/>
                  <a:pt x="164604" y="212527"/>
                  <a:pt x="171004" y="219968"/>
                </a:cubicBezTo>
                <a:lnTo>
                  <a:pt x="196751" y="250031"/>
                </a:lnTo>
                <a:lnTo>
                  <a:pt x="171004" y="280095"/>
                </a:lnTo>
                <a:cubicBezTo>
                  <a:pt x="164604" y="287610"/>
                  <a:pt x="165422" y="298847"/>
                  <a:pt x="172938" y="305246"/>
                </a:cubicBezTo>
                <a:cubicBezTo>
                  <a:pt x="180454" y="311646"/>
                  <a:pt x="191691" y="310828"/>
                  <a:pt x="198090" y="303312"/>
                </a:cubicBezTo>
                <a:lnTo>
                  <a:pt x="233809" y="261640"/>
                </a:lnTo>
                <a:cubicBezTo>
                  <a:pt x="239539" y="254943"/>
                  <a:pt x="239539" y="245120"/>
                  <a:pt x="233809" y="238423"/>
                </a:cubicBezTo>
                <a:lnTo>
                  <a:pt x="198090" y="19675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4"/>
          <p:cNvSpPr/>
          <p:nvPr/>
        </p:nvSpPr>
        <p:spPr>
          <a:xfrm>
            <a:off x="659423" y="2627933"/>
            <a:ext cx="257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29273" y="3237533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Python源码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02465" y="1834662"/>
            <a:ext cx="2869223" cy="1916723"/>
          </a:xfrm>
          <a:custGeom>
            <a:avLst/>
            <a:gdLst/>
            <a:ahLst/>
            <a:cxnLst/>
            <a:rect l="l" t="t" r="r" b="b"/>
            <a:pathLst>
              <a:path w="2869223" h="1916723">
                <a:moveTo>
                  <a:pt x="152399" y="0"/>
                </a:moveTo>
                <a:lnTo>
                  <a:pt x="2716824" y="0"/>
                </a:lnTo>
                <a:cubicBezTo>
                  <a:pt x="2800992" y="0"/>
                  <a:pt x="2869223" y="68231"/>
                  <a:pt x="2869223" y="152399"/>
                </a:cubicBezTo>
                <a:lnTo>
                  <a:pt x="2869223" y="1764324"/>
                </a:lnTo>
                <a:cubicBezTo>
                  <a:pt x="2869223" y="1848492"/>
                  <a:pt x="2800992" y="1916723"/>
                  <a:pt x="2716824" y="1916723"/>
                </a:cubicBezTo>
                <a:lnTo>
                  <a:pt x="152399" y="1916723"/>
                </a:lnTo>
                <a:cubicBezTo>
                  <a:pt x="68231" y="1916723"/>
                  <a:pt x="0" y="1848492"/>
                  <a:pt x="0" y="1764324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52011" y="20945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47625" y="333375"/>
                </a:moveTo>
                <a:lnTo>
                  <a:pt x="333375" y="333375"/>
                </a:lnTo>
                <a:cubicBezTo>
                  <a:pt x="359643" y="333375"/>
                  <a:pt x="381000" y="312018"/>
                  <a:pt x="381000" y="285750"/>
                </a:cubicBezTo>
                <a:lnTo>
                  <a:pt x="381000" y="107156"/>
                </a:lnTo>
                <a:cubicBezTo>
                  <a:pt x="381000" y="80888"/>
                  <a:pt x="359643" y="59531"/>
                  <a:pt x="333375" y="59531"/>
                </a:cubicBezTo>
                <a:lnTo>
                  <a:pt x="222275" y="59531"/>
                </a:lnTo>
                <a:cubicBezTo>
                  <a:pt x="217140" y="59531"/>
                  <a:pt x="212080" y="57894"/>
                  <a:pt x="207987" y="54769"/>
                </a:cubicBezTo>
                <a:lnTo>
                  <a:pt x="179412" y="33338"/>
                </a:lnTo>
                <a:cubicBezTo>
                  <a:pt x="171152" y="27161"/>
                  <a:pt x="161106" y="23812"/>
                  <a:pt x="150837" y="23812"/>
                </a:cubicBezTo>
                <a:lnTo>
                  <a:pt x="47625" y="23812"/>
                </a:lnTo>
                <a:cubicBezTo>
                  <a:pt x="21357" y="23812"/>
                  <a:pt x="0" y="45169"/>
                  <a:pt x="0" y="71438"/>
                </a:cubicBez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3748027" y="2627933"/>
            <a:ext cx="257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68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17877" y="3237533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总文件数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91129" y="1834662"/>
            <a:ext cx="2869223" cy="1916723"/>
          </a:xfrm>
          <a:custGeom>
            <a:avLst/>
            <a:gdLst/>
            <a:ahLst/>
            <a:cxnLst/>
            <a:rect l="l" t="t" r="r" b="b"/>
            <a:pathLst>
              <a:path w="2869223" h="1916723">
                <a:moveTo>
                  <a:pt x="152399" y="0"/>
                </a:moveTo>
                <a:lnTo>
                  <a:pt x="2716824" y="0"/>
                </a:lnTo>
                <a:cubicBezTo>
                  <a:pt x="2800992" y="0"/>
                  <a:pt x="2869223" y="68231"/>
                  <a:pt x="2869223" y="152399"/>
                </a:cubicBezTo>
                <a:lnTo>
                  <a:pt x="2869223" y="1764324"/>
                </a:lnTo>
                <a:cubicBezTo>
                  <a:pt x="2869223" y="1848492"/>
                  <a:pt x="2800992" y="1916723"/>
                  <a:pt x="2716824" y="1916723"/>
                </a:cubicBezTo>
                <a:lnTo>
                  <a:pt x="152399" y="1916723"/>
                </a:lnTo>
                <a:cubicBezTo>
                  <a:pt x="68231" y="1916723"/>
                  <a:pt x="0" y="1848492"/>
                  <a:pt x="0" y="1764324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40615" y="209453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381000"/>
                </a:moveTo>
                <a:cubicBezTo>
                  <a:pt x="295640" y="381000"/>
                  <a:pt x="381000" y="295640"/>
                  <a:pt x="381000" y="190500"/>
                </a:cubicBezTo>
                <a:cubicBezTo>
                  <a:pt x="381000" y="85360"/>
                  <a:pt x="295640" y="0"/>
                  <a:pt x="190500" y="0"/>
                </a:cubicBezTo>
                <a:cubicBezTo>
                  <a:pt x="85360" y="0"/>
                  <a:pt x="0" y="85360"/>
                  <a:pt x="0" y="190500"/>
                </a:cubicBezTo>
                <a:cubicBezTo>
                  <a:pt x="0" y="295640"/>
                  <a:pt x="85360" y="381000"/>
                  <a:pt x="190500" y="381000"/>
                </a:cubicBezTo>
                <a:close/>
                <a:moveTo>
                  <a:pt x="253305" y="158279"/>
                </a:moveTo>
                <a:lnTo>
                  <a:pt x="193774" y="253529"/>
                </a:lnTo>
                <a:cubicBezTo>
                  <a:pt x="190649" y="258514"/>
                  <a:pt x="185291" y="261640"/>
                  <a:pt x="179412" y="261938"/>
                </a:cubicBezTo>
                <a:cubicBezTo>
                  <a:pt x="173534" y="262235"/>
                  <a:pt x="167878" y="259556"/>
                  <a:pt x="164381" y="254794"/>
                </a:cubicBezTo>
                <a:lnTo>
                  <a:pt x="128662" y="207169"/>
                </a:lnTo>
                <a:cubicBezTo>
                  <a:pt x="122709" y="199281"/>
                  <a:pt x="124346" y="188119"/>
                  <a:pt x="132234" y="182166"/>
                </a:cubicBezTo>
                <a:cubicBezTo>
                  <a:pt x="140122" y="176212"/>
                  <a:pt x="151284" y="177850"/>
                  <a:pt x="157237" y="185738"/>
                </a:cubicBezTo>
                <a:lnTo>
                  <a:pt x="177329" y="212527"/>
                </a:lnTo>
                <a:lnTo>
                  <a:pt x="223019" y="139378"/>
                </a:lnTo>
                <a:cubicBezTo>
                  <a:pt x="228228" y="131043"/>
                  <a:pt x="239241" y="128439"/>
                  <a:pt x="247650" y="133722"/>
                </a:cubicBezTo>
                <a:cubicBezTo>
                  <a:pt x="256059" y="139005"/>
                  <a:pt x="258589" y="149944"/>
                  <a:pt x="253305" y="15835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Text 12"/>
          <p:cNvSpPr/>
          <p:nvPr/>
        </p:nvSpPr>
        <p:spPr>
          <a:xfrm>
            <a:off x="6836691" y="2627933"/>
            <a:ext cx="257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06541" y="3237533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测试用例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779733" y="1834662"/>
            <a:ext cx="2869223" cy="1916723"/>
          </a:xfrm>
          <a:custGeom>
            <a:avLst/>
            <a:gdLst/>
            <a:ahLst/>
            <a:cxnLst/>
            <a:rect l="l" t="t" r="r" b="b"/>
            <a:pathLst>
              <a:path w="2869223" h="1916723">
                <a:moveTo>
                  <a:pt x="152399" y="0"/>
                </a:moveTo>
                <a:lnTo>
                  <a:pt x="2716824" y="0"/>
                </a:lnTo>
                <a:cubicBezTo>
                  <a:pt x="2800992" y="0"/>
                  <a:pt x="2869223" y="68231"/>
                  <a:pt x="2869223" y="152399"/>
                </a:cubicBezTo>
                <a:lnTo>
                  <a:pt x="2869223" y="1764324"/>
                </a:lnTo>
                <a:cubicBezTo>
                  <a:pt x="2869223" y="1848492"/>
                  <a:pt x="2800992" y="1916723"/>
                  <a:pt x="2716824" y="1916723"/>
                </a:cubicBezTo>
                <a:lnTo>
                  <a:pt x="152399" y="1916723"/>
                </a:lnTo>
                <a:cubicBezTo>
                  <a:pt x="68231" y="1916723"/>
                  <a:pt x="0" y="1848492"/>
                  <a:pt x="0" y="1764324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053091" y="209453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142875" y="95250"/>
                </a:moveTo>
                <a:cubicBezTo>
                  <a:pt x="142875" y="55823"/>
                  <a:pt x="110865" y="23812"/>
                  <a:pt x="71438" y="23812"/>
                </a:cubicBezTo>
                <a:cubicBezTo>
                  <a:pt x="32010" y="23812"/>
                  <a:pt x="0" y="55823"/>
                  <a:pt x="0" y="95250"/>
                </a:cubicBezTo>
                <a:cubicBezTo>
                  <a:pt x="0" y="134677"/>
                  <a:pt x="32010" y="166688"/>
                  <a:pt x="71437" y="166688"/>
                </a:cubicBezTo>
                <a:cubicBezTo>
                  <a:pt x="110865" y="166688"/>
                  <a:pt x="142875" y="134677"/>
                  <a:pt x="142875" y="95250"/>
                </a:cubicBezTo>
                <a:close/>
                <a:moveTo>
                  <a:pt x="333375" y="285750"/>
                </a:moveTo>
                <a:cubicBezTo>
                  <a:pt x="333375" y="246323"/>
                  <a:pt x="301365" y="214313"/>
                  <a:pt x="261938" y="214313"/>
                </a:cubicBezTo>
                <a:cubicBezTo>
                  <a:pt x="222510" y="214313"/>
                  <a:pt x="190500" y="246323"/>
                  <a:pt x="190500" y="285750"/>
                </a:cubicBezTo>
                <a:cubicBezTo>
                  <a:pt x="190500" y="325177"/>
                  <a:pt x="222510" y="357188"/>
                  <a:pt x="261938" y="357188"/>
                </a:cubicBezTo>
                <a:cubicBezTo>
                  <a:pt x="301365" y="357188"/>
                  <a:pt x="333375" y="325177"/>
                  <a:pt x="333375" y="285750"/>
                </a:cubicBezTo>
                <a:close/>
                <a:moveTo>
                  <a:pt x="326380" y="64443"/>
                </a:moveTo>
                <a:cubicBezTo>
                  <a:pt x="335682" y="55141"/>
                  <a:pt x="335682" y="40035"/>
                  <a:pt x="326380" y="30733"/>
                </a:cubicBezTo>
                <a:cubicBezTo>
                  <a:pt x="317078" y="21431"/>
                  <a:pt x="301972" y="21431"/>
                  <a:pt x="292671" y="30733"/>
                </a:cubicBezTo>
                <a:lnTo>
                  <a:pt x="6921" y="316483"/>
                </a:lnTo>
                <a:cubicBezTo>
                  <a:pt x="-2381" y="325785"/>
                  <a:pt x="-2381" y="340891"/>
                  <a:pt x="6921" y="350193"/>
                </a:cubicBezTo>
                <a:cubicBezTo>
                  <a:pt x="16222" y="359494"/>
                  <a:pt x="31328" y="359494"/>
                  <a:pt x="40630" y="350193"/>
                </a:cubicBezTo>
                <a:lnTo>
                  <a:pt x="326380" y="6444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6"/>
          <p:cNvSpPr/>
          <p:nvPr/>
        </p:nvSpPr>
        <p:spPr>
          <a:xfrm>
            <a:off x="9925295" y="2627933"/>
            <a:ext cx="257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90%+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95145" y="3237533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代码覆盖率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868397" y="1834662"/>
            <a:ext cx="2869223" cy="1916723"/>
          </a:xfrm>
          <a:custGeom>
            <a:avLst/>
            <a:gdLst/>
            <a:ahLst/>
            <a:cxnLst/>
            <a:rect l="l" t="t" r="r" b="b"/>
            <a:pathLst>
              <a:path w="2869223" h="1916723">
                <a:moveTo>
                  <a:pt x="152399" y="0"/>
                </a:moveTo>
                <a:lnTo>
                  <a:pt x="2716824" y="0"/>
                </a:lnTo>
                <a:cubicBezTo>
                  <a:pt x="2800992" y="0"/>
                  <a:pt x="2869223" y="68231"/>
                  <a:pt x="2869223" y="152399"/>
                </a:cubicBezTo>
                <a:lnTo>
                  <a:pt x="2869223" y="1764324"/>
                </a:lnTo>
                <a:cubicBezTo>
                  <a:pt x="2869223" y="1848492"/>
                  <a:pt x="2800992" y="1916723"/>
                  <a:pt x="2716824" y="1916723"/>
                </a:cubicBezTo>
                <a:lnTo>
                  <a:pt x="152399" y="1916723"/>
                </a:lnTo>
                <a:cubicBezTo>
                  <a:pt x="68231" y="1916723"/>
                  <a:pt x="0" y="1848492"/>
                  <a:pt x="0" y="1764324"/>
                </a:cubicBezTo>
                <a:lnTo>
                  <a:pt x="0" y="152399"/>
                </a:lnTo>
                <a:cubicBezTo>
                  <a:pt x="0" y="68231"/>
                  <a:pt x="68231" y="0"/>
                  <a:pt x="152399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30000"/>
                </a:srgbClr>
              </a:gs>
              <a:gs pos="100000">
                <a:srgbClr val="38B2AC">
                  <a:alpha val="10000"/>
                </a:srgbClr>
              </a:gs>
            </a:gsLst>
            <a:lin ang="27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141755" y="2094533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85750" y="381000"/>
                </a:moveTo>
                <a:lnTo>
                  <a:pt x="71438" y="381000"/>
                </a:lnTo>
                <a:cubicBezTo>
                  <a:pt x="31998" y="381000"/>
                  <a:pt x="0" y="349002"/>
                  <a:pt x="0" y="309563"/>
                </a:cubicBezTo>
                <a:lnTo>
                  <a:pt x="0" y="71438"/>
                </a:lnTo>
                <a:cubicBezTo>
                  <a:pt x="0" y="31998"/>
                  <a:pt x="31998" y="0"/>
                  <a:pt x="71438" y="0"/>
                </a:cubicBezTo>
                <a:lnTo>
                  <a:pt x="297656" y="0"/>
                </a:lnTo>
                <a:cubicBezTo>
                  <a:pt x="317376" y="0"/>
                  <a:pt x="333375" y="15999"/>
                  <a:pt x="333375" y="35719"/>
                </a:cubicBezTo>
                <a:lnTo>
                  <a:pt x="333375" y="250031"/>
                </a:lnTo>
                <a:cubicBezTo>
                  <a:pt x="333375" y="265584"/>
                  <a:pt x="323404" y="278829"/>
                  <a:pt x="309563" y="283741"/>
                </a:cubicBezTo>
                <a:lnTo>
                  <a:pt x="309563" y="333375"/>
                </a:lnTo>
                <a:cubicBezTo>
                  <a:pt x="322734" y="333375"/>
                  <a:pt x="333375" y="344016"/>
                  <a:pt x="333375" y="357188"/>
                </a:cubicBezTo>
                <a:cubicBezTo>
                  <a:pt x="333375" y="370359"/>
                  <a:pt x="322734" y="381000"/>
                  <a:pt x="309563" y="381000"/>
                </a:cubicBezTo>
                <a:lnTo>
                  <a:pt x="285750" y="381000"/>
                </a:lnTo>
                <a:close/>
                <a:moveTo>
                  <a:pt x="71438" y="285750"/>
                </a:moveTo>
                <a:cubicBezTo>
                  <a:pt x="58266" y="285750"/>
                  <a:pt x="47625" y="296391"/>
                  <a:pt x="47625" y="309563"/>
                </a:cubicBezTo>
                <a:cubicBezTo>
                  <a:pt x="47625" y="322734"/>
                  <a:pt x="58266" y="333375"/>
                  <a:pt x="71438" y="333375"/>
                </a:cubicBezTo>
                <a:lnTo>
                  <a:pt x="261938" y="333375"/>
                </a:lnTo>
                <a:lnTo>
                  <a:pt x="261938" y="285750"/>
                </a:lnTo>
                <a:lnTo>
                  <a:pt x="71438" y="285750"/>
                </a:lnTo>
                <a:close/>
                <a:moveTo>
                  <a:pt x="95250" y="113109"/>
                </a:moveTo>
                <a:cubicBezTo>
                  <a:pt x="95250" y="123006"/>
                  <a:pt x="103212" y="130969"/>
                  <a:pt x="113109" y="130969"/>
                </a:cubicBezTo>
                <a:lnTo>
                  <a:pt x="244078" y="130969"/>
                </a:lnTo>
                <a:cubicBezTo>
                  <a:pt x="253975" y="130969"/>
                  <a:pt x="261938" y="123006"/>
                  <a:pt x="261938" y="113109"/>
                </a:cubicBezTo>
                <a:cubicBezTo>
                  <a:pt x="261938" y="103212"/>
                  <a:pt x="253975" y="95250"/>
                  <a:pt x="244078" y="95250"/>
                </a:cubicBezTo>
                <a:lnTo>
                  <a:pt x="113109" y="95250"/>
                </a:lnTo>
                <a:cubicBezTo>
                  <a:pt x="103212" y="95250"/>
                  <a:pt x="95250" y="103212"/>
                  <a:pt x="95250" y="113109"/>
                </a:cubicBezTo>
                <a:close/>
                <a:moveTo>
                  <a:pt x="113109" y="166688"/>
                </a:moveTo>
                <a:cubicBezTo>
                  <a:pt x="103212" y="166688"/>
                  <a:pt x="95250" y="174650"/>
                  <a:pt x="95250" y="184547"/>
                </a:cubicBezTo>
                <a:cubicBezTo>
                  <a:pt x="95250" y="194444"/>
                  <a:pt x="103212" y="202406"/>
                  <a:pt x="113109" y="202406"/>
                </a:cubicBezTo>
                <a:lnTo>
                  <a:pt x="244078" y="202406"/>
                </a:lnTo>
                <a:cubicBezTo>
                  <a:pt x="253975" y="202406"/>
                  <a:pt x="261938" y="194444"/>
                  <a:pt x="261938" y="184547"/>
                </a:cubicBezTo>
                <a:cubicBezTo>
                  <a:pt x="261938" y="174650"/>
                  <a:pt x="253975" y="166688"/>
                  <a:pt x="244078" y="166688"/>
                </a:cubicBezTo>
                <a:lnTo>
                  <a:pt x="113109" y="16668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13013959" y="2627933"/>
            <a:ext cx="2578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1257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083809" y="3237533"/>
            <a:ext cx="243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用户手册行数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8000" y="4011253"/>
            <a:ext cx="7493000" cy="5080000"/>
          </a:xfrm>
          <a:custGeom>
            <a:avLst/>
            <a:gdLst/>
            <a:ahLst/>
            <a:cxnLst/>
            <a:rect l="l" t="t" r="r" b="b"/>
            <a:pathLst>
              <a:path w="7493000" h="5080000">
                <a:moveTo>
                  <a:pt x="1524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4927600"/>
                </a:lnTo>
                <a:cubicBezTo>
                  <a:pt x="7493000" y="5011712"/>
                  <a:pt x="7424712" y="5080000"/>
                  <a:pt x="7340600" y="5080000"/>
                </a:cubicBezTo>
                <a:lnTo>
                  <a:pt x="152400" y="5080000"/>
                </a:lnTo>
                <a:cubicBezTo>
                  <a:pt x="68288" y="5080000"/>
                  <a:pt x="0" y="5011712"/>
                  <a:pt x="0" y="492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812800" y="4316053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技术成果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" y="4874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65200" y="5179653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Text 26"/>
          <p:cNvSpPr/>
          <p:nvPr/>
        </p:nvSpPr>
        <p:spPr>
          <a:xfrm>
            <a:off x="1435100" y="5027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形式化验证引擎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35100" y="5332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基于Z3的轻量化BMC引擎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800" y="5890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96950" y="61956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0" y="39688"/>
                </a:moveTo>
                <a:cubicBezTo>
                  <a:pt x="0" y="26541"/>
                  <a:pt x="10666" y="15875"/>
                  <a:pt x="23812" y="15875"/>
                </a:cubicBezTo>
                <a:lnTo>
                  <a:pt x="71438" y="15875"/>
                </a:lnTo>
                <a:cubicBezTo>
                  <a:pt x="84584" y="15875"/>
                  <a:pt x="95250" y="26541"/>
                  <a:pt x="95250" y="39688"/>
                </a:cubicBezTo>
                <a:lnTo>
                  <a:pt x="95250" y="47625"/>
                </a:lnTo>
                <a:lnTo>
                  <a:pt x="158750" y="47625"/>
                </a:lnTo>
                <a:lnTo>
                  <a:pt x="158750" y="39688"/>
                </a:lnTo>
                <a:cubicBezTo>
                  <a:pt x="158750" y="26541"/>
                  <a:pt x="169416" y="15875"/>
                  <a:pt x="182563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87313"/>
                </a:lnTo>
                <a:cubicBezTo>
                  <a:pt x="254000" y="100459"/>
                  <a:pt x="243334" y="111125"/>
                  <a:pt x="230188" y="111125"/>
                </a:cubicBezTo>
                <a:lnTo>
                  <a:pt x="182563" y="111125"/>
                </a:lnTo>
                <a:cubicBezTo>
                  <a:pt x="169416" y="111125"/>
                  <a:pt x="158750" y="100459"/>
                  <a:pt x="158750" y="87313"/>
                </a:cubicBezTo>
                <a:lnTo>
                  <a:pt x="158750" y="79375"/>
                </a:lnTo>
                <a:lnTo>
                  <a:pt x="95250" y="79375"/>
                </a:lnTo>
                <a:lnTo>
                  <a:pt x="95250" y="87313"/>
                </a:lnTo>
                <a:cubicBezTo>
                  <a:pt x="95250" y="90934"/>
                  <a:pt x="94407" y="94407"/>
                  <a:pt x="92968" y="97482"/>
                </a:cubicBezTo>
                <a:lnTo>
                  <a:pt x="127000" y="142875"/>
                </a:lnTo>
                <a:lnTo>
                  <a:pt x="166688" y="142875"/>
                </a:lnTo>
                <a:cubicBezTo>
                  <a:pt x="179834" y="142875"/>
                  <a:pt x="190500" y="153541"/>
                  <a:pt x="190500" y="166688"/>
                </a:cubicBezTo>
                <a:lnTo>
                  <a:pt x="190500" y="214313"/>
                </a:lnTo>
                <a:cubicBezTo>
                  <a:pt x="190500" y="227459"/>
                  <a:pt x="179834" y="238125"/>
                  <a:pt x="166688" y="238125"/>
                </a:cubicBezTo>
                <a:lnTo>
                  <a:pt x="119063" y="238125"/>
                </a:lnTo>
                <a:cubicBezTo>
                  <a:pt x="105916" y="238125"/>
                  <a:pt x="95250" y="227459"/>
                  <a:pt x="95250" y="214313"/>
                </a:cubicBezTo>
                <a:lnTo>
                  <a:pt x="95250" y="166688"/>
                </a:lnTo>
                <a:cubicBezTo>
                  <a:pt x="95250" y="163066"/>
                  <a:pt x="96093" y="159593"/>
                  <a:pt x="97532" y="156518"/>
                </a:cubicBezTo>
                <a:lnTo>
                  <a:pt x="63500" y="111125"/>
                </a:lnTo>
                <a:lnTo>
                  <a:pt x="23812" y="111125"/>
                </a:lnTo>
                <a:cubicBezTo>
                  <a:pt x="10666" y="111125"/>
                  <a:pt x="0" y="100459"/>
                  <a:pt x="0" y="87313"/>
                </a:cubicBezTo>
                <a:lnTo>
                  <a:pt x="0" y="3968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1435100" y="6043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协议状态机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35100" y="6348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完整的RSSP-I/II协议建模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" y="6906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96950" y="72116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87313" y="11906"/>
                </a:moveTo>
                <a:cubicBezTo>
                  <a:pt x="87313" y="5308"/>
                  <a:pt x="82004" y="0"/>
                  <a:pt x="75406" y="0"/>
                </a:cubicBezTo>
                <a:cubicBezTo>
                  <a:pt x="68808" y="0"/>
                  <a:pt x="63500" y="5308"/>
                  <a:pt x="63500" y="11906"/>
                </a:cubicBezTo>
                <a:lnTo>
                  <a:pt x="63500" y="31750"/>
                </a:lnTo>
                <a:cubicBezTo>
                  <a:pt x="45988" y="31750"/>
                  <a:pt x="31750" y="45988"/>
                  <a:pt x="31750" y="63500"/>
                </a:cubicBezTo>
                <a:lnTo>
                  <a:pt x="11906" y="63500"/>
                </a:lnTo>
                <a:cubicBezTo>
                  <a:pt x="5308" y="63500"/>
                  <a:pt x="0" y="68808"/>
                  <a:pt x="0" y="75406"/>
                </a:cubicBezTo>
                <a:cubicBezTo>
                  <a:pt x="0" y="82004"/>
                  <a:pt x="5308" y="87313"/>
                  <a:pt x="11906" y="87313"/>
                </a:cubicBezTo>
                <a:lnTo>
                  <a:pt x="31750" y="87313"/>
                </a:lnTo>
                <a:lnTo>
                  <a:pt x="31750" y="115094"/>
                </a:lnTo>
                <a:lnTo>
                  <a:pt x="11906" y="115094"/>
                </a:lnTo>
                <a:cubicBezTo>
                  <a:pt x="5308" y="115094"/>
                  <a:pt x="0" y="120402"/>
                  <a:pt x="0" y="127000"/>
                </a:cubicBezTo>
                <a:cubicBezTo>
                  <a:pt x="0" y="133598"/>
                  <a:pt x="5308" y="138906"/>
                  <a:pt x="11906" y="138906"/>
                </a:cubicBezTo>
                <a:lnTo>
                  <a:pt x="31750" y="138906"/>
                </a:lnTo>
                <a:lnTo>
                  <a:pt x="31750" y="166688"/>
                </a:lnTo>
                <a:lnTo>
                  <a:pt x="11906" y="166688"/>
                </a:lnTo>
                <a:cubicBezTo>
                  <a:pt x="5308" y="166688"/>
                  <a:pt x="0" y="171996"/>
                  <a:pt x="0" y="178594"/>
                </a:cubicBezTo>
                <a:cubicBezTo>
                  <a:pt x="0" y="185192"/>
                  <a:pt x="5308" y="190500"/>
                  <a:pt x="11906" y="190500"/>
                </a:cubicBezTo>
                <a:lnTo>
                  <a:pt x="31750" y="190500"/>
                </a:lnTo>
                <a:cubicBezTo>
                  <a:pt x="31750" y="208012"/>
                  <a:pt x="45988" y="222250"/>
                  <a:pt x="63500" y="222250"/>
                </a:cubicBezTo>
                <a:lnTo>
                  <a:pt x="63500" y="242094"/>
                </a:lnTo>
                <a:cubicBezTo>
                  <a:pt x="63500" y="248692"/>
                  <a:pt x="68808" y="254000"/>
                  <a:pt x="75406" y="254000"/>
                </a:cubicBezTo>
                <a:cubicBezTo>
                  <a:pt x="82004" y="254000"/>
                  <a:pt x="87313" y="248692"/>
                  <a:pt x="87313" y="242094"/>
                </a:cubicBezTo>
                <a:lnTo>
                  <a:pt x="87313" y="222250"/>
                </a:lnTo>
                <a:lnTo>
                  <a:pt x="115094" y="222250"/>
                </a:lnTo>
                <a:lnTo>
                  <a:pt x="115094" y="242094"/>
                </a:lnTo>
                <a:cubicBezTo>
                  <a:pt x="115094" y="248692"/>
                  <a:pt x="120402" y="254000"/>
                  <a:pt x="127000" y="254000"/>
                </a:cubicBezTo>
                <a:cubicBezTo>
                  <a:pt x="133598" y="254000"/>
                  <a:pt x="138906" y="248692"/>
                  <a:pt x="138906" y="242094"/>
                </a:cubicBezTo>
                <a:lnTo>
                  <a:pt x="138906" y="222250"/>
                </a:lnTo>
                <a:lnTo>
                  <a:pt x="166688" y="222250"/>
                </a:lnTo>
                <a:lnTo>
                  <a:pt x="166688" y="242094"/>
                </a:lnTo>
                <a:cubicBezTo>
                  <a:pt x="166688" y="248692"/>
                  <a:pt x="171996" y="254000"/>
                  <a:pt x="178594" y="254000"/>
                </a:cubicBezTo>
                <a:cubicBezTo>
                  <a:pt x="185192" y="254000"/>
                  <a:pt x="190500" y="248692"/>
                  <a:pt x="190500" y="242094"/>
                </a:cubicBezTo>
                <a:lnTo>
                  <a:pt x="190500" y="222250"/>
                </a:lnTo>
                <a:cubicBezTo>
                  <a:pt x="208012" y="222250"/>
                  <a:pt x="222250" y="208012"/>
                  <a:pt x="222250" y="190500"/>
                </a:cubicBezTo>
                <a:lnTo>
                  <a:pt x="242094" y="190500"/>
                </a:lnTo>
                <a:cubicBezTo>
                  <a:pt x="248692" y="190500"/>
                  <a:pt x="254000" y="185192"/>
                  <a:pt x="254000" y="178594"/>
                </a:cubicBezTo>
                <a:cubicBezTo>
                  <a:pt x="254000" y="171996"/>
                  <a:pt x="248692" y="166688"/>
                  <a:pt x="242094" y="166688"/>
                </a:cubicBezTo>
                <a:lnTo>
                  <a:pt x="222250" y="166688"/>
                </a:lnTo>
                <a:lnTo>
                  <a:pt x="222250" y="138906"/>
                </a:lnTo>
                <a:lnTo>
                  <a:pt x="242094" y="138906"/>
                </a:lnTo>
                <a:cubicBezTo>
                  <a:pt x="248692" y="138906"/>
                  <a:pt x="254000" y="133598"/>
                  <a:pt x="254000" y="127000"/>
                </a:cubicBezTo>
                <a:cubicBezTo>
                  <a:pt x="254000" y="120402"/>
                  <a:pt x="248692" y="115094"/>
                  <a:pt x="242094" y="115094"/>
                </a:cubicBezTo>
                <a:lnTo>
                  <a:pt x="222250" y="115094"/>
                </a:lnTo>
                <a:lnTo>
                  <a:pt x="222250" y="87313"/>
                </a:lnTo>
                <a:lnTo>
                  <a:pt x="242094" y="87313"/>
                </a:lnTo>
                <a:cubicBezTo>
                  <a:pt x="248692" y="87313"/>
                  <a:pt x="254000" y="82004"/>
                  <a:pt x="254000" y="75406"/>
                </a:cubicBezTo>
                <a:cubicBezTo>
                  <a:pt x="254000" y="68808"/>
                  <a:pt x="248692" y="63500"/>
                  <a:pt x="242094" y="63500"/>
                </a:cubicBezTo>
                <a:lnTo>
                  <a:pt x="222250" y="63500"/>
                </a:lnTo>
                <a:cubicBezTo>
                  <a:pt x="222250" y="45988"/>
                  <a:pt x="208012" y="31750"/>
                  <a:pt x="190500" y="31750"/>
                </a:cubicBezTo>
                <a:lnTo>
                  <a:pt x="190500" y="11906"/>
                </a:lnTo>
                <a:cubicBezTo>
                  <a:pt x="190500" y="5308"/>
                  <a:pt x="185192" y="0"/>
                  <a:pt x="178594" y="0"/>
                </a:cubicBezTo>
                <a:cubicBezTo>
                  <a:pt x="171996" y="0"/>
                  <a:pt x="166688" y="5308"/>
                  <a:pt x="166688" y="11906"/>
                </a:cubicBezTo>
                <a:lnTo>
                  <a:pt x="166688" y="31750"/>
                </a:lnTo>
                <a:lnTo>
                  <a:pt x="138906" y="31750"/>
                </a:lnTo>
                <a:lnTo>
                  <a:pt x="138906" y="11906"/>
                </a:lnTo>
                <a:cubicBezTo>
                  <a:pt x="138906" y="5308"/>
                  <a:pt x="133598" y="0"/>
                  <a:pt x="127000" y="0"/>
                </a:cubicBezTo>
                <a:cubicBezTo>
                  <a:pt x="120402" y="0"/>
                  <a:pt x="115094" y="5308"/>
                  <a:pt x="115094" y="11906"/>
                </a:cubicBezTo>
                <a:lnTo>
                  <a:pt x="115094" y="31750"/>
                </a:lnTo>
                <a:lnTo>
                  <a:pt x="87313" y="31750"/>
                </a:lnTo>
                <a:lnTo>
                  <a:pt x="87313" y="11906"/>
                </a:lnTo>
                <a:close/>
                <a:moveTo>
                  <a:pt x="79375" y="63500"/>
                </a:moveTo>
                <a:lnTo>
                  <a:pt x="174625" y="63500"/>
                </a:lnTo>
                <a:cubicBezTo>
                  <a:pt x="183406" y="63500"/>
                  <a:pt x="190500" y="70594"/>
                  <a:pt x="190500" y="79375"/>
                </a:cubicBezTo>
                <a:lnTo>
                  <a:pt x="190500" y="174625"/>
                </a:lnTo>
                <a:cubicBezTo>
                  <a:pt x="190500" y="183406"/>
                  <a:pt x="183406" y="190500"/>
                  <a:pt x="174625" y="190500"/>
                </a:cubicBezTo>
                <a:lnTo>
                  <a:pt x="79375" y="190500"/>
                </a:lnTo>
                <a:cubicBezTo>
                  <a:pt x="70594" y="190500"/>
                  <a:pt x="63500" y="183406"/>
                  <a:pt x="63500" y="174625"/>
                </a:cubicBezTo>
                <a:lnTo>
                  <a:pt x="63500" y="79375"/>
                </a:lnTo>
                <a:cubicBezTo>
                  <a:pt x="63500" y="70594"/>
                  <a:pt x="70594" y="63500"/>
                  <a:pt x="79375" y="63500"/>
                </a:cubicBezTo>
                <a:close/>
                <a:moveTo>
                  <a:pt x="87313" y="87313"/>
                </a:moveTo>
                <a:lnTo>
                  <a:pt x="87313" y="166688"/>
                </a:lnTo>
                <a:lnTo>
                  <a:pt x="166688" y="166688"/>
                </a:lnTo>
                <a:lnTo>
                  <a:pt x="166688" y="87313"/>
                </a:lnTo>
                <a:lnTo>
                  <a:pt x="87313" y="8731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1435100" y="7059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RISC-V模拟器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35100" y="7364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RV32I指令集+PMP检查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2800" y="7922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96950" y="82276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15875"/>
                </a:moveTo>
                <a:cubicBezTo>
                  <a:pt x="14238" y="15875"/>
                  <a:pt x="0" y="30113"/>
                  <a:pt x="0" y="47625"/>
                </a:cubicBezTo>
                <a:lnTo>
                  <a:pt x="0" y="174625"/>
                </a:lnTo>
                <a:cubicBezTo>
                  <a:pt x="0" y="192137"/>
                  <a:pt x="14238" y="206375"/>
                  <a:pt x="31750" y="206375"/>
                </a:cubicBezTo>
                <a:lnTo>
                  <a:pt x="103188" y="206375"/>
                </a:lnTo>
                <a:lnTo>
                  <a:pt x="95250" y="230188"/>
                </a:lnTo>
                <a:lnTo>
                  <a:pt x="59531" y="230188"/>
                </a:lnTo>
                <a:cubicBezTo>
                  <a:pt x="52933" y="230188"/>
                  <a:pt x="47625" y="235496"/>
                  <a:pt x="47625" y="242094"/>
                </a:cubicBezTo>
                <a:cubicBezTo>
                  <a:pt x="47625" y="248692"/>
                  <a:pt x="52933" y="254000"/>
                  <a:pt x="59531" y="254000"/>
                </a:cubicBezTo>
                <a:lnTo>
                  <a:pt x="194469" y="254000"/>
                </a:lnTo>
                <a:cubicBezTo>
                  <a:pt x="201067" y="254000"/>
                  <a:pt x="206375" y="248692"/>
                  <a:pt x="206375" y="242094"/>
                </a:cubicBezTo>
                <a:cubicBezTo>
                  <a:pt x="206375" y="235496"/>
                  <a:pt x="201067" y="230188"/>
                  <a:pt x="194469" y="230188"/>
                </a:cubicBezTo>
                <a:lnTo>
                  <a:pt x="158750" y="230188"/>
                </a:lnTo>
                <a:lnTo>
                  <a:pt x="150813" y="206375"/>
                </a:lnTo>
                <a:lnTo>
                  <a:pt x="222250" y="206375"/>
                </a:lnTo>
                <a:cubicBezTo>
                  <a:pt x="239762" y="206375"/>
                  <a:pt x="254000" y="192137"/>
                  <a:pt x="254000" y="174625"/>
                </a:cubicBezTo>
                <a:lnTo>
                  <a:pt x="254000" y="47625"/>
                </a:lnTo>
                <a:cubicBezTo>
                  <a:pt x="254000" y="30113"/>
                  <a:pt x="239762" y="15875"/>
                  <a:pt x="222250" y="15875"/>
                </a:cubicBezTo>
                <a:lnTo>
                  <a:pt x="31750" y="15875"/>
                </a:lnTo>
                <a:close/>
                <a:moveTo>
                  <a:pt x="47625" y="47625"/>
                </a:moveTo>
                <a:lnTo>
                  <a:pt x="206375" y="47625"/>
                </a:lnTo>
                <a:cubicBezTo>
                  <a:pt x="215156" y="47625"/>
                  <a:pt x="222250" y="54719"/>
                  <a:pt x="222250" y="63500"/>
                </a:cubicBezTo>
                <a:lnTo>
                  <a:pt x="222250" y="142875"/>
                </a:lnTo>
                <a:cubicBezTo>
                  <a:pt x="222250" y="151656"/>
                  <a:pt x="215156" y="158750"/>
                  <a:pt x="206375" y="158750"/>
                </a:cubicBezTo>
                <a:lnTo>
                  <a:pt x="47625" y="158750"/>
                </a:lnTo>
                <a:cubicBezTo>
                  <a:pt x="38844" y="158750"/>
                  <a:pt x="31750" y="151656"/>
                  <a:pt x="31750" y="142875"/>
                </a:cubicBezTo>
                <a:lnTo>
                  <a:pt x="31750" y="63500"/>
                </a:lnTo>
                <a:cubicBezTo>
                  <a:pt x="31750" y="54719"/>
                  <a:pt x="38844" y="47625"/>
                  <a:pt x="47625" y="4762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Text 38"/>
          <p:cNvSpPr/>
          <p:nvPr/>
        </p:nvSpPr>
        <p:spPr>
          <a:xfrm>
            <a:off x="1435100" y="8075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可视化GUI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35100" y="8380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基于PyQt6的现代化界面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5000" y="4011253"/>
            <a:ext cx="7493000" cy="5080000"/>
          </a:xfrm>
          <a:custGeom>
            <a:avLst/>
            <a:gdLst/>
            <a:ahLst/>
            <a:cxnLst/>
            <a:rect l="l" t="t" r="r" b="b"/>
            <a:pathLst>
              <a:path w="7493000" h="5080000">
                <a:moveTo>
                  <a:pt x="152400" y="0"/>
                </a:moveTo>
                <a:lnTo>
                  <a:pt x="7340600" y="0"/>
                </a:lnTo>
                <a:cubicBezTo>
                  <a:pt x="7424712" y="0"/>
                  <a:pt x="7493000" y="68288"/>
                  <a:pt x="7493000" y="152400"/>
                </a:cubicBezTo>
                <a:lnTo>
                  <a:pt x="7493000" y="4927600"/>
                </a:lnTo>
                <a:cubicBezTo>
                  <a:pt x="7493000" y="5011712"/>
                  <a:pt x="7424712" y="5080000"/>
                  <a:pt x="7340600" y="5080000"/>
                </a:cubicBezTo>
                <a:lnTo>
                  <a:pt x="152400" y="5080000"/>
                </a:lnTo>
                <a:cubicBezTo>
                  <a:pt x="68288" y="5080000"/>
                  <a:pt x="0" y="5011712"/>
                  <a:pt x="0" y="4927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8559800" y="4316053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文档成果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59800" y="4874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743950" y="51796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9182100" y="5027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SIL4安全手册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182100" y="5332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完整的安全认证文档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559800" y="5890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743950" y="6195653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70098"/>
                </a:moveTo>
                <a:lnTo>
                  <a:pt x="127000" y="223540"/>
                </a:lnTo>
                <a:lnTo>
                  <a:pt x="127248" y="223441"/>
                </a:lnTo>
                <a:cubicBezTo>
                  <a:pt x="154335" y="212179"/>
                  <a:pt x="183406" y="206375"/>
                  <a:pt x="212725" y="206375"/>
                </a:cubicBezTo>
                <a:lnTo>
                  <a:pt x="222250" y="206375"/>
                </a:lnTo>
                <a:lnTo>
                  <a:pt x="222250" y="47625"/>
                </a:lnTo>
                <a:lnTo>
                  <a:pt x="212725" y="47625"/>
                </a:lnTo>
                <a:cubicBezTo>
                  <a:pt x="191790" y="47625"/>
                  <a:pt x="171004" y="51792"/>
                  <a:pt x="151656" y="59829"/>
                </a:cubicBezTo>
                <a:cubicBezTo>
                  <a:pt x="143321" y="63302"/>
                  <a:pt x="135086" y="66725"/>
                  <a:pt x="127000" y="70098"/>
                </a:cubicBezTo>
                <a:close/>
                <a:moveTo>
                  <a:pt x="114548" y="30510"/>
                </a:moveTo>
                <a:lnTo>
                  <a:pt x="127000" y="35719"/>
                </a:lnTo>
                <a:lnTo>
                  <a:pt x="139452" y="30510"/>
                </a:lnTo>
                <a:cubicBezTo>
                  <a:pt x="162669" y="20836"/>
                  <a:pt x="187573" y="15875"/>
                  <a:pt x="212725" y="15875"/>
                </a:cubicBezTo>
                <a:lnTo>
                  <a:pt x="230188" y="15875"/>
                </a:lnTo>
                <a:cubicBezTo>
                  <a:pt x="243334" y="15875"/>
                  <a:pt x="254000" y="26541"/>
                  <a:pt x="254000" y="39688"/>
                </a:cubicBezTo>
                <a:lnTo>
                  <a:pt x="254000" y="214313"/>
                </a:lnTo>
                <a:cubicBezTo>
                  <a:pt x="254000" y="227459"/>
                  <a:pt x="243334" y="238125"/>
                  <a:pt x="230188" y="238125"/>
                </a:cubicBezTo>
                <a:lnTo>
                  <a:pt x="212725" y="238125"/>
                </a:lnTo>
                <a:cubicBezTo>
                  <a:pt x="187573" y="238125"/>
                  <a:pt x="162669" y="243086"/>
                  <a:pt x="139452" y="252760"/>
                </a:cubicBezTo>
                <a:lnTo>
                  <a:pt x="133102" y="255389"/>
                </a:lnTo>
                <a:cubicBezTo>
                  <a:pt x="129183" y="257026"/>
                  <a:pt x="124817" y="257026"/>
                  <a:pt x="120898" y="255389"/>
                </a:cubicBezTo>
                <a:lnTo>
                  <a:pt x="114548" y="252760"/>
                </a:lnTo>
                <a:cubicBezTo>
                  <a:pt x="91331" y="243086"/>
                  <a:pt x="66427" y="238125"/>
                  <a:pt x="41275" y="238125"/>
                </a:cubicBezTo>
                <a:lnTo>
                  <a:pt x="23812" y="238125"/>
                </a:lnTo>
                <a:cubicBezTo>
                  <a:pt x="10666" y="238125"/>
                  <a:pt x="0" y="227459"/>
                  <a:pt x="0" y="214313"/>
                </a:cubicBezTo>
                <a:lnTo>
                  <a:pt x="0" y="39688"/>
                </a:lnTo>
                <a:cubicBezTo>
                  <a:pt x="0" y="26541"/>
                  <a:pt x="10666" y="15875"/>
                  <a:pt x="23812" y="15875"/>
                </a:cubicBezTo>
                <a:lnTo>
                  <a:pt x="41275" y="15875"/>
                </a:lnTo>
                <a:cubicBezTo>
                  <a:pt x="66427" y="15875"/>
                  <a:pt x="91331" y="20836"/>
                  <a:pt x="114548" y="3051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0" name="Text 48"/>
          <p:cNvSpPr/>
          <p:nvPr/>
        </p:nvSpPr>
        <p:spPr>
          <a:xfrm>
            <a:off x="9182100" y="6043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用户使用手册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182100" y="6348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1257行详细使用指南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559800" y="6906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775700" y="7211653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59531" y="127000"/>
                </a:moveTo>
                <a:cubicBezTo>
                  <a:pt x="52933" y="127000"/>
                  <a:pt x="47625" y="132308"/>
                  <a:pt x="47625" y="138906"/>
                </a:cubicBezTo>
                <a:cubicBezTo>
                  <a:pt x="47625" y="145504"/>
                  <a:pt x="52933" y="150813"/>
                  <a:pt x="59531" y="150813"/>
                </a:cubicBezTo>
                <a:lnTo>
                  <a:pt x="130969" y="150813"/>
                </a:lnTo>
                <a:cubicBezTo>
                  <a:pt x="137567" y="150813"/>
                  <a:pt x="142875" y="145504"/>
                  <a:pt x="142875" y="138906"/>
                </a:cubicBezTo>
                <a:cubicBezTo>
                  <a:pt x="142875" y="132308"/>
                  <a:pt x="137567" y="127000"/>
                  <a:pt x="130969" y="127000"/>
                </a:cubicBezTo>
                <a:lnTo>
                  <a:pt x="59531" y="127000"/>
                </a:lnTo>
                <a:close/>
                <a:moveTo>
                  <a:pt x="59531" y="174625"/>
                </a:moveTo>
                <a:cubicBezTo>
                  <a:pt x="52933" y="174625"/>
                  <a:pt x="47625" y="179933"/>
                  <a:pt x="47625" y="186531"/>
                </a:cubicBezTo>
                <a:cubicBezTo>
                  <a:pt x="47625" y="193129"/>
                  <a:pt x="52933" y="198438"/>
                  <a:pt x="59531" y="198438"/>
                </a:cubicBezTo>
                <a:lnTo>
                  <a:pt x="130969" y="198438"/>
                </a:lnTo>
                <a:cubicBezTo>
                  <a:pt x="137567" y="198438"/>
                  <a:pt x="142875" y="193129"/>
                  <a:pt x="142875" y="186531"/>
                </a:cubicBezTo>
                <a:cubicBezTo>
                  <a:pt x="142875" y="179933"/>
                  <a:pt x="137567" y="174625"/>
                  <a:pt x="130969" y="174625"/>
                </a:cubicBezTo>
                <a:lnTo>
                  <a:pt x="59531" y="17462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4" name="Text 52"/>
          <p:cNvSpPr/>
          <p:nvPr/>
        </p:nvSpPr>
        <p:spPr>
          <a:xfrm>
            <a:off x="9182100" y="7059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项目总结报告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182100" y="7364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详细的技术和项目总结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59800" y="7922853"/>
            <a:ext cx="6883400" cy="863600"/>
          </a:xfrm>
          <a:custGeom>
            <a:avLst/>
            <a:gdLst/>
            <a:ahLst/>
            <a:cxnLst/>
            <a:rect l="l" t="t" r="r" b="b"/>
            <a:pathLst>
              <a:path w="6883400" h="863600">
                <a:moveTo>
                  <a:pt x="101603" y="0"/>
                </a:moveTo>
                <a:lnTo>
                  <a:pt x="6781797" y="0"/>
                </a:lnTo>
                <a:cubicBezTo>
                  <a:pt x="6837911" y="0"/>
                  <a:pt x="6883400" y="45489"/>
                  <a:pt x="6883400" y="101603"/>
                </a:cubicBezTo>
                <a:lnTo>
                  <a:pt x="6883400" y="761997"/>
                </a:lnTo>
                <a:cubicBezTo>
                  <a:pt x="6883400" y="818111"/>
                  <a:pt x="6837911" y="863600"/>
                  <a:pt x="6781797" y="863600"/>
                </a:cubicBezTo>
                <a:lnTo>
                  <a:pt x="101603" y="863600"/>
                </a:lnTo>
                <a:cubicBezTo>
                  <a:pt x="45527" y="863600"/>
                  <a:pt x="0" y="818073"/>
                  <a:pt x="0" y="7619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28075" y="8227653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9182100" y="8075253"/>
            <a:ext cx="6210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API文档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182100" y="8380053"/>
            <a:ext cx="619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完整的接口参考文档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13862" y="9351114"/>
            <a:ext cx="15226323" cy="1307123"/>
          </a:xfrm>
          <a:custGeom>
            <a:avLst/>
            <a:gdLst/>
            <a:ahLst/>
            <a:cxnLst/>
            <a:rect l="l" t="t" r="r" b="b"/>
            <a:pathLst>
              <a:path w="15226323" h="1307123">
                <a:moveTo>
                  <a:pt x="152397" y="0"/>
                </a:moveTo>
                <a:lnTo>
                  <a:pt x="15073926" y="0"/>
                </a:lnTo>
                <a:cubicBezTo>
                  <a:pt x="15158092" y="0"/>
                  <a:pt x="15226323" y="68231"/>
                  <a:pt x="15226323" y="152397"/>
                </a:cubicBezTo>
                <a:lnTo>
                  <a:pt x="15226323" y="1154726"/>
                </a:lnTo>
                <a:cubicBezTo>
                  <a:pt x="15226323" y="1238892"/>
                  <a:pt x="15158092" y="1307123"/>
                  <a:pt x="15073926" y="1307123"/>
                </a:cubicBezTo>
                <a:lnTo>
                  <a:pt x="152397" y="1307123"/>
                </a:lnTo>
                <a:cubicBezTo>
                  <a:pt x="68231" y="1307123"/>
                  <a:pt x="0" y="1238892"/>
                  <a:pt x="0" y="1154726"/>
                </a:cubicBezTo>
                <a:lnTo>
                  <a:pt x="0" y="152397"/>
                </a:lnTo>
                <a:cubicBezTo>
                  <a:pt x="0" y="68231"/>
                  <a:pt x="68231" y="0"/>
                  <a:pt x="152397" y="0"/>
                </a:cubicBezTo>
                <a:close/>
              </a:path>
            </a:pathLst>
          </a:custGeom>
          <a:solidFill>
            <a:srgbClr val="38B2AC">
              <a:alpha val="10196"/>
            </a:srgbClr>
          </a:soli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24523" y="9814173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07379" y="0"/>
                </a:moveTo>
                <a:lnTo>
                  <a:pt x="274067" y="0"/>
                </a:lnTo>
                <a:cubicBezTo>
                  <a:pt x="293787" y="0"/>
                  <a:pt x="309860" y="16222"/>
                  <a:pt x="309116" y="35868"/>
                </a:cubicBezTo>
                <a:cubicBezTo>
                  <a:pt x="308967" y="39812"/>
                  <a:pt x="308818" y="43755"/>
                  <a:pt x="308595" y="47625"/>
                </a:cubicBezTo>
                <a:lnTo>
                  <a:pt x="345504" y="47625"/>
                </a:lnTo>
                <a:cubicBezTo>
                  <a:pt x="364927" y="47625"/>
                  <a:pt x="382042" y="63698"/>
                  <a:pt x="380554" y="84683"/>
                </a:cubicBezTo>
                <a:cubicBezTo>
                  <a:pt x="374972" y="161851"/>
                  <a:pt x="335533" y="204267"/>
                  <a:pt x="292745" y="226442"/>
                </a:cubicBezTo>
                <a:cubicBezTo>
                  <a:pt x="280988" y="232544"/>
                  <a:pt x="269007" y="237083"/>
                  <a:pt x="257621" y="240432"/>
                </a:cubicBezTo>
                <a:cubicBezTo>
                  <a:pt x="242590" y="261714"/>
                  <a:pt x="226963" y="272951"/>
                  <a:pt x="214536" y="278978"/>
                </a:cubicBezTo>
                <a:lnTo>
                  <a:pt x="214536" y="333375"/>
                </a:lnTo>
                <a:lnTo>
                  <a:pt x="262161" y="333375"/>
                </a:lnTo>
                <a:cubicBezTo>
                  <a:pt x="275332" y="333375"/>
                  <a:pt x="285973" y="344016"/>
                  <a:pt x="285973" y="357188"/>
                </a:cubicBezTo>
                <a:cubicBezTo>
                  <a:pt x="285973" y="370359"/>
                  <a:pt x="275332" y="381000"/>
                  <a:pt x="262161" y="381000"/>
                </a:cubicBezTo>
                <a:lnTo>
                  <a:pt x="119286" y="381000"/>
                </a:lnTo>
                <a:cubicBezTo>
                  <a:pt x="106114" y="381000"/>
                  <a:pt x="95473" y="370359"/>
                  <a:pt x="95473" y="357188"/>
                </a:cubicBezTo>
                <a:cubicBezTo>
                  <a:pt x="95473" y="344016"/>
                  <a:pt x="106114" y="333375"/>
                  <a:pt x="119286" y="333375"/>
                </a:cubicBezTo>
                <a:lnTo>
                  <a:pt x="166911" y="333375"/>
                </a:lnTo>
                <a:lnTo>
                  <a:pt x="166911" y="278978"/>
                </a:lnTo>
                <a:cubicBezTo>
                  <a:pt x="155004" y="273248"/>
                  <a:pt x="140196" y="262607"/>
                  <a:pt x="125760" y="243036"/>
                </a:cubicBezTo>
                <a:cubicBezTo>
                  <a:pt x="112068" y="239464"/>
                  <a:pt x="97185" y="234032"/>
                  <a:pt x="82674" y="225847"/>
                </a:cubicBezTo>
                <a:cubicBezTo>
                  <a:pt x="42416" y="203299"/>
                  <a:pt x="6102" y="160809"/>
                  <a:pt x="893" y="84534"/>
                </a:cubicBezTo>
                <a:cubicBezTo>
                  <a:pt x="-521" y="63624"/>
                  <a:pt x="16520" y="47551"/>
                  <a:pt x="35942" y="47551"/>
                </a:cubicBezTo>
                <a:lnTo>
                  <a:pt x="72851" y="47551"/>
                </a:lnTo>
                <a:cubicBezTo>
                  <a:pt x="72628" y="43681"/>
                  <a:pt x="72479" y="39812"/>
                  <a:pt x="72330" y="35793"/>
                </a:cubicBezTo>
                <a:cubicBezTo>
                  <a:pt x="71586" y="16073"/>
                  <a:pt x="87660" y="-74"/>
                  <a:pt x="107379" y="-74"/>
                </a:cubicBezTo>
                <a:close/>
                <a:moveTo>
                  <a:pt x="75530" y="83344"/>
                </a:moveTo>
                <a:lnTo>
                  <a:pt x="36537" y="83344"/>
                </a:lnTo>
                <a:cubicBezTo>
                  <a:pt x="41151" y="146372"/>
                  <a:pt x="70098" y="177924"/>
                  <a:pt x="99938" y="194667"/>
                </a:cubicBezTo>
                <a:cubicBezTo>
                  <a:pt x="89222" y="166911"/>
                  <a:pt x="80367" y="130671"/>
                  <a:pt x="75530" y="83344"/>
                </a:cubicBezTo>
                <a:close/>
                <a:moveTo>
                  <a:pt x="282773" y="191095"/>
                </a:moveTo>
                <a:cubicBezTo>
                  <a:pt x="312911" y="173385"/>
                  <a:pt x="340147" y="141908"/>
                  <a:pt x="344760" y="83344"/>
                </a:cubicBezTo>
                <a:lnTo>
                  <a:pt x="305842" y="83344"/>
                </a:lnTo>
                <a:cubicBezTo>
                  <a:pt x="301228" y="128662"/>
                  <a:pt x="292894" y="163860"/>
                  <a:pt x="282773" y="19109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2" name="Text 60"/>
          <p:cNvSpPr/>
          <p:nvPr/>
        </p:nvSpPr>
        <p:spPr>
          <a:xfrm>
            <a:off x="1453173" y="9610973"/>
            <a:ext cx="1416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项目已具备商业化应用条件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453173" y="10068173"/>
            <a:ext cx="141351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轨芯安项目已完成全部核心功能开发，通过104个单元测试，代码覆盖率超过90%，具备SIL4级安全认证条件，可立即投入商业化应用。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spc="8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FUTURE PLANS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未来规划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33400" y="1828800"/>
            <a:ext cx="8940800" cy="3302000"/>
          </a:xfrm>
          <a:custGeom>
            <a:avLst/>
            <a:gdLst/>
            <a:ahLst/>
            <a:cxnLst/>
            <a:rect l="l" t="t" r="r" b="b"/>
            <a:pathLst>
              <a:path w="8940800" h="3302000">
                <a:moveTo>
                  <a:pt x="50800" y="0"/>
                </a:moveTo>
                <a:lnTo>
                  <a:pt x="8788413" y="0"/>
                </a:lnTo>
                <a:cubicBezTo>
                  <a:pt x="8872574" y="0"/>
                  <a:pt x="8940800" y="68226"/>
                  <a:pt x="8940800" y="152387"/>
                </a:cubicBezTo>
                <a:lnTo>
                  <a:pt x="8940800" y="3149613"/>
                </a:lnTo>
                <a:cubicBezTo>
                  <a:pt x="8940800" y="3233774"/>
                  <a:pt x="8872574" y="3302000"/>
                  <a:pt x="8788413" y="3302000"/>
                </a:cubicBez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533400" y="18288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50800" h="3302000">
                <a:moveTo>
                  <a:pt x="50800" y="0"/>
                </a:moveTo>
                <a:lnTo>
                  <a:pt x="50800" y="0"/>
                </a:lnTo>
                <a:lnTo>
                  <a:pt x="50800" y="3302000"/>
                </a:ln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Shape 4"/>
          <p:cNvSpPr/>
          <p:nvPr/>
        </p:nvSpPr>
        <p:spPr>
          <a:xfrm>
            <a:off x="863600" y="2133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914339" y="2286000"/>
            <a:ext cx="76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短期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78000" y="2159000"/>
            <a:ext cx="1257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6个月内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78000" y="2565400"/>
            <a:ext cx="1193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产品完善阶段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" y="30480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41400" y="32385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22225" y="11112"/>
                </a:moveTo>
                <a:cubicBezTo>
                  <a:pt x="9967" y="11112"/>
                  <a:pt x="0" y="21079"/>
                  <a:pt x="0" y="33337"/>
                </a:cubicBezTo>
                <a:lnTo>
                  <a:pt x="0" y="122238"/>
                </a:lnTo>
                <a:cubicBezTo>
                  <a:pt x="0" y="134496"/>
                  <a:pt x="9967" y="144463"/>
                  <a:pt x="22225" y="144463"/>
                </a:cubicBezTo>
                <a:lnTo>
                  <a:pt x="72231" y="144463"/>
                </a:lnTo>
                <a:lnTo>
                  <a:pt x="66675" y="161131"/>
                </a:lnTo>
                <a:lnTo>
                  <a:pt x="41672" y="161131"/>
                </a:lnTo>
                <a:cubicBezTo>
                  <a:pt x="37053" y="161131"/>
                  <a:pt x="33337" y="164847"/>
                  <a:pt x="33337" y="169466"/>
                </a:cubicBezTo>
                <a:cubicBezTo>
                  <a:pt x="33337" y="174084"/>
                  <a:pt x="37053" y="177800"/>
                  <a:pt x="41672" y="177800"/>
                </a:cubicBezTo>
                <a:lnTo>
                  <a:pt x="136128" y="177800"/>
                </a:lnTo>
                <a:cubicBezTo>
                  <a:pt x="140747" y="177800"/>
                  <a:pt x="144463" y="174084"/>
                  <a:pt x="144463" y="169466"/>
                </a:cubicBezTo>
                <a:cubicBezTo>
                  <a:pt x="144463" y="164847"/>
                  <a:pt x="140747" y="161131"/>
                  <a:pt x="136128" y="161131"/>
                </a:cubicBezTo>
                <a:lnTo>
                  <a:pt x="111125" y="161131"/>
                </a:lnTo>
                <a:lnTo>
                  <a:pt x="105569" y="144463"/>
                </a:lnTo>
                <a:lnTo>
                  <a:pt x="155575" y="144463"/>
                </a:lnTo>
                <a:cubicBezTo>
                  <a:pt x="167833" y="144463"/>
                  <a:pt x="177800" y="134496"/>
                  <a:pt x="177800" y="122238"/>
                </a:cubicBezTo>
                <a:lnTo>
                  <a:pt x="177800" y="33337"/>
                </a:lnTo>
                <a:cubicBezTo>
                  <a:pt x="177800" y="21079"/>
                  <a:pt x="167833" y="11112"/>
                  <a:pt x="155575" y="11112"/>
                </a:cubicBezTo>
                <a:lnTo>
                  <a:pt x="22225" y="11112"/>
                </a:lnTo>
                <a:close/>
                <a:moveTo>
                  <a:pt x="33337" y="33337"/>
                </a:moveTo>
                <a:lnTo>
                  <a:pt x="144463" y="33337"/>
                </a:lnTo>
                <a:cubicBezTo>
                  <a:pt x="150609" y="33337"/>
                  <a:pt x="155575" y="38303"/>
                  <a:pt x="155575" y="44450"/>
                </a:cubicBezTo>
                <a:lnTo>
                  <a:pt x="155575" y="100013"/>
                </a:lnTo>
                <a:cubicBezTo>
                  <a:pt x="155575" y="106159"/>
                  <a:pt x="150609" y="111125"/>
                  <a:pt x="144463" y="111125"/>
                </a:cubicBezTo>
                <a:lnTo>
                  <a:pt x="33337" y="111125"/>
                </a:lnTo>
                <a:cubicBezTo>
                  <a:pt x="27191" y="111125"/>
                  <a:pt x="22225" y="106159"/>
                  <a:pt x="22225" y="100013"/>
                </a:cubicBezTo>
                <a:lnTo>
                  <a:pt x="22225" y="44450"/>
                </a:lnTo>
                <a:cubicBezTo>
                  <a:pt x="22225" y="38303"/>
                  <a:pt x="27191" y="33337"/>
                  <a:pt x="33337" y="3333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10"/>
          <p:cNvSpPr/>
          <p:nvPr/>
        </p:nvSpPr>
        <p:spPr>
          <a:xfrm>
            <a:off x="1339850" y="32004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完善GUI功能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5052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增强可视化效果，支持更多图表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0136" y="30480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79048" y="32385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88900" y="22225"/>
                </a:moveTo>
                <a:cubicBezTo>
                  <a:pt x="88900" y="16078"/>
                  <a:pt x="83934" y="11112"/>
                  <a:pt x="77788" y="11112"/>
                </a:cubicBezTo>
                <a:cubicBezTo>
                  <a:pt x="71641" y="11112"/>
                  <a:pt x="66675" y="16078"/>
                  <a:pt x="66675" y="22225"/>
                </a:cubicBezTo>
                <a:lnTo>
                  <a:pt x="66675" y="77788"/>
                </a:lnTo>
                <a:lnTo>
                  <a:pt x="11112" y="77788"/>
                </a:lnTo>
                <a:cubicBezTo>
                  <a:pt x="4966" y="77788"/>
                  <a:pt x="0" y="82753"/>
                  <a:pt x="0" y="88900"/>
                </a:cubicBezTo>
                <a:cubicBezTo>
                  <a:pt x="0" y="95047"/>
                  <a:pt x="4966" y="100013"/>
                  <a:pt x="11112" y="100013"/>
                </a:cubicBezTo>
                <a:lnTo>
                  <a:pt x="66675" y="100013"/>
                </a:lnTo>
                <a:lnTo>
                  <a:pt x="66675" y="155575"/>
                </a:lnTo>
                <a:cubicBezTo>
                  <a:pt x="66675" y="161722"/>
                  <a:pt x="71641" y="166688"/>
                  <a:pt x="77788" y="166688"/>
                </a:cubicBezTo>
                <a:cubicBezTo>
                  <a:pt x="83934" y="166688"/>
                  <a:pt x="88900" y="161722"/>
                  <a:pt x="88900" y="155575"/>
                </a:cubicBezTo>
                <a:lnTo>
                  <a:pt x="88900" y="100013"/>
                </a:lnTo>
                <a:lnTo>
                  <a:pt x="144463" y="100013"/>
                </a:lnTo>
                <a:cubicBezTo>
                  <a:pt x="150609" y="100013"/>
                  <a:pt x="155575" y="95047"/>
                  <a:pt x="155575" y="88900"/>
                </a:cubicBezTo>
                <a:cubicBezTo>
                  <a:pt x="155575" y="82753"/>
                  <a:pt x="150609" y="77788"/>
                  <a:pt x="144463" y="77788"/>
                </a:cubicBezTo>
                <a:lnTo>
                  <a:pt x="88900" y="77788"/>
                </a:lnTo>
                <a:lnTo>
                  <a:pt x="88900" y="2222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5566386" y="32004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支持更多协议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42536" y="35052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扩展支持更多轨道交通协议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63600" y="40132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30288" y="42037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66675" y="33337"/>
                </a:moveTo>
                <a:cubicBezTo>
                  <a:pt x="66675" y="14932"/>
                  <a:pt x="81607" y="0"/>
                  <a:pt x="100013" y="0"/>
                </a:cubicBezTo>
                <a:cubicBezTo>
                  <a:pt x="118418" y="0"/>
                  <a:pt x="133350" y="14932"/>
                  <a:pt x="133350" y="33337"/>
                </a:cubicBezTo>
                <a:lnTo>
                  <a:pt x="133350" y="34588"/>
                </a:lnTo>
                <a:cubicBezTo>
                  <a:pt x="133350" y="40040"/>
                  <a:pt x="128940" y="44450"/>
                  <a:pt x="123488" y="44450"/>
                </a:cubicBezTo>
                <a:lnTo>
                  <a:pt x="76572" y="44450"/>
                </a:lnTo>
                <a:cubicBezTo>
                  <a:pt x="71120" y="44450"/>
                  <a:pt x="66710" y="40040"/>
                  <a:pt x="66710" y="34588"/>
                </a:cubicBezTo>
                <a:lnTo>
                  <a:pt x="66710" y="33337"/>
                </a:lnTo>
                <a:close/>
                <a:moveTo>
                  <a:pt x="186690" y="37783"/>
                </a:moveTo>
                <a:cubicBezTo>
                  <a:pt x="190371" y="42679"/>
                  <a:pt x="189364" y="49659"/>
                  <a:pt x="184468" y="53340"/>
                </a:cubicBezTo>
                <a:lnTo>
                  <a:pt x="150505" y="78795"/>
                </a:lnTo>
                <a:cubicBezTo>
                  <a:pt x="152345" y="81885"/>
                  <a:pt x="153734" y="85288"/>
                  <a:pt x="154603" y="88900"/>
                </a:cubicBezTo>
                <a:lnTo>
                  <a:pt x="188913" y="88900"/>
                </a:lnTo>
                <a:cubicBezTo>
                  <a:pt x="195059" y="88900"/>
                  <a:pt x="200025" y="93866"/>
                  <a:pt x="200025" y="100013"/>
                </a:cubicBezTo>
                <a:cubicBezTo>
                  <a:pt x="200025" y="106159"/>
                  <a:pt x="195059" y="111125"/>
                  <a:pt x="188913" y="111125"/>
                </a:cubicBezTo>
                <a:lnTo>
                  <a:pt x="155575" y="111125"/>
                </a:lnTo>
                <a:lnTo>
                  <a:pt x="155575" y="122238"/>
                </a:lnTo>
                <a:cubicBezTo>
                  <a:pt x="155575" y="123140"/>
                  <a:pt x="155540" y="124078"/>
                  <a:pt x="155506" y="124981"/>
                </a:cubicBezTo>
                <a:lnTo>
                  <a:pt x="184468" y="146685"/>
                </a:lnTo>
                <a:cubicBezTo>
                  <a:pt x="189364" y="150366"/>
                  <a:pt x="190371" y="157346"/>
                  <a:pt x="186690" y="162243"/>
                </a:cubicBezTo>
                <a:cubicBezTo>
                  <a:pt x="183009" y="167139"/>
                  <a:pt x="176029" y="168146"/>
                  <a:pt x="171133" y="164465"/>
                </a:cubicBezTo>
                <a:lnTo>
                  <a:pt x="149220" y="148039"/>
                </a:lnTo>
                <a:cubicBezTo>
                  <a:pt x="141163" y="163388"/>
                  <a:pt x="126127" y="174501"/>
                  <a:pt x="108347" y="177175"/>
                </a:cubicBezTo>
                <a:lnTo>
                  <a:pt x="108347" y="97234"/>
                </a:lnTo>
                <a:cubicBezTo>
                  <a:pt x="108347" y="92616"/>
                  <a:pt x="104631" y="88900"/>
                  <a:pt x="100013" y="88900"/>
                </a:cubicBezTo>
                <a:cubicBezTo>
                  <a:pt x="95394" y="88900"/>
                  <a:pt x="91678" y="92616"/>
                  <a:pt x="91678" y="97234"/>
                </a:cubicBezTo>
                <a:lnTo>
                  <a:pt x="91678" y="177175"/>
                </a:lnTo>
                <a:cubicBezTo>
                  <a:pt x="73898" y="174501"/>
                  <a:pt x="58862" y="163388"/>
                  <a:pt x="50805" y="148039"/>
                </a:cubicBezTo>
                <a:lnTo>
                  <a:pt x="28893" y="164465"/>
                </a:lnTo>
                <a:cubicBezTo>
                  <a:pt x="23996" y="168146"/>
                  <a:pt x="17016" y="167139"/>
                  <a:pt x="13335" y="162243"/>
                </a:cubicBezTo>
                <a:cubicBezTo>
                  <a:pt x="9654" y="157346"/>
                  <a:pt x="10661" y="150366"/>
                  <a:pt x="15558" y="146685"/>
                </a:cubicBezTo>
                <a:lnTo>
                  <a:pt x="44519" y="124981"/>
                </a:lnTo>
                <a:cubicBezTo>
                  <a:pt x="44485" y="124078"/>
                  <a:pt x="44450" y="123175"/>
                  <a:pt x="44450" y="122238"/>
                </a:cubicBezTo>
                <a:lnTo>
                  <a:pt x="44450" y="111125"/>
                </a:lnTo>
                <a:lnTo>
                  <a:pt x="11113" y="111125"/>
                </a:lnTo>
                <a:cubicBezTo>
                  <a:pt x="4966" y="111125"/>
                  <a:pt x="0" y="106159"/>
                  <a:pt x="0" y="100013"/>
                </a:cubicBezTo>
                <a:cubicBezTo>
                  <a:pt x="0" y="93866"/>
                  <a:pt x="4966" y="88900"/>
                  <a:pt x="11113" y="88900"/>
                </a:cubicBezTo>
                <a:lnTo>
                  <a:pt x="45422" y="88900"/>
                </a:lnTo>
                <a:cubicBezTo>
                  <a:pt x="46291" y="85288"/>
                  <a:pt x="47680" y="81885"/>
                  <a:pt x="49520" y="78795"/>
                </a:cubicBezTo>
                <a:lnTo>
                  <a:pt x="15558" y="53340"/>
                </a:lnTo>
                <a:cubicBezTo>
                  <a:pt x="10661" y="49659"/>
                  <a:pt x="9654" y="42679"/>
                  <a:pt x="13335" y="37783"/>
                </a:cubicBezTo>
                <a:cubicBezTo>
                  <a:pt x="17016" y="32886"/>
                  <a:pt x="23996" y="31879"/>
                  <a:pt x="28893" y="35560"/>
                </a:cubicBezTo>
                <a:lnTo>
                  <a:pt x="66675" y="63897"/>
                </a:lnTo>
                <a:cubicBezTo>
                  <a:pt x="70946" y="62126"/>
                  <a:pt x="75634" y="61119"/>
                  <a:pt x="80566" y="61119"/>
                </a:cubicBezTo>
                <a:lnTo>
                  <a:pt x="119459" y="61119"/>
                </a:lnTo>
                <a:cubicBezTo>
                  <a:pt x="124391" y="61119"/>
                  <a:pt x="129079" y="62091"/>
                  <a:pt x="133350" y="63897"/>
                </a:cubicBezTo>
                <a:lnTo>
                  <a:pt x="171133" y="35560"/>
                </a:lnTo>
                <a:cubicBezTo>
                  <a:pt x="176029" y="31879"/>
                  <a:pt x="183009" y="32886"/>
                  <a:pt x="186690" y="3778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Text 18"/>
          <p:cNvSpPr/>
          <p:nvPr/>
        </p:nvSpPr>
        <p:spPr>
          <a:xfrm>
            <a:off x="1339850" y="4165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44704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优化验证引擎性能，提升速度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90136" y="40132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5245711" y="4203700"/>
            <a:ext cx="222250" cy="177800"/>
          </a:xfrm>
          <a:custGeom>
            <a:avLst/>
            <a:gdLst/>
            <a:ahLst/>
            <a:cxnLst/>
            <a:rect l="l" t="t" r="r" b="b"/>
            <a:pathLst>
              <a:path w="222250" h="177800">
                <a:moveTo>
                  <a:pt x="111125" y="5556"/>
                </a:moveTo>
                <a:cubicBezTo>
                  <a:pt x="131058" y="5556"/>
                  <a:pt x="147241" y="21739"/>
                  <a:pt x="147241" y="41672"/>
                </a:cubicBezTo>
                <a:cubicBezTo>
                  <a:pt x="147241" y="61605"/>
                  <a:pt x="131058" y="77788"/>
                  <a:pt x="111125" y="77788"/>
                </a:cubicBezTo>
                <a:cubicBezTo>
                  <a:pt x="91192" y="77788"/>
                  <a:pt x="75009" y="61605"/>
                  <a:pt x="75009" y="41672"/>
                </a:cubicBezTo>
                <a:cubicBezTo>
                  <a:pt x="75009" y="21739"/>
                  <a:pt x="91192" y="5556"/>
                  <a:pt x="111125" y="5556"/>
                </a:cubicBezTo>
                <a:close/>
                <a:moveTo>
                  <a:pt x="33337" y="30559"/>
                </a:moveTo>
                <a:cubicBezTo>
                  <a:pt x="47137" y="30559"/>
                  <a:pt x="58341" y="41763"/>
                  <a:pt x="58341" y="55563"/>
                </a:cubicBezTo>
                <a:cubicBezTo>
                  <a:pt x="58341" y="69362"/>
                  <a:pt x="47137" y="80566"/>
                  <a:pt x="33337" y="80566"/>
                </a:cubicBezTo>
                <a:cubicBezTo>
                  <a:pt x="19538" y="80566"/>
                  <a:pt x="8334" y="69362"/>
                  <a:pt x="8334" y="55563"/>
                </a:cubicBezTo>
                <a:cubicBezTo>
                  <a:pt x="8334" y="41763"/>
                  <a:pt x="19538" y="30559"/>
                  <a:pt x="33337" y="30559"/>
                </a:cubicBezTo>
                <a:close/>
                <a:moveTo>
                  <a:pt x="0" y="144463"/>
                </a:moveTo>
                <a:cubicBezTo>
                  <a:pt x="0" y="119911"/>
                  <a:pt x="19898" y="100013"/>
                  <a:pt x="44450" y="100013"/>
                </a:cubicBezTo>
                <a:cubicBezTo>
                  <a:pt x="48895" y="100013"/>
                  <a:pt x="53201" y="100672"/>
                  <a:pt x="57264" y="101888"/>
                </a:cubicBezTo>
                <a:cubicBezTo>
                  <a:pt x="45839" y="114667"/>
                  <a:pt x="38894" y="131544"/>
                  <a:pt x="38894" y="150019"/>
                </a:cubicBezTo>
                <a:lnTo>
                  <a:pt x="38894" y="155575"/>
                </a:lnTo>
                <a:cubicBezTo>
                  <a:pt x="38894" y="159534"/>
                  <a:pt x="39727" y="163284"/>
                  <a:pt x="41220" y="166688"/>
                </a:cubicBezTo>
                <a:lnTo>
                  <a:pt x="11112" y="166688"/>
                </a:lnTo>
                <a:cubicBezTo>
                  <a:pt x="4966" y="166688"/>
                  <a:pt x="0" y="161722"/>
                  <a:pt x="0" y="155575"/>
                </a:cubicBezTo>
                <a:lnTo>
                  <a:pt x="0" y="144463"/>
                </a:lnTo>
                <a:close/>
                <a:moveTo>
                  <a:pt x="181030" y="166688"/>
                </a:moveTo>
                <a:cubicBezTo>
                  <a:pt x="182523" y="163284"/>
                  <a:pt x="183356" y="159534"/>
                  <a:pt x="183356" y="155575"/>
                </a:cubicBezTo>
                <a:lnTo>
                  <a:pt x="183356" y="150019"/>
                </a:lnTo>
                <a:cubicBezTo>
                  <a:pt x="183356" y="131544"/>
                  <a:pt x="176411" y="114667"/>
                  <a:pt x="164986" y="101888"/>
                </a:cubicBezTo>
                <a:cubicBezTo>
                  <a:pt x="169049" y="100672"/>
                  <a:pt x="173355" y="100013"/>
                  <a:pt x="177800" y="100013"/>
                </a:cubicBezTo>
                <a:cubicBezTo>
                  <a:pt x="202352" y="100013"/>
                  <a:pt x="222250" y="119911"/>
                  <a:pt x="222250" y="144463"/>
                </a:cubicBezTo>
                <a:lnTo>
                  <a:pt x="222250" y="155575"/>
                </a:lnTo>
                <a:cubicBezTo>
                  <a:pt x="222250" y="161722"/>
                  <a:pt x="217284" y="166688"/>
                  <a:pt x="211138" y="166688"/>
                </a:cubicBezTo>
                <a:lnTo>
                  <a:pt x="181030" y="166688"/>
                </a:lnTo>
                <a:close/>
                <a:moveTo>
                  <a:pt x="163909" y="55563"/>
                </a:moveTo>
                <a:cubicBezTo>
                  <a:pt x="163909" y="41763"/>
                  <a:pt x="175113" y="30559"/>
                  <a:pt x="188913" y="30559"/>
                </a:cubicBezTo>
                <a:cubicBezTo>
                  <a:pt x="202712" y="30559"/>
                  <a:pt x="213916" y="41763"/>
                  <a:pt x="213916" y="55562"/>
                </a:cubicBezTo>
                <a:cubicBezTo>
                  <a:pt x="213916" y="69362"/>
                  <a:pt x="202712" y="80566"/>
                  <a:pt x="188913" y="80566"/>
                </a:cubicBezTo>
                <a:cubicBezTo>
                  <a:pt x="175113" y="80566"/>
                  <a:pt x="163909" y="69362"/>
                  <a:pt x="163909" y="55563"/>
                </a:cubicBezTo>
                <a:close/>
                <a:moveTo>
                  <a:pt x="55563" y="150019"/>
                </a:moveTo>
                <a:cubicBezTo>
                  <a:pt x="55563" y="119320"/>
                  <a:pt x="80427" y="94456"/>
                  <a:pt x="111125" y="94456"/>
                </a:cubicBezTo>
                <a:cubicBezTo>
                  <a:pt x="141823" y="94456"/>
                  <a:pt x="166688" y="119320"/>
                  <a:pt x="166688" y="150019"/>
                </a:cubicBezTo>
                <a:lnTo>
                  <a:pt x="166688" y="155575"/>
                </a:lnTo>
                <a:cubicBezTo>
                  <a:pt x="166688" y="161722"/>
                  <a:pt x="161722" y="166688"/>
                  <a:pt x="155575" y="166688"/>
                </a:cubicBezTo>
                <a:lnTo>
                  <a:pt x="66675" y="166688"/>
                </a:lnTo>
                <a:cubicBezTo>
                  <a:pt x="60528" y="166688"/>
                  <a:pt x="55563" y="161722"/>
                  <a:pt x="55563" y="155575"/>
                </a:cubicBezTo>
                <a:lnTo>
                  <a:pt x="55563" y="15001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2"/>
          <p:cNvSpPr/>
          <p:nvPr/>
        </p:nvSpPr>
        <p:spPr>
          <a:xfrm>
            <a:off x="5566386" y="4165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用户反馈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242536" y="44704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收集用户反馈，持续改进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5384800"/>
            <a:ext cx="8940800" cy="3302000"/>
          </a:xfrm>
          <a:custGeom>
            <a:avLst/>
            <a:gdLst/>
            <a:ahLst/>
            <a:cxnLst/>
            <a:rect l="l" t="t" r="r" b="b"/>
            <a:pathLst>
              <a:path w="8940800" h="3302000">
                <a:moveTo>
                  <a:pt x="50800" y="0"/>
                </a:moveTo>
                <a:lnTo>
                  <a:pt x="8788413" y="0"/>
                </a:lnTo>
                <a:cubicBezTo>
                  <a:pt x="8872574" y="0"/>
                  <a:pt x="8940800" y="68226"/>
                  <a:pt x="8940800" y="152387"/>
                </a:cubicBezTo>
                <a:lnTo>
                  <a:pt x="8940800" y="3149613"/>
                </a:lnTo>
                <a:cubicBezTo>
                  <a:pt x="8940800" y="3233774"/>
                  <a:pt x="8872574" y="3302000"/>
                  <a:pt x="8788413" y="3302000"/>
                </a:cubicBez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5568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7" name="Shape 25"/>
          <p:cNvSpPr/>
          <p:nvPr/>
        </p:nvSpPr>
        <p:spPr>
          <a:xfrm>
            <a:off x="533400" y="5384800"/>
            <a:ext cx="50800" cy="3302000"/>
          </a:xfrm>
          <a:custGeom>
            <a:avLst/>
            <a:gdLst/>
            <a:ahLst/>
            <a:cxnLst/>
            <a:rect l="l" t="t" r="r" b="b"/>
            <a:pathLst>
              <a:path w="50800" h="3302000">
                <a:moveTo>
                  <a:pt x="50800" y="0"/>
                </a:moveTo>
                <a:lnTo>
                  <a:pt x="50800" y="0"/>
                </a:lnTo>
                <a:lnTo>
                  <a:pt x="50800" y="3302000"/>
                </a:lnTo>
                <a:lnTo>
                  <a:pt x="50800" y="3302000"/>
                </a:lnTo>
                <a:cubicBezTo>
                  <a:pt x="22763" y="3302000"/>
                  <a:pt x="0" y="3279237"/>
                  <a:pt x="0" y="3251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" y="5689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4339" y="5842000"/>
            <a:ext cx="76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中期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778000" y="5715000"/>
            <a:ext cx="139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1年内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778000" y="6121400"/>
            <a:ext cx="1333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商业化落地阶段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3600" y="66040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30288" y="67945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83066" y="-2778"/>
                </a:moveTo>
                <a:cubicBezTo>
                  <a:pt x="80948" y="-4931"/>
                  <a:pt x="77857" y="-5799"/>
                  <a:pt x="74940" y="-5001"/>
                </a:cubicBezTo>
                <a:cubicBezTo>
                  <a:pt x="72023" y="-4202"/>
                  <a:pt x="69766" y="-1945"/>
                  <a:pt x="69036" y="972"/>
                </a:cubicBezTo>
                <a:lnTo>
                  <a:pt x="63723" y="21878"/>
                </a:lnTo>
                <a:cubicBezTo>
                  <a:pt x="63341" y="23406"/>
                  <a:pt x="61779" y="24309"/>
                  <a:pt x="60285" y="23857"/>
                </a:cubicBezTo>
                <a:lnTo>
                  <a:pt x="39519" y="18023"/>
                </a:lnTo>
                <a:cubicBezTo>
                  <a:pt x="36602" y="17190"/>
                  <a:pt x="33476" y="18023"/>
                  <a:pt x="31358" y="20141"/>
                </a:cubicBezTo>
                <a:cubicBezTo>
                  <a:pt x="29240" y="22260"/>
                  <a:pt x="28406" y="25385"/>
                  <a:pt x="29240" y="28302"/>
                </a:cubicBezTo>
                <a:lnTo>
                  <a:pt x="35109" y="49069"/>
                </a:lnTo>
                <a:cubicBezTo>
                  <a:pt x="35525" y="50562"/>
                  <a:pt x="34622" y="52125"/>
                  <a:pt x="33129" y="52507"/>
                </a:cubicBezTo>
                <a:lnTo>
                  <a:pt x="12189" y="57820"/>
                </a:lnTo>
                <a:cubicBezTo>
                  <a:pt x="9272" y="58549"/>
                  <a:pt x="6980" y="60841"/>
                  <a:pt x="6181" y="63758"/>
                </a:cubicBezTo>
                <a:cubicBezTo>
                  <a:pt x="5383" y="66675"/>
                  <a:pt x="6251" y="69766"/>
                  <a:pt x="8404" y="71884"/>
                </a:cubicBezTo>
                <a:lnTo>
                  <a:pt x="23857" y="86921"/>
                </a:lnTo>
                <a:cubicBezTo>
                  <a:pt x="24968" y="87997"/>
                  <a:pt x="24968" y="89803"/>
                  <a:pt x="23857" y="90914"/>
                </a:cubicBezTo>
                <a:lnTo>
                  <a:pt x="8439" y="105951"/>
                </a:lnTo>
                <a:cubicBezTo>
                  <a:pt x="6286" y="108069"/>
                  <a:pt x="5417" y="111160"/>
                  <a:pt x="6216" y="114077"/>
                </a:cubicBezTo>
                <a:cubicBezTo>
                  <a:pt x="7015" y="116994"/>
                  <a:pt x="9307" y="119251"/>
                  <a:pt x="12224" y="120015"/>
                </a:cubicBezTo>
                <a:lnTo>
                  <a:pt x="33129" y="125328"/>
                </a:lnTo>
                <a:cubicBezTo>
                  <a:pt x="34657" y="125710"/>
                  <a:pt x="35560" y="127273"/>
                  <a:pt x="35109" y="128766"/>
                </a:cubicBezTo>
                <a:lnTo>
                  <a:pt x="29240" y="149498"/>
                </a:lnTo>
                <a:cubicBezTo>
                  <a:pt x="28406" y="152415"/>
                  <a:pt x="29240" y="155540"/>
                  <a:pt x="31358" y="157659"/>
                </a:cubicBezTo>
                <a:cubicBezTo>
                  <a:pt x="33476" y="159777"/>
                  <a:pt x="36602" y="160610"/>
                  <a:pt x="39519" y="159777"/>
                </a:cubicBezTo>
                <a:lnTo>
                  <a:pt x="60285" y="153908"/>
                </a:lnTo>
                <a:cubicBezTo>
                  <a:pt x="61779" y="153491"/>
                  <a:pt x="63341" y="154394"/>
                  <a:pt x="63723" y="155888"/>
                </a:cubicBezTo>
                <a:lnTo>
                  <a:pt x="69036" y="176793"/>
                </a:lnTo>
                <a:cubicBezTo>
                  <a:pt x="69766" y="179710"/>
                  <a:pt x="72058" y="182002"/>
                  <a:pt x="74975" y="182801"/>
                </a:cubicBezTo>
                <a:cubicBezTo>
                  <a:pt x="77892" y="183599"/>
                  <a:pt x="80982" y="182731"/>
                  <a:pt x="83101" y="180578"/>
                </a:cubicBezTo>
                <a:lnTo>
                  <a:pt x="98137" y="165125"/>
                </a:lnTo>
                <a:cubicBezTo>
                  <a:pt x="99214" y="164014"/>
                  <a:pt x="101020" y="164014"/>
                  <a:pt x="102131" y="165125"/>
                </a:cubicBezTo>
                <a:lnTo>
                  <a:pt x="117133" y="180578"/>
                </a:lnTo>
                <a:cubicBezTo>
                  <a:pt x="119251" y="182731"/>
                  <a:pt x="122342" y="183599"/>
                  <a:pt x="125259" y="182801"/>
                </a:cubicBezTo>
                <a:cubicBezTo>
                  <a:pt x="128176" y="182002"/>
                  <a:pt x="130433" y="179710"/>
                  <a:pt x="131197" y="176793"/>
                </a:cubicBezTo>
                <a:lnTo>
                  <a:pt x="136510" y="155922"/>
                </a:lnTo>
                <a:cubicBezTo>
                  <a:pt x="136892" y="154394"/>
                  <a:pt x="138455" y="153491"/>
                  <a:pt x="139948" y="153943"/>
                </a:cubicBezTo>
                <a:lnTo>
                  <a:pt x="160715" y="159812"/>
                </a:lnTo>
                <a:cubicBezTo>
                  <a:pt x="163632" y="160645"/>
                  <a:pt x="166757" y="159812"/>
                  <a:pt x="168875" y="157693"/>
                </a:cubicBezTo>
                <a:cubicBezTo>
                  <a:pt x="170994" y="155575"/>
                  <a:pt x="171827" y="152450"/>
                  <a:pt x="170994" y="149533"/>
                </a:cubicBezTo>
                <a:lnTo>
                  <a:pt x="165125" y="128766"/>
                </a:lnTo>
                <a:cubicBezTo>
                  <a:pt x="164708" y="127273"/>
                  <a:pt x="165611" y="125710"/>
                  <a:pt x="167104" y="125328"/>
                </a:cubicBezTo>
                <a:lnTo>
                  <a:pt x="188010" y="120015"/>
                </a:lnTo>
                <a:cubicBezTo>
                  <a:pt x="190927" y="119286"/>
                  <a:pt x="193219" y="116994"/>
                  <a:pt x="194017" y="114077"/>
                </a:cubicBezTo>
                <a:cubicBezTo>
                  <a:pt x="194816" y="111160"/>
                  <a:pt x="193948" y="108034"/>
                  <a:pt x="191795" y="105951"/>
                </a:cubicBezTo>
                <a:lnTo>
                  <a:pt x="176341" y="90914"/>
                </a:lnTo>
                <a:cubicBezTo>
                  <a:pt x="175230" y="89838"/>
                  <a:pt x="175230" y="88032"/>
                  <a:pt x="176341" y="86921"/>
                </a:cubicBezTo>
                <a:lnTo>
                  <a:pt x="191795" y="71884"/>
                </a:lnTo>
                <a:cubicBezTo>
                  <a:pt x="193948" y="69766"/>
                  <a:pt x="194816" y="66675"/>
                  <a:pt x="194017" y="63758"/>
                </a:cubicBezTo>
                <a:cubicBezTo>
                  <a:pt x="193219" y="60841"/>
                  <a:pt x="190927" y="58584"/>
                  <a:pt x="188010" y="57820"/>
                </a:cubicBezTo>
                <a:lnTo>
                  <a:pt x="167104" y="52507"/>
                </a:lnTo>
                <a:cubicBezTo>
                  <a:pt x="165576" y="52125"/>
                  <a:pt x="164673" y="50562"/>
                  <a:pt x="165125" y="49069"/>
                </a:cubicBezTo>
                <a:lnTo>
                  <a:pt x="170994" y="28302"/>
                </a:lnTo>
                <a:cubicBezTo>
                  <a:pt x="171827" y="25385"/>
                  <a:pt x="170994" y="22260"/>
                  <a:pt x="168875" y="20141"/>
                </a:cubicBezTo>
                <a:cubicBezTo>
                  <a:pt x="166757" y="18023"/>
                  <a:pt x="163632" y="17190"/>
                  <a:pt x="160715" y="18023"/>
                </a:cubicBezTo>
                <a:lnTo>
                  <a:pt x="139948" y="23892"/>
                </a:lnTo>
                <a:cubicBezTo>
                  <a:pt x="138455" y="24309"/>
                  <a:pt x="136892" y="23406"/>
                  <a:pt x="136510" y="21912"/>
                </a:cubicBezTo>
                <a:lnTo>
                  <a:pt x="131197" y="972"/>
                </a:lnTo>
                <a:cubicBezTo>
                  <a:pt x="130468" y="-1945"/>
                  <a:pt x="128176" y="-4237"/>
                  <a:pt x="125259" y="-5035"/>
                </a:cubicBezTo>
                <a:cubicBezTo>
                  <a:pt x="122342" y="-5834"/>
                  <a:pt x="119251" y="-4966"/>
                  <a:pt x="117133" y="-2813"/>
                </a:cubicBezTo>
                <a:lnTo>
                  <a:pt x="102096" y="12675"/>
                </a:lnTo>
                <a:cubicBezTo>
                  <a:pt x="101020" y="13786"/>
                  <a:pt x="99214" y="13786"/>
                  <a:pt x="98103" y="12675"/>
                </a:cubicBezTo>
                <a:lnTo>
                  <a:pt x="83066" y="-277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4" name="Text 32"/>
          <p:cNvSpPr/>
          <p:nvPr/>
        </p:nvSpPr>
        <p:spPr>
          <a:xfrm>
            <a:off x="1339850" y="6756400"/>
            <a:ext cx="1168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SIL4正式认证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016000" y="70612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完成SIL4级正式安全认证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90136" y="66040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290161" y="67945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22225" y="0"/>
                </a:moveTo>
                <a:cubicBezTo>
                  <a:pt x="9967" y="0"/>
                  <a:pt x="0" y="9967"/>
                  <a:pt x="0" y="22225"/>
                </a:cubicBezTo>
                <a:lnTo>
                  <a:pt x="0" y="155575"/>
                </a:lnTo>
                <a:cubicBezTo>
                  <a:pt x="0" y="167833"/>
                  <a:pt x="9967" y="177800"/>
                  <a:pt x="22225" y="177800"/>
                </a:cubicBezTo>
                <a:lnTo>
                  <a:pt x="111125" y="177800"/>
                </a:lnTo>
                <a:cubicBezTo>
                  <a:pt x="123383" y="177800"/>
                  <a:pt x="133350" y="167833"/>
                  <a:pt x="133350" y="155575"/>
                </a:cubicBezTo>
                <a:lnTo>
                  <a:pt x="133350" y="22225"/>
                </a:lnTo>
                <a:cubicBezTo>
                  <a:pt x="133350" y="9967"/>
                  <a:pt x="123383" y="0"/>
                  <a:pt x="111125" y="0"/>
                </a:cubicBezTo>
                <a:lnTo>
                  <a:pt x="22225" y="0"/>
                </a:lnTo>
                <a:close/>
                <a:moveTo>
                  <a:pt x="61119" y="122238"/>
                </a:moveTo>
                <a:lnTo>
                  <a:pt x="72231" y="122238"/>
                </a:lnTo>
                <a:cubicBezTo>
                  <a:pt x="78378" y="122238"/>
                  <a:pt x="83344" y="127203"/>
                  <a:pt x="83344" y="133350"/>
                </a:cubicBezTo>
                <a:lnTo>
                  <a:pt x="83344" y="161131"/>
                </a:lnTo>
                <a:lnTo>
                  <a:pt x="50006" y="161131"/>
                </a:lnTo>
                <a:lnTo>
                  <a:pt x="50006" y="133350"/>
                </a:lnTo>
                <a:cubicBezTo>
                  <a:pt x="50006" y="127203"/>
                  <a:pt x="54972" y="122238"/>
                  <a:pt x="61119" y="122238"/>
                </a:cubicBezTo>
                <a:close/>
                <a:moveTo>
                  <a:pt x="33337" y="38894"/>
                </a:moveTo>
                <a:cubicBezTo>
                  <a:pt x="33337" y="35838"/>
                  <a:pt x="35838" y="33337"/>
                  <a:pt x="38894" y="33337"/>
                </a:cubicBezTo>
                <a:lnTo>
                  <a:pt x="50006" y="33337"/>
                </a:lnTo>
                <a:cubicBezTo>
                  <a:pt x="53062" y="33337"/>
                  <a:pt x="55563" y="35838"/>
                  <a:pt x="55563" y="38894"/>
                </a:cubicBezTo>
                <a:lnTo>
                  <a:pt x="55563" y="50006"/>
                </a:lnTo>
                <a:cubicBezTo>
                  <a:pt x="55563" y="53062"/>
                  <a:pt x="53062" y="55563"/>
                  <a:pt x="50006" y="55563"/>
                </a:cubicBezTo>
                <a:lnTo>
                  <a:pt x="38894" y="55563"/>
                </a:lnTo>
                <a:cubicBezTo>
                  <a:pt x="35838" y="55563"/>
                  <a:pt x="33337" y="53062"/>
                  <a:pt x="33337" y="50006"/>
                </a:cubicBezTo>
                <a:lnTo>
                  <a:pt x="33337" y="38894"/>
                </a:lnTo>
                <a:close/>
                <a:moveTo>
                  <a:pt x="83344" y="33337"/>
                </a:moveTo>
                <a:lnTo>
                  <a:pt x="94456" y="33337"/>
                </a:lnTo>
                <a:cubicBezTo>
                  <a:pt x="97512" y="33337"/>
                  <a:pt x="100013" y="35838"/>
                  <a:pt x="100013" y="38894"/>
                </a:cubicBezTo>
                <a:lnTo>
                  <a:pt x="100013" y="50006"/>
                </a:lnTo>
                <a:cubicBezTo>
                  <a:pt x="100013" y="53062"/>
                  <a:pt x="97512" y="55563"/>
                  <a:pt x="94456" y="55563"/>
                </a:cubicBezTo>
                <a:lnTo>
                  <a:pt x="83344" y="55563"/>
                </a:lnTo>
                <a:cubicBezTo>
                  <a:pt x="80288" y="55563"/>
                  <a:pt x="77788" y="53062"/>
                  <a:pt x="77788" y="50006"/>
                </a:cubicBezTo>
                <a:lnTo>
                  <a:pt x="77788" y="38894"/>
                </a:lnTo>
                <a:cubicBezTo>
                  <a:pt x="77788" y="35838"/>
                  <a:pt x="80288" y="33337"/>
                  <a:pt x="83344" y="33337"/>
                </a:cubicBezTo>
                <a:close/>
                <a:moveTo>
                  <a:pt x="33337" y="83344"/>
                </a:moveTo>
                <a:cubicBezTo>
                  <a:pt x="33337" y="80288"/>
                  <a:pt x="35838" y="77788"/>
                  <a:pt x="38894" y="77788"/>
                </a:cubicBezTo>
                <a:lnTo>
                  <a:pt x="50006" y="77788"/>
                </a:lnTo>
                <a:cubicBezTo>
                  <a:pt x="53062" y="77788"/>
                  <a:pt x="55563" y="80288"/>
                  <a:pt x="55563" y="83344"/>
                </a:cubicBezTo>
                <a:lnTo>
                  <a:pt x="55563" y="94456"/>
                </a:lnTo>
                <a:cubicBezTo>
                  <a:pt x="55563" y="97512"/>
                  <a:pt x="53062" y="100013"/>
                  <a:pt x="50006" y="100013"/>
                </a:cubicBezTo>
                <a:lnTo>
                  <a:pt x="38894" y="100013"/>
                </a:lnTo>
                <a:cubicBezTo>
                  <a:pt x="35838" y="100013"/>
                  <a:pt x="33337" y="97512"/>
                  <a:pt x="33337" y="94456"/>
                </a:cubicBezTo>
                <a:lnTo>
                  <a:pt x="33337" y="83344"/>
                </a:lnTo>
                <a:close/>
                <a:moveTo>
                  <a:pt x="83344" y="77788"/>
                </a:moveTo>
                <a:lnTo>
                  <a:pt x="94456" y="77788"/>
                </a:lnTo>
                <a:cubicBezTo>
                  <a:pt x="97512" y="77788"/>
                  <a:pt x="100013" y="80288"/>
                  <a:pt x="100013" y="83344"/>
                </a:cubicBezTo>
                <a:lnTo>
                  <a:pt x="100013" y="94456"/>
                </a:lnTo>
                <a:cubicBezTo>
                  <a:pt x="100013" y="97512"/>
                  <a:pt x="97512" y="100013"/>
                  <a:pt x="94456" y="100013"/>
                </a:cubicBezTo>
                <a:lnTo>
                  <a:pt x="83344" y="100013"/>
                </a:lnTo>
                <a:cubicBezTo>
                  <a:pt x="80288" y="100013"/>
                  <a:pt x="77788" y="97512"/>
                  <a:pt x="77788" y="94456"/>
                </a:cubicBezTo>
                <a:lnTo>
                  <a:pt x="77788" y="83344"/>
                </a:lnTo>
                <a:cubicBezTo>
                  <a:pt x="77788" y="80288"/>
                  <a:pt x="80288" y="77788"/>
                  <a:pt x="83344" y="7778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5566386" y="67564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商业化落地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242536" y="70612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与轨道交通企业合作落地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63600" y="75692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0288" y="77597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93380" y="29587"/>
                </a:moveTo>
                <a:lnTo>
                  <a:pt x="52889" y="74593"/>
                </a:lnTo>
                <a:cubicBezTo>
                  <a:pt x="51291" y="76364"/>
                  <a:pt x="51361" y="79107"/>
                  <a:pt x="53062" y="80809"/>
                </a:cubicBezTo>
                <a:cubicBezTo>
                  <a:pt x="63654" y="91400"/>
                  <a:pt x="80843" y="91400"/>
                  <a:pt x="91435" y="80809"/>
                </a:cubicBezTo>
                <a:lnTo>
                  <a:pt x="102478" y="69766"/>
                </a:lnTo>
                <a:cubicBezTo>
                  <a:pt x="103937" y="68307"/>
                  <a:pt x="105777" y="67508"/>
                  <a:pt x="107652" y="67370"/>
                </a:cubicBezTo>
                <a:cubicBezTo>
                  <a:pt x="110014" y="67161"/>
                  <a:pt x="112445" y="67960"/>
                  <a:pt x="114250" y="69766"/>
                </a:cubicBezTo>
                <a:lnTo>
                  <a:pt x="175577" y="130572"/>
                </a:lnTo>
                <a:lnTo>
                  <a:pt x="200025" y="111125"/>
                </a:lnTo>
                <a:lnTo>
                  <a:pt x="200025" y="11112"/>
                </a:lnTo>
                <a:lnTo>
                  <a:pt x="161131" y="33337"/>
                </a:lnTo>
                <a:lnTo>
                  <a:pt x="152866" y="27816"/>
                </a:lnTo>
                <a:cubicBezTo>
                  <a:pt x="147380" y="24170"/>
                  <a:pt x="140955" y="22225"/>
                  <a:pt x="134357" y="22225"/>
                </a:cubicBezTo>
                <a:lnTo>
                  <a:pt x="109910" y="22225"/>
                </a:lnTo>
                <a:cubicBezTo>
                  <a:pt x="109528" y="22225"/>
                  <a:pt x="109111" y="22225"/>
                  <a:pt x="108729" y="22260"/>
                </a:cubicBezTo>
                <a:cubicBezTo>
                  <a:pt x="102860" y="22572"/>
                  <a:pt x="97339" y="25211"/>
                  <a:pt x="93380" y="29587"/>
                </a:cubicBezTo>
                <a:close/>
                <a:moveTo>
                  <a:pt x="40491" y="63445"/>
                </a:moveTo>
                <a:lnTo>
                  <a:pt x="77579" y="22225"/>
                </a:lnTo>
                <a:lnTo>
                  <a:pt x="63827" y="22225"/>
                </a:lnTo>
                <a:cubicBezTo>
                  <a:pt x="54972" y="22225"/>
                  <a:pt x="46499" y="25732"/>
                  <a:pt x="40248" y="31983"/>
                </a:cubicBezTo>
                <a:lnTo>
                  <a:pt x="38894" y="33337"/>
                </a:lnTo>
                <a:lnTo>
                  <a:pt x="0" y="11112"/>
                </a:lnTo>
                <a:lnTo>
                  <a:pt x="0" y="111125"/>
                </a:lnTo>
                <a:lnTo>
                  <a:pt x="54312" y="156374"/>
                </a:lnTo>
                <a:cubicBezTo>
                  <a:pt x="62299" y="163041"/>
                  <a:pt x="72370" y="166688"/>
                  <a:pt x="82753" y="166688"/>
                </a:cubicBezTo>
                <a:lnTo>
                  <a:pt x="88205" y="166688"/>
                </a:lnTo>
                <a:lnTo>
                  <a:pt x="85775" y="164257"/>
                </a:lnTo>
                <a:cubicBezTo>
                  <a:pt x="82510" y="160992"/>
                  <a:pt x="82510" y="155714"/>
                  <a:pt x="85775" y="152484"/>
                </a:cubicBezTo>
                <a:cubicBezTo>
                  <a:pt x="89039" y="149255"/>
                  <a:pt x="94317" y="149220"/>
                  <a:pt x="97547" y="152484"/>
                </a:cubicBezTo>
                <a:lnTo>
                  <a:pt x="111785" y="166722"/>
                </a:lnTo>
                <a:lnTo>
                  <a:pt x="114910" y="166722"/>
                </a:lnTo>
                <a:cubicBezTo>
                  <a:pt x="121543" y="166722"/>
                  <a:pt x="128037" y="165229"/>
                  <a:pt x="133940" y="162451"/>
                </a:cubicBezTo>
                <a:lnTo>
                  <a:pt x="124668" y="153144"/>
                </a:lnTo>
                <a:cubicBezTo>
                  <a:pt x="121404" y="149880"/>
                  <a:pt x="121404" y="144601"/>
                  <a:pt x="124668" y="141372"/>
                </a:cubicBezTo>
                <a:cubicBezTo>
                  <a:pt x="127933" y="138142"/>
                  <a:pt x="133211" y="138108"/>
                  <a:pt x="136441" y="141372"/>
                </a:cubicBezTo>
                <a:lnTo>
                  <a:pt x="147553" y="152484"/>
                </a:lnTo>
                <a:lnTo>
                  <a:pt x="153630" y="146407"/>
                </a:lnTo>
                <a:cubicBezTo>
                  <a:pt x="156721" y="143317"/>
                  <a:pt x="157624" y="138837"/>
                  <a:pt x="156270" y="134913"/>
                </a:cubicBezTo>
                <a:lnTo>
                  <a:pt x="108382" y="87407"/>
                </a:lnTo>
                <a:lnTo>
                  <a:pt x="103207" y="92581"/>
                </a:lnTo>
                <a:cubicBezTo>
                  <a:pt x="86087" y="109701"/>
                  <a:pt x="58375" y="109701"/>
                  <a:pt x="41255" y="92581"/>
                </a:cubicBezTo>
                <a:cubicBezTo>
                  <a:pt x="33268" y="84594"/>
                  <a:pt x="32956" y="71780"/>
                  <a:pt x="40491" y="6341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1339850" y="7721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战略合作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16000" y="80264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与RISC-V芯片厂商建立合作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90136" y="7569200"/>
            <a:ext cx="4076700" cy="812800"/>
          </a:xfrm>
          <a:custGeom>
            <a:avLst/>
            <a:gdLst/>
            <a:ahLst/>
            <a:cxnLst/>
            <a:rect l="l" t="t" r="r" b="b"/>
            <a:pathLst>
              <a:path w="4076700" h="812800">
                <a:moveTo>
                  <a:pt x="101600" y="0"/>
                </a:moveTo>
                <a:lnTo>
                  <a:pt x="3975100" y="0"/>
                </a:lnTo>
                <a:cubicBezTo>
                  <a:pt x="4031175" y="0"/>
                  <a:pt x="4076700" y="45525"/>
                  <a:pt x="4076700" y="101600"/>
                </a:cubicBezTo>
                <a:lnTo>
                  <a:pt x="4076700" y="711200"/>
                </a:lnTo>
                <a:cubicBezTo>
                  <a:pt x="4076700" y="767275"/>
                  <a:pt x="4031175" y="812800"/>
                  <a:pt x="3975100" y="812800"/>
                </a:cubicBezTo>
                <a:lnTo>
                  <a:pt x="101600" y="812800"/>
                </a:lnTo>
                <a:cubicBezTo>
                  <a:pt x="45525" y="812800"/>
                  <a:pt x="0" y="767275"/>
                  <a:pt x="0" y="7112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256823" y="7759700"/>
            <a:ext cx="200025" cy="177800"/>
          </a:xfrm>
          <a:custGeom>
            <a:avLst/>
            <a:gdLst/>
            <a:ahLst/>
            <a:cxnLst/>
            <a:rect l="l" t="t" r="r" b="b"/>
            <a:pathLst>
              <a:path w="200025" h="177800">
                <a:moveTo>
                  <a:pt x="16669" y="67995"/>
                </a:moveTo>
                <a:lnTo>
                  <a:pt x="89317" y="97894"/>
                </a:lnTo>
                <a:cubicBezTo>
                  <a:pt x="92720" y="99283"/>
                  <a:pt x="96331" y="100013"/>
                  <a:pt x="100013" y="100013"/>
                </a:cubicBezTo>
                <a:cubicBezTo>
                  <a:pt x="103694" y="100013"/>
                  <a:pt x="107305" y="99283"/>
                  <a:pt x="110708" y="97894"/>
                </a:cubicBezTo>
                <a:lnTo>
                  <a:pt x="194885" y="63237"/>
                </a:lnTo>
                <a:cubicBezTo>
                  <a:pt x="198011" y="61952"/>
                  <a:pt x="200025" y="58931"/>
                  <a:pt x="200025" y="55562"/>
                </a:cubicBezTo>
                <a:cubicBezTo>
                  <a:pt x="200025" y="52194"/>
                  <a:pt x="198011" y="49173"/>
                  <a:pt x="194885" y="47888"/>
                </a:cubicBezTo>
                <a:lnTo>
                  <a:pt x="110708" y="13231"/>
                </a:lnTo>
                <a:cubicBezTo>
                  <a:pt x="107305" y="11842"/>
                  <a:pt x="103694" y="11112"/>
                  <a:pt x="100013" y="11112"/>
                </a:cubicBezTo>
                <a:cubicBezTo>
                  <a:pt x="96331" y="11112"/>
                  <a:pt x="92720" y="11842"/>
                  <a:pt x="89317" y="13231"/>
                </a:cubicBezTo>
                <a:lnTo>
                  <a:pt x="5140" y="47888"/>
                </a:lnTo>
                <a:cubicBezTo>
                  <a:pt x="2014" y="49173"/>
                  <a:pt x="0" y="52194"/>
                  <a:pt x="0" y="55563"/>
                </a:cubicBezTo>
                <a:lnTo>
                  <a:pt x="0" y="158353"/>
                </a:lnTo>
                <a:cubicBezTo>
                  <a:pt x="0" y="162972"/>
                  <a:pt x="3716" y="166688"/>
                  <a:pt x="8334" y="166688"/>
                </a:cubicBezTo>
                <a:cubicBezTo>
                  <a:pt x="12953" y="166688"/>
                  <a:pt x="16669" y="162972"/>
                  <a:pt x="16669" y="158353"/>
                </a:cubicBezTo>
                <a:lnTo>
                  <a:pt x="16669" y="67995"/>
                </a:lnTo>
                <a:close/>
                <a:moveTo>
                  <a:pt x="33337" y="92894"/>
                </a:moveTo>
                <a:lnTo>
                  <a:pt x="33337" y="133350"/>
                </a:lnTo>
                <a:cubicBezTo>
                  <a:pt x="33337" y="151755"/>
                  <a:pt x="63202" y="166688"/>
                  <a:pt x="100013" y="166688"/>
                </a:cubicBezTo>
                <a:cubicBezTo>
                  <a:pt x="136823" y="166688"/>
                  <a:pt x="166688" y="151755"/>
                  <a:pt x="166688" y="133350"/>
                </a:cubicBezTo>
                <a:lnTo>
                  <a:pt x="166688" y="92859"/>
                </a:lnTo>
                <a:lnTo>
                  <a:pt x="117063" y="113313"/>
                </a:lnTo>
                <a:cubicBezTo>
                  <a:pt x="111646" y="115535"/>
                  <a:pt x="105881" y="116681"/>
                  <a:pt x="100013" y="116681"/>
                </a:cubicBezTo>
                <a:cubicBezTo>
                  <a:pt x="94144" y="116681"/>
                  <a:pt x="88379" y="115535"/>
                  <a:pt x="82962" y="113313"/>
                </a:cubicBezTo>
                <a:lnTo>
                  <a:pt x="33337" y="9285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5566386" y="77216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高校推广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242536" y="8026400"/>
            <a:ext cx="3848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在100+高校推广教育版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779794" y="1834662"/>
            <a:ext cx="5968023" cy="6260123"/>
          </a:xfrm>
          <a:custGeom>
            <a:avLst/>
            <a:gdLst/>
            <a:ahLst/>
            <a:cxnLst/>
            <a:rect l="l" t="t" r="r" b="b"/>
            <a:pathLst>
              <a:path w="5968023" h="6260123">
                <a:moveTo>
                  <a:pt x="152423" y="0"/>
                </a:moveTo>
                <a:lnTo>
                  <a:pt x="5815600" y="0"/>
                </a:lnTo>
                <a:cubicBezTo>
                  <a:pt x="5899781" y="0"/>
                  <a:pt x="5968023" y="68242"/>
                  <a:pt x="5968023" y="152423"/>
                </a:cubicBezTo>
                <a:lnTo>
                  <a:pt x="5968023" y="6107700"/>
                </a:lnTo>
                <a:cubicBezTo>
                  <a:pt x="5968023" y="6191881"/>
                  <a:pt x="5899781" y="6260123"/>
                  <a:pt x="5815600" y="6260123"/>
                </a:cubicBezTo>
                <a:lnTo>
                  <a:pt x="152423" y="6260123"/>
                </a:lnTo>
                <a:cubicBezTo>
                  <a:pt x="68242" y="6260123"/>
                  <a:pt x="0" y="6191881"/>
                  <a:pt x="0" y="6107700"/>
                </a:cubicBezTo>
                <a:lnTo>
                  <a:pt x="0" y="152423"/>
                </a:lnTo>
                <a:cubicBezTo>
                  <a:pt x="0" y="68299"/>
                  <a:pt x="68299" y="0"/>
                  <a:pt x="152423" y="0"/>
                </a:cubicBez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5400000" scaled="1"/>
          </a:gradFill>
          <a:ln w="11723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90455" y="214532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52403" y="0"/>
                </a:moveTo>
                <a:lnTo>
                  <a:pt x="558797" y="0"/>
                </a:lnTo>
                <a:cubicBezTo>
                  <a:pt x="642910" y="0"/>
                  <a:pt x="711200" y="68290"/>
                  <a:pt x="711200" y="152403"/>
                </a:cubicBezTo>
                <a:lnTo>
                  <a:pt x="711200" y="558797"/>
                </a:lnTo>
                <a:cubicBezTo>
                  <a:pt x="711200" y="642910"/>
                  <a:pt x="642910" y="711200"/>
                  <a:pt x="558797" y="711200"/>
                </a:cubicBezTo>
                <a:lnTo>
                  <a:pt x="152403" y="711200"/>
                </a:lnTo>
                <a:cubicBezTo>
                  <a:pt x="68290" y="711200"/>
                  <a:pt x="0" y="642910"/>
                  <a:pt x="0" y="5587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10141195" y="2297720"/>
            <a:ext cx="762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04855" y="2170720"/>
            <a:ext cx="1219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3年内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004855" y="257712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行业领先阶段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090455" y="3059720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319055" y="331372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50800" y="127000"/>
                </a:moveTo>
                <a:lnTo>
                  <a:pt x="9723" y="127000"/>
                </a:lnTo>
                <a:cubicBezTo>
                  <a:pt x="-159" y="127000"/>
                  <a:pt x="-6231" y="116245"/>
                  <a:pt x="-1151" y="107752"/>
                </a:cubicBezTo>
                <a:lnTo>
                  <a:pt x="19844" y="72747"/>
                </a:lnTo>
                <a:cubicBezTo>
                  <a:pt x="23297" y="66993"/>
                  <a:pt x="29488" y="63500"/>
                  <a:pt x="36195" y="63500"/>
                </a:cubicBezTo>
                <a:lnTo>
                  <a:pt x="73898" y="63500"/>
                </a:lnTo>
                <a:cubicBezTo>
                  <a:pt x="104100" y="12343"/>
                  <a:pt x="149146" y="9763"/>
                  <a:pt x="179268" y="14168"/>
                </a:cubicBezTo>
                <a:cubicBezTo>
                  <a:pt x="184348" y="14923"/>
                  <a:pt x="188317" y="18891"/>
                  <a:pt x="189032" y="23932"/>
                </a:cubicBezTo>
                <a:cubicBezTo>
                  <a:pt x="193437" y="54054"/>
                  <a:pt x="190857" y="99100"/>
                  <a:pt x="139700" y="129302"/>
                </a:cubicBezTo>
                <a:lnTo>
                  <a:pt x="139700" y="167005"/>
                </a:lnTo>
                <a:cubicBezTo>
                  <a:pt x="139700" y="173712"/>
                  <a:pt x="136208" y="179903"/>
                  <a:pt x="130453" y="183356"/>
                </a:cubicBezTo>
                <a:lnTo>
                  <a:pt x="95448" y="204351"/>
                </a:lnTo>
                <a:cubicBezTo>
                  <a:pt x="86995" y="209431"/>
                  <a:pt x="76200" y="203319"/>
                  <a:pt x="76200" y="193477"/>
                </a:cubicBezTo>
                <a:lnTo>
                  <a:pt x="76200" y="152400"/>
                </a:lnTo>
                <a:cubicBezTo>
                  <a:pt x="76200" y="138390"/>
                  <a:pt x="64810" y="127000"/>
                  <a:pt x="50800" y="127000"/>
                </a:cubicBezTo>
                <a:lnTo>
                  <a:pt x="50760" y="127000"/>
                </a:lnTo>
                <a:close/>
                <a:moveTo>
                  <a:pt x="158750" y="63500"/>
                </a:moveTo>
                <a:cubicBezTo>
                  <a:pt x="158750" y="52986"/>
                  <a:pt x="150214" y="44450"/>
                  <a:pt x="139700" y="44450"/>
                </a:cubicBezTo>
                <a:cubicBezTo>
                  <a:pt x="129186" y="44450"/>
                  <a:pt x="120650" y="52986"/>
                  <a:pt x="120650" y="63500"/>
                </a:cubicBezTo>
                <a:cubicBezTo>
                  <a:pt x="120650" y="74014"/>
                  <a:pt x="129186" y="82550"/>
                  <a:pt x="139700" y="82550"/>
                </a:cubicBezTo>
                <a:cubicBezTo>
                  <a:pt x="150214" y="82550"/>
                  <a:pt x="158750" y="74014"/>
                  <a:pt x="158750" y="635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5" name="Text 53"/>
          <p:cNvSpPr/>
          <p:nvPr/>
        </p:nvSpPr>
        <p:spPr>
          <a:xfrm>
            <a:off x="10649255" y="326292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领域扩展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0293655" y="3669320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扩展至航空航天、核电、汽车等更多安全关键领域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10090455" y="4278920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319055" y="453292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39660" y="111125"/>
                </a:moveTo>
                <a:lnTo>
                  <a:pt x="63897" y="111125"/>
                </a:lnTo>
                <a:cubicBezTo>
                  <a:pt x="65048" y="136723"/>
                  <a:pt x="70723" y="160298"/>
                  <a:pt x="78780" y="177562"/>
                </a:cubicBezTo>
                <a:cubicBezTo>
                  <a:pt x="83304" y="187285"/>
                  <a:pt x="88186" y="194151"/>
                  <a:pt x="92710" y="198358"/>
                </a:cubicBezTo>
                <a:cubicBezTo>
                  <a:pt x="97155" y="202525"/>
                  <a:pt x="100211" y="203200"/>
                  <a:pt x="101798" y="203200"/>
                </a:cubicBezTo>
                <a:cubicBezTo>
                  <a:pt x="103386" y="203200"/>
                  <a:pt x="106442" y="202525"/>
                  <a:pt x="110887" y="198358"/>
                </a:cubicBezTo>
                <a:cubicBezTo>
                  <a:pt x="115411" y="194151"/>
                  <a:pt x="120293" y="187246"/>
                  <a:pt x="124817" y="177562"/>
                </a:cubicBezTo>
                <a:cubicBezTo>
                  <a:pt x="132874" y="160298"/>
                  <a:pt x="138549" y="136723"/>
                  <a:pt x="139700" y="111125"/>
                </a:cubicBezTo>
                <a:close/>
                <a:moveTo>
                  <a:pt x="63857" y="92075"/>
                </a:moveTo>
                <a:lnTo>
                  <a:pt x="139621" y="92075"/>
                </a:lnTo>
                <a:cubicBezTo>
                  <a:pt x="138509" y="66477"/>
                  <a:pt x="132834" y="42902"/>
                  <a:pt x="124777" y="25638"/>
                </a:cubicBezTo>
                <a:cubicBezTo>
                  <a:pt x="120253" y="15954"/>
                  <a:pt x="115372" y="9049"/>
                  <a:pt x="110847" y="4842"/>
                </a:cubicBezTo>
                <a:cubicBezTo>
                  <a:pt x="106402" y="675"/>
                  <a:pt x="103346" y="0"/>
                  <a:pt x="101759" y="0"/>
                </a:cubicBezTo>
                <a:cubicBezTo>
                  <a:pt x="100171" y="0"/>
                  <a:pt x="97115" y="675"/>
                  <a:pt x="92670" y="4842"/>
                </a:cubicBezTo>
                <a:cubicBezTo>
                  <a:pt x="88146" y="9049"/>
                  <a:pt x="83264" y="15954"/>
                  <a:pt x="78740" y="25638"/>
                </a:cubicBezTo>
                <a:cubicBezTo>
                  <a:pt x="70683" y="42902"/>
                  <a:pt x="65008" y="66477"/>
                  <a:pt x="63857" y="92075"/>
                </a:cubicBezTo>
                <a:close/>
                <a:moveTo>
                  <a:pt x="44807" y="92075"/>
                </a:moveTo>
                <a:cubicBezTo>
                  <a:pt x="46196" y="58103"/>
                  <a:pt x="54967" y="26551"/>
                  <a:pt x="67786" y="5834"/>
                </a:cubicBezTo>
                <a:cubicBezTo>
                  <a:pt x="31234" y="18772"/>
                  <a:pt x="4326" y="52070"/>
                  <a:pt x="595" y="92075"/>
                </a:cubicBezTo>
                <a:lnTo>
                  <a:pt x="44807" y="92075"/>
                </a:lnTo>
                <a:close/>
                <a:moveTo>
                  <a:pt x="595" y="111125"/>
                </a:moveTo>
                <a:cubicBezTo>
                  <a:pt x="4326" y="151130"/>
                  <a:pt x="31234" y="184428"/>
                  <a:pt x="67786" y="197366"/>
                </a:cubicBezTo>
                <a:cubicBezTo>
                  <a:pt x="54967" y="176649"/>
                  <a:pt x="46196" y="145098"/>
                  <a:pt x="44807" y="111125"/>
                </a:cubicBezTo>
                <a:lnTo>
                  <a:pt x="595" y="111125"/>
                </a:lnTo>
                <a:close/>
                <a:moveTo>
                  <a:pt x="158710" y="111125"/>
                </a:moveTo>
                <a:cubicBezTo>
                  <a:pt x="157321" y="145098"/>
                  <a:pt x="148550" y="176649"/>
                  <a:pt x="135731" y="197366"/>
                </a:cubicBezTo>
                <a:cubicBezTo>
                  <a:pt x="172283" y="184388"/>
                  <a:pt x="199192" y="151130"/>
                  <a:pt x="202922" y="111125"/>
                </a:cubicBezTo>
                <a:lnTo>
                  <a:pt x="158710" y="111125"/>
                </a:lnTo>
                <a:close/>
                <a:moveTo>
                  <a:pt x="202922" y="92075"/>
                </a:moveTo>
                <a:cubicBezTo>
                  <a:pt x="199192" y="52070"/>
                  <a:pt x="172283" y="18772"/>
                  <a:pt x="135731" y="5834"/>
                </a:cubicBezTo>
                <a:cubicBezTo>
                  <a:pt x="148550" y="26551"/>
                  <a:pt x="157321" y="58103"/>
                  <a:pt x="158710" y="92075"/>
                </a:cubicBezTo>
                <a:lnTo>
                  <a:pt x="202922" y="920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9" name="Text 57"/>
          <p:cNvSpPr/>
          <p:nvPr/>
        </p:nvSpPr>
        <p:spPr>
          <a:xfrm>
            <a:off x="10649255" y="448212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市场领先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293655" y="4888520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成为国内领先的形式化验证平台，市场份额20%+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0090455" y="5498120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0306355" y="575212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0" y="133350"/>
                </a:moveTo>
                <a:cubicBezTo>
                  <a:pt x="0" y="164902"/>
                  <a:pt x="25598" y="190500"/>
                  <a:pt x="57150" y="190500"/>
                </a:cubicBezTo>
                <a:lnTo>
                  <a:pt x="177800" y="190500"/>
                </a:lnTo>
                <a:cubicBezTo>
                  <a:pt x="205859" y="190500"/>
                  <a:pt x="228600" y="167759"/>
                  <a:pt x="228600" y="139700"/>
                </a:cubicBezTo>
                <a:cubicBezTo>
                  <a:pt x="228600" y="119221"/>
                  <a:pt x="216495" y="101560"/>
                  <a:pt x="199033" y="93543"/>
                </a:cubicBezTo>
                <a:cubicBezTo>
                  <a:pt x="201692" y="88344"/>
                  <a:pt x="203200" y="82431"/>
                  <a:pt x="203200" y="76200"/>
                </a:cubicBezTo>
                <a:cubicBezTo>
                  <a:pt x="203200" y="55166"/>
                  <a:pt x="186134" y="38100"/>
                  <a:pt x="165100" y="38100"/>
                </a:cubicBezTo>
                <a:cubicBezTo>
                  <a:pt x="158075" y="38100"/>
                  <a:pt x="151527" y="40005"/>
                  <a:pt x="145891" y="43299"/>
                </a:cubicBezTo>
                <a:cubicBezTo>
                  <a:pt x="136327" y="25122"/>
                  <a:pt x="117237" y="12700"/>
                  <a:pt x="95250" y="12700"/>
                </a:cubicBezTo>
                <a:cubicBezTo>
                  <a:pt x="63698" y="12700"/>
                  <a:pt x="38100" y="38298"/>
                  <a:pt x="38100" y="69850"/>
                </a:cubicBezTo>
                <a:cubicBezTo>
                  <a:pt x="38100" y="73025"/>
                  <a:pt x="38378" y="76160"/>
                  <a:pt x="38854" y="79177"/>
                </a:cubicBezTo>
                <a:cubicBezTo>
                  <a:pt x="16272" y="86797"/>
                  <a:pt x="0" y="108188"/>
                  <a:pt x="0" y="1333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3" name="Text 61"/>
          <p:cNvSpPr/>
          <p:nvPr/>
        </p:nvSpPr>
        <p:spPr>
          <a:xfrm>
            <a:off x="10649255" y="570132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云服务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10293655" y="6107720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推出在线验证云服务，支持SaaS模式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090455" y="6717320"/>
            <a:ext cx="5346700" cy="1066800"/>
          </a:xfrm>
          <a:custGeom>
            <a:avLst/>
            <a:gdLst/>
            <a:ahLst/>
            <a:cxnLst/>
            <a:rect l="l" t="t" r="r" b="b"/>
            <a:pathLst>
              <a:path w="5346700" h="1066800">
                <a:moveTo>
                  <a:pt x="101602" y="0"/>
                </a:moveTo>
                <a:lnTo>
                  <a:pt x="5245098" y="0"/>
                </a:lnTo>
                <a:cubicBezTo>
                  <a:pt x="5301211" y="0"/>
                  <a:pt x="5346700" y="45489"/>
                  <a:pt x="5346700" y="101602"/>
                </a:cubicBezTo>
                <a:lnTo>
                  <a:pt x="5346700" y="965198"/>
                </a:lnTo>
                <a:cubicBezTo>
                  <a:pt x="5346700" y="1021311"/>
                  <a:pt x="5301211" y="1066800"/>
                  <a:pt x="5245098" y="1066800"/>
                </a:cubicBezTo>
                <a:lnTo>
                  <a:pt x="101602" y="1066800"/>
                </a:lnTo>
                <a:cubicBezTo>
                  <a:pt x="45489" y="1066800"/>
                  <a:pt x="0" y="1021311"/>
                  <a:pt x="0" y="9651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1A1D21">
              <a:alpha val="50196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10293655" y="697132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27000" y="6350"/>
                </a:moveTo>
                <a:cubicBezTo>
                  <a:pt x="149780" y="6350"/>
                  <a:pt x="168275" y="24845"/>
                  <a:pt x="168275" y="47625"/>
                </a:cubicBezTo>
                <a:cubicBezTo>
                  <a:pt x="168275" y="70405"/>
                  <a:pt x="149780" y="88900"/>
                  <a:pt x="127000" y="88900"/>
                </a:cubicBezTo>
                <a:cubicBezTo>
                  <a:pt x="104220" y="88900"/>
                  <a:pt x="85725" y="70405"/>
                  <a:pt x="85725" y="47625"/>
                </a:cubicBezTo>
                <a:cubicBezTo>
                  <a:pt x="85725" y="24845"/>
                  <a:pt x="104220" y="6350"/>
                  <a:pt x="127000" y="6350"/>
                </a:cubicBezTo>
                <a:close/>
                <a:moveTo>
                  <a:pt x="38100" y="34925"/>
                </a:moveTo>
                <a:cubicBezTo>
                  <a:pt x="53871" y="34925"/>
                  <a:pt x="66675" y="47729"/>
                  <a:pt x="66675" y="63500"/>
                </a:cubicBezTo>
                <a:cubicBezTo>
                  <a:pt x="66675" y="79271"/>
                  <a:pt x="53871" y="92075"/>
                  <a:pt x="38100" y="92075"/>
                </a:cubicBezTo>
                <a:cubicBezTo>
                  <a:pt x="22329" y="92075"/>
                  <a:pt x="9525" y="79271"/>
                  <a:pt x="9525" y="63500"/>
                </a:cubicBezTo>
                <a:cubicBezTo>
                  <a:pt x="9525" y="47729"/>
                  <a:pt x="22329" y="34925"/>
                  <a:pt x="38100" y="34925"/>
                </a:cubicBezTo>
                <a:close/>
                <a:moveTo>
                  <a:pt x="0" y="165100"/>
                </a:moveTo>
                <a:cubicBezTo>
                  <a:pt x="0" y="137041"/>
                  <a:pt x="22741" y="114300"/>
                  <a:pt x="50800" y="114300"/>
                </a:cubicBezTo>
                <a:cubicBezTo>
                  <a:pt x="55880" y="114300"/>
                  <a:pt x="60801" y="115054"/>
                  <a:pt x="65445" y="116443"/>
                </a:cubicBezTo>
                <a:cubicBezTo>
                  <a:pt x="52388" y="131048"/>
                  <a:pt x="44450" y="150336"/>
                  <a:pt x="44450" y="171450"/>
                </a:cubicBezTo>
                <a:lnTo>
                  <a:pt x="44450" y="177800"/>
                </a:lnTo>
                <a:cubicBezTo>
                  <a:pt x="44450" y="182324"/>
                  <a:pt x="45403" y="186611"/>
                  <a:pt x="47109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65100"/>
                </a:lnTo>
                <a:close/>
                <a:moveTo>
                  <a:pt x="206891" y="190500"/>
                </a:moveTo>
                <a:cubicBezTo>
                  <a:pt x="208597" y="186611"/>
                  <a:pt x="209550" y="182324"/>
                  <a:pt x="209550" y="177800"/>
                </a:cubicBezTo>
                <a:lnTo>
                  <a:pt x="209550" y="171450"/>
                </a:lnTo>
                <a:cubicBezTo>
                  <a:pt x="209550" y="150336"/>
                  <a:pt x="201613" y="131048"/>
                  <a:pt x="188555" y="116443"/>
                </a:cubicBezTo>
                <a:cubicBezTo>
                  <a:pt x="193199" y="115054"/>
                  <a:pt x="198120" y="114300"/>
                  <a:pt x="203200" y="114300"/>
                </a:cubicBezTo>
                <a:cubicBezTo>
                  <a:pt x="231259" y="114300"/>
                  <a:pt x="254000" y="137041"/>
                  <a:pt x="254000" y="165100"/>
                </a:cubicBezTo>
                <a:lnTo>
                  <a:pt x="254000" y="177800"/>
                </a:lnTo>
                <a:cubicBezTo>
                  <a:pt x="254000" y="184825"/>
                  <a:pt x="248325" y="190500"/>
                  <a:pt x="241300" y="190500"/>
                </a:cubicBezTo>
                <a:lnTo>
                  <a:pt x="206891" y="190500"/>
                </a:lnTo>
                <a:close/>
                <a:moveTo>
                  <a:pt x="187325" y="63500"/>
                </a:moveTo>
                <a:cubicBezTo>
                  <a:pt x="187325" y="47729"/>
                  <a:pt x="200129" y="34925"/>
                  <a:pt x="215900" y="34925"/>
                </a:cubicBezTo>
                <a:cubicBezTo>
                  <a:pt x="231671" y="34925"/>
                  <a:pt x="244475" y="47729"/>
                  <a:pt x="244475" y="63500"/>
                </a:cubicBezTo>
                <a:cubicBezTo>
                  <a:pt x="244475" y="79271"/>
                  <a:pt x="231671" y="92075"/>
                  <a:pt x="215900" y="92075"/>
                </a:cubicBezTo>
                <a:cubicBezTo>
                  <a:pt x="200129" y="92075"/>
                  <a:pt x="187325" y="79271"/>
                  <a:pt x="187325" y="63500"/>
                </a:cubicBezTo>
                <a:close/>
                <a:moveTo>
                  <a:pt x="63500" y="171450"/>
                </a:moveTo>
                <a:cubicBezTo>
                  <a:pt x="63500" y="136366"/>
                  <a:pt x="91916" y="107950"/>
                  <a:pt x="127000" y="107950"/>
                </a:cubicBezTo>
                <a:cubicBezTo>
                  <a:pt x="162084" y="107950"/>
                  <a:pt x="190500" y="136366"/>
                  <a:pt x="190500" y="171450"/>
                </a:cubicBezTo>
                <a:lnTo>
                  <a:pt x="190500" y="177800"/>
                </a:lnTo>
                <a:cubicBezTo>
                  <a:pt x="190500" y="184825"/>
                  <a:pt x="184825" y="190500"/>
                  <a:pt x="177800" y="190500"/>
                </a:cubicBezTo>
                <a:lnTo>
                  <a:pt x="76200" y="190500"/>
                </a:lnTo>
                <a:cubicBezTo>
                  <a:pt x="69175" y="190500"/>
                  <a:pt x="63500" y="184825"/>
                  <a:pt x="63500" y="177800"/>
                </a:cubicBezTo>
                <a:lnTo>
                  <a:pt x="63500" y="1714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7" name="Text 65"/>
          <p:cNvSpPr/>
          <p:nvPr/>
        </p:nvSpPr>
        <p:spPr>
          <a:xfrm>
            <a:off x="10649255" y="692052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生态建设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293655" y="7326920"/>
            <a:ext cx="5029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建设开发者社区，形成完整生态系统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9773933" y="8354640"/>
            <a:ext cx="5969000" cy="2336800"/>
          </a:xfrm>
          <a:custGeom>
            <a:avLst/>
            <a:gdLst/>
            <a:ahLst/>
            <a:cxnLst/>
            <a:rect l="l" t="t" r="r" b="b"/>
            <a:pathLst>
              <a:path w="5969000" h="2336800">
                <a:moveTo>
                  <a:pt x="152406" y="0"/>
                </a:moveTo>
                <a:lnTo>
                  <a:pt x="5816594" y="0"/>
                </a:lnTo>
                <a:cubicBezTo>
                  <a:pt x="5900765" y="0"/>
                  <a:pt x="5969000" y="68235"/>
                  <a:pt x="5969000" y="152406"/>
                </a:cubicBezTo>
                <a:lnTo>
                  <a:pt x="5969000" y="2184394"/>
                </a:lnTo>
                <a:cubicBezTo>
                  <a:pt x="5969000" y="2268565"/>
                  <a:pt x="5900765" y="2336800"/>
                  <a:pt x="5816594" y="2336800"/>
                </a:cubicBezTo>
                <a:lnTo>
                  <a:pt x="152406" y="2336800"/>
                </a:lnTo>
                <a:cubicBezTo>
                  <a:pt x="68235" y="2336800"/>
                  <a:pt x="0" y="2268565"/>
                  <a:pt x="0" y="21843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4A5568">
              <a:alpha val="2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10027933" y="8608640"/>
            <a:ext cx="557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7FAF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发展路线图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0027933" y="91674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2" name="Text 70"/>
          <p:cNvSpPr/>
          <p:nvPr/>
        </p:nvSpPr>
        <p:spPr>
          <a:xfrm>
            <a:off x="10332733" y="9116640"/>
            <a:ext cx="1600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 Q2: 产品完善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10027933" y="95230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4" name="Text 72"/>
          <p:cNvSpPr/>
          <p:nvPr/>
        </p:nvSpPr>
        <p:spPr>
          <a:xfrm>
            <a:off x="10332733" y="947224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2024 Q4: SIL4认证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027933" y="98786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6" name="Text 74"/>
          <p:cNvSpPr/>
          <p:nvPr/>
        </p:nvSpPr>
        <p:spPr>
          <a:xfrm>
            <a:off x="10332733" y="9827840"/>
            <a:ext cx="177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2025 Q2: 商业化落地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10027933" y="1023424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8" name="Text 76"/>
          <p:cNvSpPr/>
          <p:nvPr/>
        </p:nvSpPr>
        <p:spPr>
          <a:xfrm>
            <a:off x="10332733" y="1018344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 Q4: 行业领先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38B2AC">
                  <a:alpha val="20000"/>
                </a:srgbClr>
              </a:gs>
              <a:gs pos="50000">
                <a:srgbClr val="000000">
                  <a:alpha val="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3" name="Shape 1"/>
          <p:cNvSpPr/>
          <p:nvPr/>
        </p:nvSpPr>
        <p:spPr>
          <a:xfrm>
            <a:off x="6902755" y="955675"/>
            <a:ext cx="2451100" cy="660400"/>
          </a:xfrm>
          <a:custGeom>
            <a:avLst/>
            <a:gdLst/>
            <a:ahLst/>
            <a:cxnLst/>
            <a:rect l="l" t="t" r="r" b="b"/>
            <a:pathLst>
              <a:path w="2451100" h="660400">
                <a:moveTo>
                  <a:pt x="330200" y="0"/>
                </a:moveTo>
                <a:lnTo>
                  <a:pt x="2120900" y="0"/>
                </a:lnTo>
                <a:cubicBezTo>
                  <a:pt x="2303142" y="0"/>
                  <a:pt x="2451100" y="147958"/>
                  <a:pt x="2451100" y="330200"/>
                </a:cubicBezTo>
                <a:lnTo>
                  <a:pt x="2451100" y="330200"/>
                </a:lnTo>
                <a:cubicBezTo>
                  <a:pt x="2451100" y="512442"/>
                  <a:pt x="2303142" y="660400"/>
                  <a:pt x="2120900" y="660400"/>
                </a:cubicBezTo>
                <a:lnTo>
                  <a:pt x="330200" y="660400"/>
                </a:lnTo>
                <a:cubicBezTo>
                  <a:pt x="147958" y="660400"/>
                  <a:pt x="0" y="512442"/>
                  <a:pt x="0" y="330200"/>
                </a:cubicBezTo>
                <a:lnTo>
                  <a:pt x="0" y="330200"/>
                </a:lnTo>
                <a:cubicBezTo>
                  <a:pt x="0" y="147958"/>
                  <a:pt x="147958" y="0"/>
                  <a:pt x="330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245655" y="1115888"/>
            <a:ext cx="1764567" cy="336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spc="100" kern="0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03743" y="2022475"/>
            <a:ext cx="325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轨芯安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37093" y="3241675"/>
            <a:ext cx="2984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A0AEC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RailCore Secure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18189" y="4613275"/>
            <a:ext cx="3619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F7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以形式化验证之力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8189" y="5435600"/>
            <a:ext cx="3619500" cy="622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000" b="1" dirty="0">
                <a:solidFill>
                  <a:srgbClr val="38B2A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铸轨道交通安全之盾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88190" y="6664325"/>
            <a:ext cx="2743200" cy="660400"/>
          </a:xfrm>
          <a:custGeom>
            <a:avLst/>
            <a:gdLst/>
            <a:ahLst/>
            <a:cxnLst/>
            <a:rect l="l" t="t" r="r" b="b"/>
            <a:pathLst>
              <a:path w="2743200" h="660400">
                <a:moveTo>
                  <a:pt x="101603" y="0"/>
                </a:moveTo>
                <a:lnTo>
                  <a:pt x="2641597" y="0"/>
                </a:lnTo>
                <a:cubicBezTo>
                  <a:pt x="2697711" y="0"/>
                  <a:pt x="2743200" y="45489"/>
                  <a:pt x="2743200" y="101603"/>
                </a:cubicBezTo>
                <a:lnTo>
                  <a:pt x="2743200" y="558797"/>
                </a:lnTo>
                <a:cubicBezTo>
                  <a:pt x="2743200" y="614911"/>
                  <a:pt x="2697711" y="660400"/>
                  <a:pt x="26415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031090" y="6842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4469240" y="6816725"/>
            <a:ext cx="171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SIL4级安全认证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36691" y="6664325"/>
            <a:ext cx="2514600" cy="660400"/>
          </a:xfrm>
          <a:custGeom>
            <a:avLst/>
            <a:gdLst/>
            <a:ahLst/>
            <a:cxnLst/>
            <a:rect l="l" t="t" r="r" b="b"/>
            <a:pathLst>
              <a:path w="2514600" h="660400">
                <a:moveTo>
                  <a:pt x="101603" y="0"/>
                </a:moveTo>
                <a:lnTo>
                  <a:pt x="2412997" y="0"/>
                </a:lnTo>
                <a:cubicBezTo>
                  <a:pt x="2469111" y="0"/>
                  <a:pt x="2514600" y="45489"/>
                  <a:pt x="2514600" y="101603"/>
                </a:cubicBezTo>
                <a:lnTo>
                  <a:pt x="2514600" y="558797"/>
                </a:lnTo>
                <a:cubicBezTo>
                  <a:pt x="2514600" y="614911"/>
                  <a:pt x="2469111" y="660400"/>
                  <a:pt x="24129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198641" y="6842125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38100" y="8513"/>
                  <a:pt x="29587" y="0"/>
                  <a:pt x="19050" y="0"/>
                </a:cubicBezTo>
                <a:cubicBezTo>
                  <a:pt x="8513" y="0"/>
                  <a:pt x="0" y="8513"/>
                  <a:pt x="0" y="19050"/>
                </a:cubicBezTo>
                <a:lnTo>
                  <a:pt x="0" y="285750"/>
                </a:lnTo>
                <a:cubicBezTo>
                  <a:pt x="0" y="296287"/>
                  <a:pt x="8513" y="304800"/>
                  <a:pt x="19050" y="304800"/>
                </a:cubicBezTo>
                <a:cubicBezTo>
                  <a:pt x="29587" y="304800"/>
                  <a:pt x="38100" y="296287"/>
                  <a:pt x="38100" y="285750"/>
                </a:cubicBezTo>
                <a:lnTo>
                  <a:pt x="38100" y="213360"/>
                </a:lnTo>
                <a:lnTo>
                  <a:pt x="75426" y="202168"/>
                </a:lnTo>
                <a:cubicBezTo>
                  <a:pt x="100370" y="194667"/>
                  <a:pt x="127278" y="196989"/>
                  <a:pt x="150555" y="208657"/>
                </a:cubicBezTo>
                <a:cubicBezTo>
                  <a:pt x="175974" y="221397"/>
                  <a:pt x="205621" y="222945"/>
                  <a:pt x="232231" y="212943"/>
                </a:cubicBezTo>
                <a:lnTo>
                  <a:pt x="254318" y="204668"/>
                </a:lnTo>
                <a:cubicBezTo>
                  <a:pt x="261759" y="201870"/>
                  <a:pt x="266700" y="194786"/>
                  <a:pt x="266700" y="186809"/>
                </a:cubicBezTo>
                <a:lnTo>
                  <a:pt x="266700" y="39350"/>
                </a:lnTo>
                <a:cubicBezTo>
                  <a:pt x="266700" y="25658"/>
                  <a:pt x="252293" y="16728"/>
                  <a:pt x="240030" y="22860"/>
                </a:cubicBezTo>
                <a:lnTo>
                  <a:pt x="233005" y="26372"/>
                </a:lnTo>
                <a:cubicBezTo>
                  <a:pt x="206276" y="39767"/>
                  <a:pt x="174784" y="39767"/>
                  <a:pt x="147995" y="26372"/>
                </a:cubicBezTo>
                <a:cubicBezTo>
                  <a:pt x="126325" y="15538"/>
                  <a:pt x="101382" y="13395"/>
                  <a:pt x="78224" y="20360"/>
                </a:cubicBezTo>
                <a:lnTo>
                  <a:pt x="38100" y="32385"/>
                </a:lnTo>
                <a:lnTo>
                  <a:pt x="38100" y="1905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Text 12"/>
          <p:cNvSpPr/>
          <p:nvPr/>
        </p:nvSpPr>
        <p:spPr>
          <a:xfrm>
            <a:off x="7617741" y="6816725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国产自主可控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757752" y="6664325"/>
            <a:ext cx="2806700" cy="660400"/>
          </a:xfrm>
          <a:custGeom>
            <a:avLst/>
            <a:gdLst/>
            <a:ahLst/>
            <a:cxnLst/>
            <a:rect l="l" t="t" r="r" b="b"/>
            <a:pathLst>
              <a:path w="2806700" h="660400">
                <a:moveTo>
                  <a:pt x="101603" y="0"/>
                </a:moveTo>
                <a:lnTo>
                  <a:pt x="2705097" y="0"/>
                </a:lnTo>
                <a:cubicBezTo>
                  <a:pt x="2761211" y="0"/>
                  <a:pt x="2806700" y="45489"/>
                  <a:pt x="2806700" y="101603"/>
                </a:cubicBezTo>
                <a:lnTo>
                  <a:pt x="2806700" y="558797"/>
                </a:lnTo>
                <a:cubicBezTo>
                  <a:pt x="2806700" y="614911"/>
                  <a:pt x="2761211" y="660400"/>
                  <a:pt x="2705097" y="660400"/>
                </a:cubicBezTo>
                <a:lnTo>
                  <a:pt x="101603" y="660400"/>
                </a:lnTo>
                <a:cubicBezTo>
                  <a:pt x="45527" y="660400"/>
                  <a:pt x="0" y="614873"/>
                  <a:pt x="0" y="558797"/>
                </a:cubicBezTo>
                <a:lnTo>
                  <a:pt x="0" y="101603"/>
                </a:lnTo>
                <a:cubicBezTo>
                  <a:pt x="0" y="45527"/>
                  <a:pt x="45527" y="0"/>
                  <a:pt x="101603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100652" y="6842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Text 15"/>
          <p:cNvSpPr/>
          <p:nvPr/>
        </p:nvSpPr>
        <p:spPr>
          <a:xfrm>
            <a:off x="10538802" y="6816725"/>
            <a:ext cx="1778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RISC-V原生支持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0590" y="7832725"/>
            <a:ext cx="331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A0AEC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守护轨道交通安全，我们在行动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轨芯安创新项目大赛</dc:title>
  <dc:subject>轨芯安创新项目大赛</dc:subject>
  <dc:creator>Kimi</dc:creator>
  <cp:lastModifiedBy>Kimi</cp:lastModifiedBy>
  <cp:revision>1</cp:revision>
  <dcterms:created xsi:type="dcterms:W3CDTF">2026-03-06T04:12:17Z</dcterms:created>
  <dcterms:modified xsi:type="dcterms:W3CDTF">2026-03-06T04:12:17Z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{"Label":"轨芯安创新项目大赛","ContentProducer":"001191110108MACG2KBH8F10000","ProduceID":"","ReservedCode1":"","ContentPropagator":"001191110108MACG2KBH8F20000","PropagateID":"","ReservedCode2":""}</vt:lpwstr>
  </property>
</Properties>
</file>